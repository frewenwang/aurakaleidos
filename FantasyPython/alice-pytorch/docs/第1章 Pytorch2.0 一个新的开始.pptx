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95" r:id="rId2"/>
    <p:sldId id="296" r:id="rId3"/>
    <p:sldId id="297" r:id="rId4"/>
    <p:sldId id="298" r:id="rId5"/>
    <p:sldId id="299" r:id="rId6"/>
    <p:sldId id="300" r:id="rId7"/>
    <p:sldId id="308" r:id="rId8"/>
  </p:sldIdLst>
  <p:sldSz cx="9144000" cy="6858000" type="screen4x3"/>
  <p:notesSz cx="6858000" cy="9144000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1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C2B3"/>
    <a:srgbClr val="5AD00A"/>
    <a:srgbClr val="0099FF"/>
    <a:srgbClr val="0EB1E7"/>
    <a:srgbClr val="FFD347"/>
    <a:srgbClr val="B88C00"/>
    <a:srgbClr val="99EA08"/>
    <a:srgbClr val="8382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522" y="82"/>
      </p:cViewPr>
      <p:guideLst>
        <p:guide orient="horz" pos="2160"/>
        <p:guide pos="291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7381E594-34E0-48A4-A6F1-4EF1B9A98FC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E41D69A-17A6-47B0-9A33-26F0AC5BAF2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D3AAEDB-7AB8-4C44-B047-DD2E41F2222D}" type="datetimeFigureOut">
              <a:rPr lang="zh-CN" altLang="en-US"/>
              <a:pPr>
                <a:defRPr/>
              </a:pPr>
              <a:t>2023/7/26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196A3E6A-8805-41B9-B661-4EBEA065A6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EA96D61F-B798-435A-926F-9E4410811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9405C0-E0D9-4C53-85A6-735731B2C99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71F842-CD53-466F-A5F2-51481B727E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1838DFC2-96AD-4001-B847-30759E8E9A8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3 Marcador de fecha">
            <a:extLst>
              <a:ext uri="{FF2B5EF4-FFF2-40B4-BE49-F238E27FC236}">
                <a16:creationId xmlns:a16="http://schemas.microsoft.com/office/drawing/2014/main" id="{7614B32B-DA36-49C8-BC9D-2D1973A4CC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D1BBC2-E78E-4A26-8C36-F11F9F4AF79B}" type="datetimeFigureOut">
              <a:rPr lang="zh-CN" altLang="en-US"/>
              <a:pPr>
                <a:defRPr/>
              </a:pPr>
              <a:t>2023/7/26</a:t>
            </a:fld>
            <a:endParaRPr lang="es-ES" altLang="en-US"/>
          </a:p>
        </p:txBody>
      </p:sp>
      <p:sp>
        <p:nvSpPr>
          <p:cNvPr id="5" name="4 Marcador de pie de página">
            <a:extLst>
              <a:ext uri="{FF2B5EF4-FFF2-40B4-BE49-F238E27FC236}">
                <a16:creationId xmlns:a16="http://schemas.microsoft.com/office/drawing/2014/main" id="{D23087E1-517F-451B-84E5-E473A05C31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5 Marcador de número de diapositiva">
            <a:extLst>
              <a:ext uri="{FF2B5EF4-FFF2-40B4-BE49-F238E27FC236}">
                <a16:creationId xmlns:a16="http://schemas.microsoft.com/office/drawing/2014/main" id="{EAA27C8A-8E62-4246-8553-D3D2ADA338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089A9C-18FC-4525-A6D3-73FA4513846D}" type="slidenum">
              <a:rPr lang="zh-CN" altLang="en-US"/>
              <a:pPr>
                <a:defRPr/>
              </a:pPr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1352213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3 Marcador de fecha">
            <a:extLst>
              <a:ext uri="{FF2B5EF4-FFF2-40B4-BE49-F238E27FC236}">
                <a16:creationId xmlns:a16="http://schemas.microsoft.com/office/drawing/2014/main" id="{157494EC-88A3-4672-A00E-6D5648D150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7D2FE1-3495-4562-8210-CF1352B6E12B}" type="datetimeFigureOut">
              <a:rPr lang="zh-CN" altLang="en-US"/>
              <a:pPr>
                <a:defRPr/>
              </a:pPr>
              <a:t>2023/7/26</a:t>
            </a:fld>
            <a:endParaRPr lang="es-ES" altLang="en-US"/>
          </a:p>
        </p:txBody>
      </p:sp>
      <p:sp>
        <p:nvSpPr>
          <p:cNvPr id="5" name="4 Marcador de pie de página">
            <a:extLst>
              <a:ext uri="{FF2B5EF4-FFF2-40B4-BE49-F238E27FC236}">
                <a16:creationId xmlns:a16="http://schemas.microsoft.com/office/drawing/2014/main" id="{06FB3D9F-3B5D-4738-928D-7F00378DE7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5 Marcador de número de diapositiva">
            <a:extLst>
              <a:ext uri="{FF2B5EF4-FFF2-40B4-BE49-F238E27FC236}">
                <a16:creationId xmlns:a16="http://schemas.microsoft.com/office/drawing/2014/main" id="{09040E28-8BD5-4182-8AB5-27D41AF468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5FAF02-F389-4EF1-BC4C-F06649C446A3}" type="slidenum">
              <a:rPr lang="zh-CN" altLang="en-US"/>
              <a:pPr>
                <a:defRPr/>
              </a:pPr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4118589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3 Marcador de fecha">
            <a:extLst>
              <a:ext uri="{FF2B5EF4-FFF2-40B4-BE49-F238E27FC236}">
                <a16:creationId xmlns:a16="http://schemas.microsoft.com/office/drawing/2014/main" id="{D59303EE-F4FE-42F8-8F35-F495EE8951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514612-E696-490C-87AD-23907364A10E}" type="datetimeFigureOut">
              <a:rPr lang="zh-CN" altLang="en-US"/>
              <a:pPr>
                <a:defRPr/>
              </a:pPr>
              <a:t>2023/7/26</a:t>
            </a:fld>
            <a:endParaRPr lang="es-ES" altLang="en-US"/>
          </a:p>
        </p:txBody>
      </p:sp>
      <p:sp>
        <p:nvSpPr>
          <p:cNvPr id="5" name="4 Marcador de pie de página">
            <a:extLst>
              <a:ext uri="{FF2B5EF4-FFF2-40B4-BE49-F238E27FC236}">
                <a16:creationId xmlns:a16="http://schemas.microsoft.com/office/drawing/2014/main" id="{56E8DD98-8728-4C2E-92CD-42677ACF75B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5 Marcador de número de diapositiva">
            <a:extLst>
              <a:ext uri="{FF2B5EF4-FFF2-40B4-BE49-F238E27FC236}">
                <a16:creationId xmlns:a16="http://schemas.microsoft.com/office/drawing/2014/main" id="{70082715-6CE9-47CB-BAD0-895483A239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AC6958-D164-4354-9E71-B4E49CD357EF}" type="slidenum">
              <a:rPr lang="zh-CN" altLang="en-US"/>
              <a:pPr>
                <a:defRPr/>
              </a:pPr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4141979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3 Marcador de fecha">
            <a:extLst>
              <a:ext uri="{FF2B5EF4-FFF2-40B4-BE49-F238E27FC236}">
                <a16:creationId xmlns:a16="http://schemas.microsoft.com/office/drawing/2014/main" id="{6E2D3D00-A67F-48AD-AF1D-090C6891E8B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9F4EE3-5847-43DC-9915-5B5D189C4675}" type="datetimeFigureOut">
              <a:rPr lang="zh-CN" altLang="en-US"/>
              <a:pPr>
                <a:defRPr/>
              </a:pPr>
              <a:t>2023/7/26</a:t>
            </a:fld>
            <a:endParaRPr lang="es-ES" altLang="en-US"/>
          </a:p>
        </p:txBody>
      </p:sp>
      <p:sp>
        <p:nvSpPr>
          <p:cNvPr id="6" name="4 Marcador de pie de página">
            <a:extLst>
              <a:ext uri="{FF2B5EF4-FFF2-40B4-BE49-F238E27FC236}">
                <a16:creationId xmlns:a16="http://schemas.microsoft.com/office/drawing/2014/main" id="{DDC75780-5AE4-4AF0-9EF9-61E016D14D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5 Marcador de número de diapositiva">
            <a:extLst>
              <a:ext uri="{FF2B5EF4-FFF2-40B4-BE49-F238E27FC236}">
                <a16:creationId xmlns:a16="http://schemas.microsoft.com/office/drawing/2014/main" id="{5CFD295C-7CBA-49DA-96DF-26A5B07434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19D1DE-5E37-4020-9F87-364E0B32593D}" type="slidenum">
              <a:rPr lang="zh-CN" altLang="en-US"/>
              <a:pPr>
                <a:defRPr/>
              </a:pPr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2870685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3 Marcador de fecha">
            <a:extLst>
              <a:ext uri="{FF2B5EF4-FFF2-40B4-BE49-F238E27FC236}">
                <a16:creationId xmlns:a16="http://schemas.microsoft.com/office/drawing/2014/main" id="{0B215AC2-3438-4798-A4D9-B4BA61C9ED0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53C1FC-679D-4C70-B14C-2EA42877C7D3}" type="datetimeFigureOut">
              <a:rPr lang="zh-CN" altLang="en-US"/>
              <a:pPr>
                <a:defRPr/>
              </a:pPr>
              <a:t>2023/7/26</a:t>
            </a:fld>
            <a:endParaRPr lang="es-ES" altLang="en-US"/>
          </a:p>
        </p:txBody>
      </p:sp>
      <p:sp>
        <p:nvSpPr>
          <p:cNvPr id="8" name="4 Marcador de pie de página">
            <a:extLst>
              <a:ext uri="{FF2B5EF4-FFF2-40B4-BE49-F238E27FC236}">
                <a16:creationId xmlns:a16="http://schemas.microsoft.com/office/drawing/2014/main" id="{79822A5C-35AB-4E68-AF14-4C36E551BAC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5 Marcador de número de diapositiva">
            <a:extLst>
              <a:ext uri="{FF2B5EF4-FFF2-40B4-BE49-F238E27FC236}">
                <a16:creationId xmlns:a16="http://schemas.microsoft.com/office/drawing/2014/main" id="{2A957466-1E74-42A6-843D-B8338F4FBF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93C5B9-99A9-449B-A8A5-2F25AAD6FD81}" type="slidenum">
              <a:rPr lang="zh-CN" altLang="en-US"/>
              <a:pPr>
                <a:defRPr/>
              </a:pPr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3535007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3 Marcador de fecha">
            <a:extLst>
              <a:ext uri="{FF2B5EF4-FFF2-40B4-BE49-F238E27FC236}">
                <a16:creationId xmlns:a16="http://schemas.microsoft.com/office/drawing/2014/main" id="{9C8C3601-943B-4B75-969A-19CDD761E0F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9DD854-5AF8-4989-8988-6193C4EA1419}" type="datetimeFigureOut">
              <a:rPr lang="zh-CN" altLang="en-US"/>
              <a:pPr>
                <a:defRPr/>
              </a:pPr>
              <a:t>2023/7/26</a:t>
            </a:fld>
            <a:endParaRPr lang="es-ES" altLang="en-US"/>
          </a:p>
        </p:txBody>
      </p:sp>
      <p:sp>
        <p:nvSpPr>
          <p:cNvPr id="4" name="4 Marcador de pie de página">
            <a:extLst>
              <a:ext uri="{FF2B5EF4-FFF2-40B4-BE49-F238E27FC236}">
                <a16:creationId xmlns:a16="http://schemas.microsoft.com/office/drawing/2014/main" id="{D7A61ED2-7642-4661-9CDE-D9458641DD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5 Marcador de número de diapositiva">
            <a:extLst>
              <a:ext uri="{FF2B5EF4-FFF2-40B4-BE49-F238E27FC236}">
                <a16:creationId xmlns:a16="http://schemas.microsoft.com/office/drawing/2014/main" id="{5B2235F3-CE11-429E-8482-4A145E75BE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933840-103F-4F5F-8B89-0C4D25D74697}" type="slidenum">
              <a:rPr lang="zh-CN" altLang="en-US"/>
              <a:pPr>
                <a:defRPr/>
              </a:pPr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42780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DD11AF5-8F12-474E-A7BF-C4CF616FB76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92150"/>
            <a:ext cx="9144000" cy="46038"/>
          </a:xfrm>
          <a:prstGeom prst="rect">
            <a:avLst/>
          </a:prstGeom>
          <a:gradFill rotWithShape="1">
            <a:gsLst>
              <a:gs pos="0">
                <a:srgbClr val="D8D8D8"/>
              </a:gs>
              <a:gs pos="17998">
                <a:srgbClr val="A5A5A5"/>
              </a:gs>
              <a:gs pos="51999">
                <a:srgbClr val="595959"/>
              </a:gs>
              <a:gs pos="82001">
                <a:srgbClr val="BFBFBF"/>
              </a:gs>
              <a:gs pos="100000">
                <a:srgbClr val="CCCCFF"/>
              </a:gs>
            </a:gsLst>
            <a:lin ang="0" scaled="1"/>
          </a:gra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" name="3 Marcador de fecha">
            <a:extLst>
              <a:ext uri="{FF2B5EF4-FFF2-40B4-BE49-F238E27FC236}">
                <a16:creationId xmlns:a16="http://schemas.microsoft.com/office/drawing/2014/main" id="{95DE3140-4B55-47D5-ADF2-8886DF8937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912CA3-2C9D-4EF7-8431-947C872B9881}" type="datetimeFigureOut">
              <a:rPr lang="zh-CN" altLang="en-US"/>
              <a:pPr>
                <a:defRPr/>
              </a:pPr>
              <a:t>2023/7/26</a:t>
            </a:fld>
            <a:endParaRPr lang="es-ES" altLang="en-US"/>
          </a:p>
        </p:txBody>
      </p:sp>
      <p:sp>
        <p:nvSpPr>
          <p:cNvPr id="4" name="4 Marcador de pie de página">
            <a:extLst>
              <a:ext uri="{FF2B5EF4-FFF2-40B4-BE49-F238E27FC236}">
                <a16:creationId xmlns:a16="http://schemas.microsoft.com/office/drawing/2014/main" id="{5BFDDF23-9A3A-4C8E-AC5D-9BC5CCE24D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5 Marcador de número de diapositiva">
            <a:extLst>
              <a:ext uri="{FF2B5EF4-FFF2-40B4-BE49-F238E27FC236}">
                <a16:creationId xmlns:a16="http://schemas.microsoft.com/office/drawing/2014/main" id="{8162F582-48A9-41A4-9BE1-0379B770599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6AD399B-2BFF-42D3-99F5-B495B3F3EF09}" type="slidenum">
              <a:rPr lang="zh-CN" altLang="en-US"/>
              <a:pPr>
                <a:defRPr/>
              </a:pPr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2856160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3 Marcador de fecha">
            <a:extLst>
              <a:ext uri="{FF2B5EF4-FFF2-40B4-BE49-F238E27FC236}">
                <a16:creationId xmlns:a16="http://schemas.microsoft.com/office/drawing/2014/main" id="{39B4A3B3-EFFD-43E3-B49B-51DFFD372F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217798-F4B3-42EE-B574-1FB8B7B7CC7E}" type="datetimeFigureOut">
              <a:rPr lang="zh-CN" altLang="en-US"/>
              <a:pPr>
                <a:defRPr/>
              </a:pPr>
              <a:t>2023/7/26</a:t>
            </a:fld>
            <a:endParaRPr lang="es-ES" altLang="en-US"/>
          </a:p>
        </p:txBody>
      </p:sp>
      <p:sp>
        <p:nvSpPr>
          <p:cNvPr id="6" name="4 Marcador de pie de página">
            <a:extLst>
              <a:ext uri="{FF2B5EF4-FFF2-40B4-BE49-F238E27FC236}">
                <a16:creationId xmlns:a16="http://schemas.microsoft.com/office/drawing/2014/main" id="{0EB5D1F3-67DB-4F73-9E44-CD57C6C0BD6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5 Marcador de número de diapositiva">
            <a:extLst>
              <a:ext uri="{FF2B5EF4-FFF2-40B4-BE49-F238E27FC236}">
                <a16:creationId xmlns:a16="http://schemas.microsoft.com/office/drawing/2014/main" id="{ACD52745-C9A0-4FF3-B107-5B9BBAFE9E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63C836-306E-433C-AB07-E12D0AEB2DB3}" type="slidenum">
              <a:rPr lang="zh-CN" altLang="en-US"/>
              <a:pPr>
                <a:defRPr/>
              </a:pPr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4041082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3 Marcador de fecha">
            <a:extLst>
              <a:ext uri="{FF2B5EF4-FFF2-40B4-BE49-F238E27FC236}">
                <a16:creationId xmlns:a16="http://schemas.microsoft.com/office/drawing/2014/main" id="{B7F09361-E9EA-45AA-9EC4-0796E794A3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546FD8-E13C-4B1A-90EF-B7DF944E07F9}" type="datetimeFigureOut">
              <a:rPr lang="zh-CN" altLang="en-US"/>
              <a:pPr>
                <a:defRPr/>
              </a:pPr>
              <a:t>2023/7/26</a:t>
            </a:fld>
            <a:endParaRPr lang="es-ES" altLang="en-US"/>
          </a:p>
        </p:txBody>
      </p:sp>
      <p:sp>
        <p:nvSpPr>
          <p:cNvPr id="6" name="4 Marcador de pie de página">
            <a:extLst>
              <a:ext uri="{FF2B5EF4-FFF2-40B4-BE49-F238E27FC236}">
                <a16:creationId xmlns:a16="http://schemas.microsoft.com/office/drawing/2014/main" id="{168E2DB1-1CAB-4C71-BFA6-64FE9B0D74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5 Marcador de número de diapositiva">
            <a:extLst>
              <a:ext uri="{FF2B5EF4-FFF2-40B4-BE49-F238E27FC236}">
                <a16:creationId xmlns:a16="http://schemas.microsoft.com/office/drawing/2014/main" id="{9BEEFB8D-8930-4959-B56A-35BA0E923D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32E610-9008-4A6C-9A5D-7173955C9E62}" type="slidenum">
              <a:rPr lang="zh-CN" altLang="en-US"/>
              <a:pPr>
                <a:defRPr/>
              </a:pPr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3099580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3 Marcador de fecha">
            <a:extLst>
              <a:ext uri="{FF2B5EF4-FFF2-40B4-BE49-F238E27FC236}">
                <a16:creationId xmlns:a16="http://schemas.microsoft.com/office/drawing/2014/main" id="{2B37CEB6-87EA-40E2-9D7C-084EE665C89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38E3BF-6CB8-4783-B159-D54EF8C543D1}" type="datetimeFigureOut">
              <a:rPr lang="zh-CN" altLang="en-US"/>
              <a:pPr>
                <a:defRPr/>
              </a:pPr>
              <a:t>2023/7/26</a:t>
            </a:fld>
            <a:endParaRPr lang="es-ES" altLang="en-US"/>
          </a:p>
        </p:txBody>
      </p:sp>
      <p:sp>
        <p:nvSpPr>
          <p:cNvPr id="5" name="4 Marcador de pie de página">
            <a:extLst>
              <a:ext uri="{FF2B5EF4-FFF2-40B4-BE49-F238E27FC236}">
                <a16:creationId xmlns:a16="http://schemas.microsoft.com/office/drawing/2014/main" id="{2BDFB1EC-156A-4FD5-AFEE-28A0C521C5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5 Marcador de número de diapositiva">
            <a:extLst>
              <a:ext uri="{FF2B5EF4-FFF2-40B4-BE49-F238E27FC236}">
                <a16:creationId xmlns:a16="http://schemas.microsoft.com/office/drawing/2014/main" id="{3F15840B-3D04-4581-9F19-36A4F72C5D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BB67C-0C23-4FBE-B00E-F49D6363D650}" type="slidenum">
              <a:rPr lang="zh-CN" altLang="en-US"/>
              <a:pPr>
                <a:defRPr/>
              </a:pPr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748086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3 Marcador de fecha">
            <a:extLst>
              <a:ext uri="{FF2B5EF4-FFF2-40B4-BE49-F238E27FC236}">
                <a16:creationId xmlns:a16="http://schemas.microsoft.com/office/drawing/2014/main" id="{462FA359-0BA4-4C7C-998E-90C0C07FE2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0F8D3E-2B10-411D-9264-335AF5AB55E5}" type="datetimeFigureOut">
              <a:rPr lang="zh-CN" altLang="en-US"/>
              <a:pPr>
                <a:defRPr/>
              </a:pPr>
              <a:t>2023/7/26</a:t>
            </a:fld>
            <a:endParaRPr lang="es-ES" altLang="en-US"/>
          </a:p>
        </p:txBody>
      </p:sp>
      <p:sp>
        <p:nvSpPr>
          <p:cNvPr id="5" name="4 Marcador de pie de página">
            <a:extLst>
              <a:ext uri="{FF2B5EF4-FFF2-40B4-BE49-F238E27FC236}">
                <a16:creationId xmlns:a16="http://schemas.microsoft.com/office/drawing/2014/main" id="{570ABB7E-4684-4170-93B2-7296A472059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5 Marcador de número de diapositiva">
            <a:extLst>
              <a:ext uri="{FF2B5EF4-FFF2-40B4-BE49-F238E27FC236}">
                <a16:creationId xmlns:a16="http://schemas.microsoft.com/office/drawing/2014/main" id="{73747833-30B1-4C8C-BBB5-A892186A14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48F309-D6A1-467F-9BF8-9A2E51B660A4}" type="slidenum">
              <a:rPr lang="zh-CN" altLang="en-US"/>
              <a:pPr>
                <a:defRPr/>
              </a:pPr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626504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>
            <a:extLst>
              <a:ext uri="{FF2B5EF4-FFF2-40B4-BE49-F238E27FC236}">
                <a16:creationId xmlns:a16="http://schemas.microsoft.com/office/drawing/2014/main" id="{91247BBC-C63C-4FB4-A88A-D7A789CE7F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zh-CN"/>
              <a:t>Haga clic para modificar el estilo de título del patrón</a:t>
            </a:r>
          </a:p>
        </p:txBody>
      </p:sp>
      <p:sp>
        <p:nvSpPr>
          <p:cNvPr id="1027" name="2 Marcador de texto">
            <a:extLst>
              <a:ext uri="{FF2B5EF4-FFF2-40B4-BE49-F238E27FC236}">
                <a16:creationId xmlns:a16="http://schemas.microsoft.com/office/drawing/2014/main" id="{39FADFA2-F5F4-45CE-9E3F-BA965A42C2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zh-CN"/>
              <a:t>Haga clic para modificar el estilo de texto del patrón</a:t>
            </a:r>
          </a:p>
          <a:p>
            <a:pPr lvl="1"/>
            <a:r>
              <a:rPr lang="es-ES" altLang="zh-CN"/>
              <a:t>Segundo nivel</a:t>
            </a:r>
          </a:p>
          <a:p>
            <a:pPr lvl="2"/>
            <a:r>
              <a:rPr lang="es-ES" altLang="zh-CN"/>
              <a:t>Tercer nivel</a:t>
            </a:r>
          </a:p>
          <a:p>
            <a:pPr lvl="3"/>
            <a:r>
              <a:rPr lang="es-ES" altLang="zh-CN"/>
              <a:t>Cuarto nivel</a:t>
            </a:r>
          </a:p>
          <a:p>
            <a:pPr lvl="4"/>
            <a:r>
              <a:rPr lang="es-ES" altLang="zh-CN"/>
              <a:t>Quinto nivel</a:t>
            </a:r>
          </a:p>
        </p:txBody>
      </p:sp>
      <p:sp>
        <p:nvSpPr>
          <p:cNvPr id="1028" name="3 Marcador de fecha">
            <a:extLst>
              <a:ext uri="{FF2B5EF4-FFF2-40B4-BE49-F238E27FC236}">
                <a16:creationId xmlns:a16="http://schemas.microsoft.com/office/drawing/2014/main" id="{974DB53C-2043-48A4-80AD-62333D57C1A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+mn-lt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0C5D086-FA4E-491C-A29E-F7F559DB5343}" type="datetimeFigureOut">
              <a:rPr lang="zh-CN" altLang="en-US"/>
              <a:pPr>
                <a:defRPr/>
              </a:pPr>
              <a:t>2023/7/26</a:t>
            </a:fld>
            <a:endParaRPr lang="es-ES" altLang="en-US"/>
          </a:p>
        </p:txBody>
      </p:sp>
      <p:sp>
        <p:nvSpPr>
          <p:cNvPr id="1029" name="4 Marcador de pie de página">
            <a:extLst>
              <a:ext uri="{FF2B5EF4-FFF2-40B4-BE49-F238E27FC236}">
                <a16:creationId xmlns:a16="http://schemas.microsoft.com/office/drawing/2014/main" id="{C6B33EEA-6103-40CE-8CED-FD6429B49AE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+mn-lt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0" name="5 Marcador de número de diapositiva">
            <a:extLst>
              <a:ext uri="{FF2B5EF4-FFF2-40B4-BE49-F238E27FC236}">
                <a16:creationId xmlns:a16="http://schemas.microsoft.com/office/drawing/2014/main" id="{F064986C-5270-4757-99A3-7C3222DA777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707EB0D-2BC0-4235-9AD4-6A0464E9E284}" type="slidenum">
              <a:rPr lang="zh-CN" altLang="en-US"/>
              <a:pPr>
                <a:defRPr/>
              </a:pPr>
              <a:t>‹#›</a:t>
            </a:fld>
            <a:endParaRPr lang="es-E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4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>
            <a:extLst>
              <a:ext uri="{FF2B5EF4-FFF2-40B4-BE49-F238E27FC236}">
                <a16:creationId xmlns:a16="http://schemas.microsoft.com/office/drawing/2014/main" id="{0E696708-E3F7-4955-9FAB-D6EF3F61ED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b="1" dirty="0">
                <a:ea typeface="宋体" panose="02010600030101010101" pitchFamily="2" charset="-122"/>
              </a:rPr>
              <a:t>第</a:t>
            </a:r>
            <a:r>
              <a:rPr lang="en-US" altLang="zh-CN" sz="3600" b="1" dirty="0">
                <a:ea typeface="宋体" panose="02010600030101010101" pitchFamily="2" charset="-122"/>
              </a:rPr>
              <a:t>14</a:t>
            </a:r>
            <a:r>
              <a:rPr lang="zh-CN" altLang="en-US" sz="3600" b="1" dirty="0">
                <a:ea typeface="宋体" panose="02010600030101010101" pitchFamily="2" charset="-122"/>
              </a:rPr>
              <a:t>章 创建你自己的小精灵</a:t>
            </a:r>
            <a:r>
              <a:rPr lang="en-US" altLang="zh-CN" sz="3600" b="1" dirty="0">
                <a:ea typeface="宋体" panose="02010600030101010101" pitchFamily="2" charset="-122"/>
              </a:rPr>
              <a:t>-</a:t>
            </a:r>
            <a:r>
              <a:rPr lang="zh-CN" altLang="en-US" sz="3600" b="1" dirty="0">
                <a:ea typeface="宋体" panose="02010600030101010101" pitchFamily="2" charset="-122"/>
              </a:rPr>
              <a:t>基于</a:t>
            </a:r>
            <a:r>
              <a:rPr lang="en-US" altLang="zh-CN" sz="3600" b="1" dirty="0">
                <a:ea typeface="宋体" panose="02010600030101010101" pitchFamily="2" charset="-122"/>
              </a:rPr>
              <a:t>MFCC</a:t>
            </a:r>
            <a:r>
              <a:rPr lang="zh-CN" altLang="en-US" sz="3600" b="1" dirty="0">
                <a:ea typeface="宋体" panose="02010600030101010101" pitchFamily="2" charset="-122"/>
              </a:rPr>
              <a:t>的语音唤醒实战</a:t>
            </a:r>
          </a:p>
        </p:txBody>
      </p:sp>
      <p:sp>
        <p:nvSpPr>
          <p:cNvPr id="4099" name="内容占位符 2">
            <a:extLst>
              <a:ext uri="{FF2B5EF4-FFF2-40B4-BE49-F238E27FC236}">
                <a16:creationId xmlns:a16="http://schemas.microsoft.com/office/drawing/2014/main" id="{A0AF8FF0-1AF0-4B34-B2AC-70FE2E9B2F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1.1 </a:t>
            </a:r>
            <a:r>
              <a:rPr lang="zh-CN" altLang="en-US" dirty="0">
                <a:ea typeface="宋体" panose="02010600030101010101" pitchFamily="2" charset="-122"/>
              </a:rPr>
              <a:t>燎原之态的人工智能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1.2 </a:t>
            </a:r>
            <a:r>
              <a:rPr lang="zh-CN" altLang="en-US" dirty="0">
                <a:ea typeface="宋体" panose="02010600030101010101" pitchFamily="2" charset="-122"/>
              </a:rPr>
              <a:t>为什么是</a:t>
            </a:r>
            <a:r>
              <a:rPr lang="en-US" altLang="zh-CN" dirty="0">
                <a:ea typeface="宋体" panose="02010600030101010101" pitchFamily="2" charset="-122"/>
              </a:rPr>
              <a:t>Pytorch2.0</a:t>
            </a:r>
          </a:p>
          <a:p>
            <a:pPr marL="0" indent="0">
              <a:buNone/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id="{AD62EE69-FF52-40F2-9FC5-5C504E966D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1.1 </a:t>
            </a:r>
            <a:r>
              <a:rPr lang="zh-CN" altLang="en-US" dirty="0">
                <a:ea typeface="宋体" panose="02010600030101010101" pitchFamily="2" charset="-122"/>
              </a:rPr>
              <a:t>燎原之态的人工智能</a:t>
            </a:r>
          </a:p>
        </p:txBody>
      </p:sp>
      <p:sp>
        <p:nvSpPr>
          <p:cNvPr id="5123" name="内容占位符 2">
            <a:extLst>
              <a:ext uri="{FF2B5EF4-FFF2-40B4-BE49-F238E27FC236}">
                <a16:creationId xmlns:a16="http://schemas.microsoft.com/office/drawing/2014/main" id="{771C851A-9EB4-43BB-93EB-5897EDB428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892696"/>
          </a:xfrm>
        </p:spPr>
        <p:txBody>
          <a:bodyPr/>
          <a:lstStyle/>
          <a:p>
            <a:pPr algn="just">
              <a:lnSpc>
                <a:spcPct val="173000"/>
              </a:lnSpc>
              <a:spcBef>
                <a:spcPts val="1300"/>
              </a:spcBef>
              <a:spcAft>
                <a:spcPts val="1300"/>
              </a:spcAft>
            </a:pPr>
            <a:r>
              <a:rPr lang="en-US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1.1.1 </a:t>
            </a:r>
            <a:r>
              <a:rPr lang="zh-CN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从无到有的人工智能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11FC5AE-673F-4C0A-B168-7947CF01F7CF}"/>
              </a:ext>
            </a:extLst>
          </p:cNvPr>
          <p:cNvSpPr txBox="1"/>
          <p:nvPr/>
        </p:nvSpPr>
        <p:spPr>
          <a:xfrm>
            <a:off x="755576" y="2675458"/>
            <a:ext cx="7859216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人工智能的发展可以追溯到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20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世纪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50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年代，当时的计算机技术还非常落后，但是人们已经开始思考如何让计算机具备人类的智能。于是，在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20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世纪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50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年代末期，人工智能这个概念正式被提出。最早的人工智能技术主要是基于规则的，即通过编写一些规则来让计算机进行推理和决策。然而，这种方法很快就被证明是不够灵活的，无法应对各种复杂的情况。</a:t>
            </a:r>
          </a:p>
          <a:p>
            <a:pPr indent="266700" algn="just"/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为了解决这个问题，人们开始研究机器学习。机器学习是一种让计算机从数据中学习规律的方法。最早的机器学习算法主要是基于统计学的方法，如线性回归、逻辑回归等等。这些算法主要用于解决一些简单的问题，如分类、回归等。</a:t>
            </a:r>
          </a:p>
          <a:p>
            <a:pPr indent="266700" algn="just"/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随着数据量的不断增大和计算能力的提升，人们开始研究更加复杂的机器学习算法，如神经网络。神经网络是一种模仿人脑神经元的网络结构，可以用于解决各种复杂的问题，如图像识别、语音识别、自然语言处理等等。然而，在早期的研究中，神经网络还存在训练时间长、容易陷入局部最优解等问题。</a:t>
            </a:r>
          </a:p>
          <a:p>
            <a:pPr indent="266700" algn="just"/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为了解决这个问题，人们开始研究深度学习。深度学习是一种多层神经网络的方法，通过层层抽象，可以获取更加高级、更加抽象的特征表示。深度学习在图像识别、语音识别、自然语言处理等领域都取得了非常显著的成果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>
            <a:extLst>
              <a:ext uri="{FF2B5EF4-FFF2-40B4-BE49-F238E27FC236}">
                <a16:creationId xmlns:a16="http://schemas.microsoft.com/office/drawing/2014/main" id="{815C580A-7EDA-45BC-B1B0-8681ED37B3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1.1 </a:t>
            </a:r>
            <a:r>
              <a:rPr lang="zh-CN" altLang="en-US" dirty="0">
                <a:ea typeface="宋体" panose="02010600030101010101" pitchFamily="2" charset="-122"/>
              </a:rPr>
              <a:t>燎原之态的人工智能</a:t>
            </a:r>
          </a:p>
        </p:txBody>
      </p:sp>
      <p:sp>
        <p:nvSpPr>
          <p:cNvPr id="6147" name="内容占位符 2">
            <a:extLst>
              <a:ext uri="{FF2B5EF4-FFF2-40B4-BE49-F238E27FC236}">
                <a16:creationId xmlns:a16="http://schemas.microsoft.com/office/drawing/2014/main" id="{5B4A23E8-D5C7-4698-A477-7F0D620FC9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964704"/>
          </a:xfrm>
        </p:spPr>
        <p:txBody>
          <a:bodyPr/>
          <a:lstStyle/>
          <a:p>
            <a:pPr algn="just">
              <a:lnSpc>
                <a:spcPct val="173000"/>
              </a:lnSpc>
              <a:spcBef>
                <a:spcPts val="1300"/>
              </a:spcBef>
              <a:spcAft>
                <a:spcPts val="1300"/>
              </a:spcAft>
            </a:pPr>
            <a:r>
              <a:rPr lang="en-US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1.1.2  </a:t>
            </a:r>
            <a:r>
              <a:rPr lang="zh-CN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深度学习与人工智能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1F7B542-7060-48E0-8523-4AABACDA888B}"/>
              </a:ext>
            </a:extLst>
          </p:cNvPr>
          <p:cNvSpPr txBox="1"/>
          <p:nvPr/>
        </p:nvSpPr>
        <p:spPr>
          <a:xfrm>
            <a:off x="457200" y="2276872"/>
            <a:ext cx="82296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深度学习作为人工智能领域的一种重要技术，正在引领人工智能的发展。它利用多层神经网络模拟人脑的处理方式，可以实现很多人类难以完成的任务，如图像识别、语音识别、自然语言处理等等。在过去的几年中，深度学习在各个领域取得了巨大的成功，成为了人工智能领域的一颗璀璨明珠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B551C38-DE7B-4C45-A6B7-45A552A55CD5}"/>
              </a:ext>
            </a:extLst>
          </p:cNvPr>
          <p:cNvSpPr txBox="1"/>
          <p:nvPr/>
        </p:nvSpPr>
        <p:spPr>
          <a:xfrm>
            <a:off x="395536" y="3477201"/>
            <a:ext cx="849694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/>
            <a:r>
              <a:rPr lang="zh-CN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深度学习的核心是神经网络，它可以被看作是由许多个简单的神经元组成的网络。这些神经元可以接收输入并产生输出，通过学习不同的权重来实现不同的任务。深度学习的“深度”指的是神经网络的层数，即多层神经元的堆叠。在多层神经网络中，每一层的输出都是下一层的输入，每一层都负责提取不同层次的特征，从而完成更加复杂的任务。</a:t>
            </a:r>
          </a:p>
          <a:p>
            <a:pPr indent="266700" algn="just"/>
            <a:r>
              <a:rPr lang="zh-CN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深度学习在人工智能领域的成功得益于其强大的表征学习能力。表征学习是指从输入数据中学习到抽象的特征表示的过程。深度学习模型可以自动地学习到数据的特征表示，并从中提取出具有区分性的特征，从而实现对数据的分类、识别等任务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>
            <a:extLst>
              <a:ext uri="{FF2B5EF4-FFF2-40B4-BE49-F238E27FC236}">
                <a16:creationId xmlns:a16="http://schemas.microsoft.com/office/drawing/2014/main" id="{91D1B3F1-820A-4856-80E7-28F6383306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1.1 </a:t>
            </a:r>
            <a:r>
              <a:rPr lang="zh-CN" altLang="en-US" dirty="0">
                <a:ea typeface="宋体" panose="02010600030101010101" pitchFamily="2" charset="-122"/>
              </a:rPr>
              <a:t>燎原之态的人工智能</a:t>
            </a:r>
          </a:p>
        </p:txBody>
      </p:sp>
      <p:sp>
        <p:nvSpPr>
          <p:cNvPr id="7171" name="内容占位符 2">
            <a:extLst>
              <a:ext uri="{FF2B5EF4-FFF2-40B4-BE49-F238E27FC236}">
                <a16:creationId xmlns:a16="http://schemas.microsoft.com/office/drawing/2014/main" id="{10A1BC15-4D37-4BB5-92C0-EB32892AD6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748680"/>
          </a:xfrm>
        </p:spPr>
        <p:txBody>
          <a:bodyPr/>
          <a:lstStyle/>
          <a:p>
            <a:pPr algn="just">
              <a:lnSpc>
                <a:spcPct val="173000"/>
              </a:lnSpc>
              <a:spcBef>
                <a:spcPts val="1300"/>
              </a:spcBef>
              <a:spcAft>
                <a:spcPts val="1300"/>
              </a:spcAft>
            </a:pPr>
            <a:r>
              <a:rPr lang="en-US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1.1.3  </a:t>
            </a:r>
            <a:r>
              <a:rPr lang="zh-CN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应用深度学习解决实际问题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34E0AD6-63A4-40B8-B298-518930558CA1}"/>
              </a:ext>
            </a:extLst>
          </p:cNvPr>
          <p:cNvSpPr txBox="1"/>
          <p:nvPr/>
        </p:nvSpPr>
        <p:spPr>
          <a:xfrm>
            <a:off x="683568" y="2531442"/>
            <a:ext cx="777686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/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深度学习是一种机器学习技术，它可以通过大量的数据来训练模型，以解决现实生活中的实际问题。深度学习技术在多个领域都有广泛应用，例如自然语言处理、计算机视觉、智能控制等。本文将介绍几个使用深度学习解决实际问题的案例，并探讨深度学习技术的优势。</a:t>
            </a:r>
          </a:p>
          <a:p>
            <a:pPr algn="just"/>
            <a:r>
              <a:rPr lang="en-US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、人脸识别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、自然语言处理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、智能控制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745A5155-4C0E-4875-A83C-1A8E06F7AB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1.2 </a:t>
            </a:r>
            <a:r>
              <a:rPr lang="zh-CN" altLang="en-US" dirty="0">
                <a:ea typeface="宋体" panose="02010600030101010101" pitchFamily="2" charset="-122"/>
              </a:rPr>
              <a:t>为什么是</a:t>
            </a:r>
            <a:r>
              <a:rPr lang="en-US" altLang="zh-CN" dirty="0">
                <a:ea typeface="宋体" panose="02010600030101010101" pitchFamily="2" charset="-122"/>
              </a:rPr>
              <a:t>Pytorch2.0 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B5E2DA13-F23F-4CBA-9201-5E0C984D44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74868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1.2.1  </a:t>
            </a:r>
            <a:r>
              <a:rPr lang="en-US" altLang="zh-CN" sz="1800" b="1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Pytorch</a:t>
            </a:r>
            <a:r>
              <a:rPr lang="zh-CN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的前世今生</a:t>
            </a:r>
          </a:p>
          <a:p>
            <a:pPr marL="0" indent="0">
              <a:buNone/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B0297EE-9ED2-469A-9F0A-CBDBA22F3C79}"/>
              </a:ext>
            </a:extLst>
          </p:cNvPr>
          <p:cNvSpPr txBox="1"/>
          <p:nvPr/>
        </p:nvSpPr>
        <p:spPr>
          <a:xfrm>
            <a:off x="683568" y="2708920"/>
            <a:ext cx="7776864" cy="1869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105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PyTorch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是一个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Python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开源机器学习库，它可以提供强大的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GPU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加速张量运算和动态计算图，方便用户进行快速实验和开发。</a:t>
            </a:r>
            <a:r>
              <a:rPr lang="en-US" altLang="zh-CN" sz="105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PyTorch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由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Facebook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的人工智能研究小组于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2016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年发布，当时它作为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Torch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Python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版，目的是为了解决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Torch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Python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中的不便之处。</a:t>
            </a:r>
          </a:p>
          <a:p>
            <a:pPr indent="266700" algn="just"/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Torch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是另一个开源机器学习库，它于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2002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年由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Ronan </a:t>
            </a:r>
            <a:r>
              <a:rPr lang="en-US" altLang="zh-CN" sz="105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Collobert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创建，主要基于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Lua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编程语言。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Torch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最初是为了解决语音识别的问题而创建的，但随着时间的推移，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Torch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开始被广泛应用于其他机器学习领域，包括计算机视觉、自然语言处理、强化学习等。</a:t>
            </a:r>
          </a:p>
          <a:p>
            <a:pPr indent="266700" algn="just"/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尽管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Torch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在机器学习领域得到了广泛的应用，但是它在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Python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中的实现相对较为麻烦，这也就导致了其在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Python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社区的使用率不如其他机器学习库（如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TensorFlow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）。这也就迫使了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Facebook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的人工智能研究小组开始着手开发</a:t>
            </a:r>
            <a:r>
              <a:rPr lang="en-US" altLang="zh-CN" sz="105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PyTorch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indent="266700" algn="just"/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2016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年，</a:t>
            </a:r>
            <a:r>
              <a:rPr lang="en-US" altLang="zh-CN" sz="105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PyTorch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首次发布了其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Alpha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版本，但是该版本的使用范围比较有限。直到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2017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年，</a:t>
            </a:r>
            <a:r>
              <a:rPr lang="en-US" altLang="zh-CN" sz="105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PyTorch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正式发布了其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Beta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版本，这使得更多的用户可以使用</a:t>
            </a:r>
            <a:r>
              <a:rPr lang="en-US" altLang="zh-CN" sz="105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PyTorch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进行机器学习实验和开发。在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2018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年，</a:t>
            </a:r>
            <a:r>
              <a:rPr lang="en-US" altLang="zh-CN" sz="105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PyTorch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1.0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版本正式发布，这也标志着</a:t>
            </a:r>
            <a:r>
              <a:rPr lang="en-US" altLang="zh-CN" sz="105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PyTorch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开始成为机器学习领域中最受欢迎的开源机器学习库之一。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>
            <a:extLst>
              <a:ext uri="{FF2B5EF4-FFF2-40B4-BE49-F238E27FC236}">
                <a16:creationId xmlns:a16="http://schemas.microsoft.com/office/drawing/2014/main" id="{51746900-0E63-4A5B-8B44-0FB00DB185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1.2 </a:t>
            </a:r>
            <a:r>
              <a:rPr lang="zh-CN" altLang="en-US" dirty="0">
                <a:ea typeface="宋体" panose="02010600030101010101" pitchFamily="2" charset="-122"/>
              </a:rPr>
              <a:t>为什么是</a:t>
            </a:r>
            <a:r>
              <a:rPr lang="en-US" altLang="zh-CN" dirty="0">
                <a:ea typeface="宋体" panose="02010600030101010101" pitchFamily="2" charset="-122"/>
              </a:rPr>
              <a:t>Pytorch2.0 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9219" name="内容占位符 2">
            <a:extLst>
              <a:ext uri="{FF2B5EF4-FFF2-40B4-BE49-F238E27FC236}">
                <a16:creationId xmlns:a16="http://schemas.microsoft.com/office/drawing/2014/main" id="{E198C888-D07A-4D76-B0CC-4FD7DD06F5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748680"/>
          </a:xfrm>
        </p:spPr>
        <p:txBody>
          <a:bodyPr/>
          <a:lstStyle/>
          <a:p>
            <a:pPr algn="just">
              <a:lnSpc>
                <a:spcPct val="173000"/>
              </a:lnSpc>
              <a:spcBef>
                <a:spcPts val="1300"/>
              </a:spcBef>
              <a:spcAft>
                <a:spcPts val="1300"/>
              </a:spcAft>
            </a:pPr>
            <a:r>
              <a:rPr lang="en-US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1.2.2  </a:t>
            </a:r>
            <a:r>
              <a:rPr lang="zh-CN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更快、更优、更具编译支持</a:t>
            </a:r>
            <a:r>
              <a:rPr lang="en-US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-Pytorch2.0</a:t>
            </a:r>
            <a:r>
              <a:rPr lang="zh-CN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更好的未来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AE23D7B-FE11-48BB-B126-2DFA8388CC54}"/>
              </a:ext>
            </a:extLst>
          </p:cNvPr>
          <p:cNvSpPr txBox="1"/>
          <p:nvPr/>
        </p:nvSpPr>
        <p:spPr>
          <a:xfrm>
            <a:off x="475134" y="2636912"/>
            <a:ext cx="812931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/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Pytorch2.0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的诞生，它使得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05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PyTorch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的性能进一步提升，并开始将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05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PyTorch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的部分内容从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C++ 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中回到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Python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。而其中最为人津津乐道的最新技术包括：</a:t>
            </a:r>
            <a:r>
              <a:rPr lang="en-US" altLang="zh-CN" sz="105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TorchDynamo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05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AOTAutograd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05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PrimTorch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以及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05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TorchInductor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algn="just"/>
            <a:r>
              <a:rPr lang="en-US" altLang="zh-CN" sz="105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05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050" b="1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TorchDynamo</a:t>
            </a:r>
            <a:endParaRPr lang="zh-CN" altLang="zh-CN" sz="105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它可以借助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Python Frame Evaluation Hooks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，安全地获取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05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PyTorch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程序，这项重大创新是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05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PyTorch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过去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5 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年来在安全图结构捕获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(safe graph capture) 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方面的研发成果汇总。</a:t>
            </a:r>
          </a:p>
          <a:p>
            <a:pPr algn="just"/>
            <a:r>
              <a:rPr lang="en-US" altLang="zh-CN" sz="105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105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050" b="1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AOTAutograd</a:t>
            </a:r>
            <a:endParaRPr lang="zh-CN" altLang="zh-CN" sz="105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重载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05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PyTorch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05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autograd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engine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，作为一个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tracing </a:t>
            </a:r>
            <a:r>
              <a:rPr lang="en-US" altLang="zh-CN" sz="105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autodiff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，用于生成超前的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backward trace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algn="just"/>
            <a:r>
              <a:rPr lang="en-US" altLang="zh-CN" sz="105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105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050" b="1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PrimTorch</a:t>
            </a:r>
            <a:endParaRPr lang="zh-CN" altLang="zh-CN" sz="105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将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2000+ </a:t>
            </a:r>
            <a:r>
              <a:rPr lang="en-US" altLang="zh-CN" sz="105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PyTorch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算子归纳为约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250 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primitive operator 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闭集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(closed set)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，开发者可以针对这些算子构建一个完整的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05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PyTorch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后端。</a:t>
            </a:r>
            <a:r>
              <a:rPr lang="en-US" altLang="zh-CN" sz="105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PrimTorch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大大简化了编写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05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PyTorch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功能或后端的流程。</a:t>
            </a:r>
          </a:p>
          <a:p>
            <a:pPr algn="just"/>
            <a:r>
              <a:rPr lang="en-US" altLang="zh-CN" sz="105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105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050" b="1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TorchInductor</a:t>
            </a:r>
            <a:endParaRPr lang="zh-CN" altLang="zh-CN" sz="105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一个深度学习编译器，可以为多个加速器和后端生成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fast code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。对于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NVIDIA GPU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，它使用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05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OpenAI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Triton 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作为关键构建模块。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>
            <a:extLst>
              <a:ext uri="{FF2B5EF4-FFF2-40B4-BE49-F238E27FC236}">
                <a16:creationId xmlns:a16="http://schemas.microsoft.com/office/drawing/2014/main" id="{FB95364B-5624-4BF4-8322-518CE02672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1.2 </a:t>
            </a:r>
            <a:r>
              <a:rPr lang="zh-CN" altLang="en-US" dirty="0">
                <a:ea typeface="宋体" panose="02010600030101010101" pitchFamily="2" charset="-122"/>
              </a:rPr>
              <a:t>为什么是</a:t>
            </a:r>
            <a:r>
              <a:rPr lang="en-US" altLang="zh-CN" dirty="0">
                <a:ea typeface="宋体" panose="02010600030101010101" pitchFamily="2" charset="-122"/>
              </a:rPr>
              <a:t>Pytorch2.0 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0243" name="内容占位符 2">
            <a:extLst>
              <a:ext uri="{FF2B5EF4-FFF2-40B4-BE49-F238E27FC236}">
                <a16:creationId xmlns:a16="http://schemas.microsoft.com/office/drawing/2014/main" id="{3D6882DE-C9B6-4494-B4C6-2F1BE63F6A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82068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1.2.3  </a:t>
            </a:r>
            <a:r>
              <a:rPr lang="zh-CN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学习</a:t>
            </a:r>
            <a:r>
              <a:rPr lang="en-US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Pytorch2.0</a:t>
            </a:r>
            <a:r>
              <a:rPr lang="zh-CN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步骤图</a:t>
            </a:r>
            <a:r>
              <a:rPr lang="en-US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从零基础到项目实战</a:t>
            </a:r>
          </a:p>
          <a:p>
            <a:pPr marL="0" indent="0">
              <a:buNone/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1F25074-1485-4665-B32A-5D437A91CFFC}"/>
              </a:ext>
            </a:extLst>
          </p:cNvPr>
          <p:cNvSpPr txBox="1"/>
          <p:nvPr/>
        </p:nvSpPr>
        <p:spPr>
          <a:xfrm>
            <a:off x="611560" y="2420888"/>
            <a:ext cx="7992888" cy="235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/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学习</a:t>
            </a:r>
            <a:r>
              <a:rPr lang="en-US" altLang="zh-CN" sz="105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PyTorch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的步骤图可能因个人情况而有所不同，但以下是一般性的学习步骤：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安装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05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PyTorch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Python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：首先，你需要安装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Python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05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PyTorch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。你可以在</a:t>
            </a:r>
            <a:r>
              <a:rPr lang="en-US" altLang="zh-CN" sz="105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PyTorch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官方网站上找到安装说明，并选择合适的版本和平台；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学习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Python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基础知识：如果你还不熟悉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Python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，那么需要先学习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Python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基础知识，包括变量、数据类型、控制流语句、函数和模块等；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了解深度学习基础知识：学习深度学习前，需要先了解神经网络、损失函数、优化算法和梯度下降等基础概念；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学习</a:t>
            </a:r>
            <a:r>
              <a:rPr lang="en-US" altLang="zh-CN" sz="105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PyTorch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基础知识：学习</a:t>
            </a:r>
            <a:r>
              <a:rPr lang="en-US" altLang="zh-CN" sz="105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PyTorch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基础知识，包括</a:t>
            </a:r>
            <a:r>
              <a:rPr lang="en-US" altLang="zh-CN" sz="105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PyTorch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张量（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tensor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）、自动微分（</a:t>
            </a:r>
            <a:r>
              <a:rPr lang="en-US" altLang="zh-CN" sz="105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autograd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）、模块（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module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）和优化器（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optimizer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）等；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实践</a:t>
            </a:r>
            <a:r>
              <a:rPr lang="en-US" altLang="zh-CN" sz="105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PyTorch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：尝试使用</a:t>
            </a:r>
            <a:r>
              <a:rPr lang="en-US" altLang="zh-CN" sz="105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PyTorch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进行一些简单的任务，比如创建张量、定义神经网络模型、计算损失函数和梯度、优化模型参数等；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学习</a:t>
            </a:r>
            <a:r>
              <a:rPr lang="en-US" altLang="zh-CN" sz="105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PyTorch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高级知识：深入学习</a:t>
            </a:r>
            <a:r>
              <a:rPr lang="en-US" altLang="zh-CN" sz="105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PyTorch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的高级知识，包括</a:t>
            </a:r>
            <a:r>
              <a:rPr lang="en-US" altLang="zh-CN" sz="105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PyTorch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GPU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加速、数据处理、模型保存和加载、模型微调和迁移学习等；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完成深度学习实战项目：使用</a:t>
            </a:r>
            <a:r>
              <a:rPr lang="en-US" altLang="zh-CN" sz="105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PyTorch</a:t>
            </a:r>
            <a:r>
              <a:rPr lang="zh-CN" altLang="zh-CN" sz="105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完成一个深度学习项目，例如图像分类、物体检测、文本生成等。这个项目可以来自实际问题或是公开的数据集，目的是将前面所学知识应用于实际情况中。</a:t>
            </a:r>
          </a:p>
        </p:txBody>
      </p:sp>
    </p:spTree>
    <p:extLst>
      <p:ext uri="{BB962C8B-B14F-4D97-AF65-F5344CB8AC3E}">
        <p14:creationId xmlns:p14="http://schemas.microsoft.com/office/powerpoint/2010/main" val="31423487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Tema de 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Tema de Office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157255431</TotalTime>
  <Pages>0</Pages>
  <Words>1400</Words>
  <Characters>0</Characters>
  <Application>Microsoft Office PowerPoint</Application>
  <DocSecurity>0</DocSecurity>
  <PresentationFormat>全屏显示(4:3)</PresentationFormat>
  <Lines>0</Lines>
  <Paragraphs>47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等线</vt:lpstr>
      <vt:lpstr>宋体</vt:lpstr>
      <vt:lpstr>Arial</vt:lpstr>
      <vt:lpstr>Calibri</vt:lpstr>
      <vt:lpstr>Tema de Office</vt:lpstr>
      <vt:lpstr>第14章 创建你自己的小精灵-基于MFCC的语音唤醒实战</vt:lpstr>
      <vt:lpstr>1.1 燎原之态的人工智能</vt:lpstr>
      <vt:lpstr>1.1 燎原之态的人工智能</vt:lpstr>
      <vt:lpstr>1.1 燎原之态的人工智能</vt:lpstr>
      <vt:lpstr>1.2 为什么是Pytorch2.0 </vt:lpstr>
      <vt:lpstr>1.2 为什么是Pytorch2.0 </vt:lpstr>
      <vt:lpstr>1.2 为什么是Pytorch2.0 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Design</dc:creator>
  <cp:keywords/>
  <dc:description/>
  <cp:lastModifiedBy>lenovo</cp:lastModifiedBy>
  <cp:revision>58</cp:revision>
  <cp:lastPrinted>1899-12-30T00:00:00Z</cp:lastPrinted>
  <dcterms:created xsi:type="dcterms:W3CDTF">2010-05-18T15:49:44Z</dcterms:created>
  <dcterms:modified xsi:type="dcterms:W3CDTF">2023-07-26T06:34:58Z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2052-8.1.0.2988</vt:lpwstr>
  </property>
</Properties>
</file>