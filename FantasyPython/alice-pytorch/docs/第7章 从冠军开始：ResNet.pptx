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8" r:id="rId3"/>
    <p:sldId id="270" r:id="rId4"/>
    <p:sldId id="271" r:id="rId5"/>
    <p:sldId id="272" r:id="rId6"/>
    <p:sldId id="273" r:id="rId7"/>
    <p:sldId id="278" r:id="rId8"/>
    <p:sldId id="269" r:id="rId9"/>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5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1143000" y="685800"/>
            <a:ext cx="4572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Calibri"/>
      </a:defRPr>
    </a:lvl1pPr>
    <a:lvl2pPr indent="228600" latinLnBrk="0">
      <a:spcBef>
        <a:spcPts val="400"/>
      </a:spcBef>
      <a:defRPr sz="1200">
        <a:latin typeface="+mj-lt"/>
        <a:ea typeface="+mj-ea"/>
        <a:cs typeface="+mj-cs"/>
        <a:sym typeface="Calibri"/>
      </a:defRPr>
    </a:lvl2pPr>
    <a:lvl3pPr indent="457200" latinLnBrk="0">
      <a:spcBef>
        <a:spcPts val="400"/>
      </a:spcBef>
      <a:defRPr sz="1200">
        <a:latin typeface="+mj-lt"/>
        <a:ea typeface="+mj-ea"/>
        <a:cs typeface="+mj-cs"/>
        <a:sym typeface="Calibri"/>
      </a:defRPr>
    </a:lvl3pPr>
    <a:lvl4pPr indent="685800" latinLnBrk="0">
      <a:spcBef>
        <a:spcPts val="400"/>
      </a:spcBef>
      <a:defRPr sz="1200">
        <a:latin typeface="+mj-lt"/>
        <a:ea typeface="+mj-ea"/>
        <a:cs typeface="+mj-cs"/>
        <a:sym typeface="Calibri"/>
      </a:defRPr>
    </a:lvl4pPr>
    <a:lvl5pPr indent="914400" latinLnBrk="0">
      <a:spcBef>
        <a:spcPts val="400"/>
      </a:spcBef>
      <a:defRPr sz="1200">
        <a:latin typeface="+mj-lt"/>
        <a:ea typeface="+mj-ea"/>
        <a:cs typeface="+mj-cs"/>
        <a:sym typeface="Calibri"/>
      </a:defRPr>
    </a:lvl5pPr>
    <a:lvl6pPr indent="1143000" latinLnBrk="0">
      <a:spcBef>
        <a:spcPts val="400"/>
      </a:spcBef>
      <a:defRPr sz="1200">
        <a:latin typeface="+mj-lt"/>
        <a:ea typeface="+mj-ea"/>
        <a:cs typeface="+mj-cs"/>
        <a:sym typeface="Calibri"/>
      </a:defRPr>
    </a:lvl6pPr>
    <a:lvl7pPr indent="1371600" latinLnBrk="0">
      <a:spcBef>
        <a:spcPts val="400"/>
      </a:spcBef>
      <a:defRPr sz="1200">
        <a:latin typeface="+mj-lt"/>
        <a:ea typeface="+mj-ea"/>
        <a:cs typeface="+mj-cs"/>
        <a:sym typeface="Calibri"/>
      </a:defRPr>
    </a:lvl7pPr>
    <a:lvl8pPr indent="1600200" latinLnBrk="0">
      <a:spcBef>
        <a:spcPts val="400"/>
      </a:spcBef>
      <a:defRPr sz="1200">
        <a:latin typeface="+mj-lt"/>
        <a:ea typeface="+mj-ea"/>
        <a:cs typeface="+mj-cs"/>
        <a:sym typeface="Calibri"/>
      </a:defRPr>
    </a:lvl8pPr>
    <a:lvl9pPr indent="1828800" latinLnBrk="0">
      <a:spcBef>
        <a:spcPts val="400"/>
      </a:spcBef>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8" name="Shape 18"/>
          <p:cNvSpPr/>
          <p:nvPr/>
        </p:nvSpPr>
        <p:spPr>
          <a:xfrm>
            <a:off x="-1" y="692149"/>
            <a:ext cx="9144002" cy="46039"/>
          </a:xfrm>
          <a:prstGeom prst="rect">
            <a:avLst/>
          </a:prstGeom>
          <a:gradFill>
            <a:gsLst>
              <a:gs pos="0">
                <a:srgbClr val="CCCCFF"/>
              </a:gs>
              <a:gs pos="17999">
                <a:srgbClr val="BFBFBF"/>
              </a:gs>
              <a:gs pos="48001">
                <a:srgbClr val="595959"/>
              </a:gs>
              <a:gs pos="82002">
                <a:srgbClr val="A5A5A5"/>
              </a:gs>
              <a:gs pos="100000">
                <a:srgbClr val="D8D8D8"/>
              </a:gs>
            </a:gsLst>
            <a:lin ang="10800000"/>
          </a:gradFill>
          <a:ln w="12700">
            <a:miter lim="400000"/>
          </a:ln>
        </p:spPr>
        <p:txBody>
          <a:bodyPr lIns="45719" rIns="45719" anchor="ctr"/>
          <a:lstStyle/>
          <a:p>
            <a:pPr>
              <a:defRPr>
                <a:solidFill>
                  <a:srgbClr val="FFFFFF"/>
                </a:solidFill>
                <a:latin typeface="宋体"/>
                <a:ea typeface="宋体"/>
                <a:cs typeface="宋体"/>
                <a:sym typeface="宋体"/>
              </a:defRPr>
            </a:pPr>
            <a:endParaRPr/>
          </a:p>
        </p:txBody>
      </p:sp>
      <p:sp>
        <p:nvSpPr>
          <p:cNvPr id="19" name="Shape 19"/>
          <p:cNvSpPr>
            <a:spLocks noGrp="1"/>
          </p:cNvSpPr>
          <p:nvPr>
            <p:ph type="title"/>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p>
            <a:r>
              <a:t>Haga clic para modificar el estilo de título del patrón</a:t>
            </a:r>
          </a:p>
        </p:txBody>
      </p:sp>
      <p:sp>
        <p:nvSpPr>
          <p:cNvPr id="20" name="Shape 20"/>
          <p:cNvSpPr>
            <a:spLocks noGrp="1"/>
          </p:cNvSpPr>
          <p:nvPr>
            <p:ph type="body" idx="1"/>
          </p:nvPr>
        </p:nvSpPr>
        <p:spPr>
          <a:xfrm>
            <a:off x="457200" y="1600200"/>
            <a:ext cx="8229600" cy="4525963"/>
          </a:xfrm>
          <a:prstGeom prst="rect">
            <a:avLst/>
          </a:prstGeom>
          <a:extLst>
            <a:ext uri="{C572A759-6A51-4108-AA02-DFA0A04FC94B}">
              <ma14:wrappingTextBoxFlag xmlns:ma14="http://schemas.microsoft.com/office/mac/drawingml/2011/main" xmlns="" val="1"/>
            </a:ext>
          </a:extLst>
        </p:spPr>
        <p:txBody>
          <a:bodyPr>
            <a:normAutofit/>
          </a:bodyPr>
          <a:lstStyle/>
          <a:p>
            <a:r>
              <a:t>Haga clic para modificar el estilo de texto del patrón</a:t>
            </a:r>
          </a:p>
          <a:p>
            <a:pPr lvl="1"/>
            <a:r>
              <a:t>Segundo nivel</a:t>
            </a:r>
          </a:p>
          <a:p>
            <a:pPr lvl="2"/>
            <a:r>
              <a:t>Tercer nivel</a:t>
            </a:r>
          </a:p>
          <a:p>
            <a:pPr lvl="3"/>
            <a:r>
              <a:t>Cuarto nivel</a:t>
            </a:r>
          </a:p>
          <a:p>
            <a:pPr lvl="4"/>
            <a:r>
              <a:t>Quinto nivel</a:t>
            </a:r>
          </a:p>
        </p:txBody>
      </p:sp>
      <p:sp>
        <p:nvSpPr>
          <p:cNvPr id="21" name="Shape 2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0" y="92074"/>
            <a:ext cx="8229600" cy="1508127"/>
          </a:xfrm>
          <a:prstGeom prst="rect">
            <a:avLst/>
          </a:prstGeom>
          <a:ln w="12700">
            <a:miter lim="400000"/>
          </a:ln>
        </p:spPr>
        <p:txBody>
          <a:bodyPr lIns="45719" rIns="45719" anchor="ctr"/>
          <a:lstStyle/>
          <a:p>
            <a:endParaRPr/>
          </a:p>
        </p:txBody>
      </p:sp>
      <p:sp>
        <p:nvSpPr>
          <p:cNvPr id="3" name="Shape 3"/>
          <p:cNvSpPr>
            <a:spLocks noGrp="1"/>
          </p:cNvSpPr>
          <p:nvPr>
            <p:ph type="body" idx="1"/>
          </p:nvPr>
        </p:nvSpPr>
        <p:spPr>
          <a:xfrm>
            <a:off x="457200" y="1600200"/>
            <a:ext cx="8229600" cy="5257800"/>
          </a:xfrm>
          <a:prstGeom prst="rect">
            <a:avLst/>
          </a:prstGeom>
          <a:ln w="12700">
            <a:miter lim="400000"/>
          </a:ln>
        </p:spPr>
        <p:txBody>
          <a:bodyPr lIns="45719" rIns="45719"/>
          <a:lstStyle/>
          <a:p>
            <a:endParaRPr/>
          </a:p>
        </p:txBody>
      </p:sp>
      <p:sp>
        <p:nvSpPr>
          <p:cNvPr id="4" name="Shape 4"/>
          <p:cNvSpPr>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98989"/>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4pPr>
      <a:lvl5pPr marL="22352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5pPr>
      <a:lvl6pPr marL="26924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6pPr>
      <a:lvl7pPr marL="31496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7pPr>
      <a:lvl8pPr marL="36068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8pPr>
      <a:lvl9pPr marL="40640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zh-CN" altLang="en-US" sz="2800" b="1" dirty="0">
                <a:latin typeface="宋体"/>
                <a:ea typeface="宋体"/>
                <a:cs typeface="宋体"/>
                <a:sym typeface="宋体"/>
              </a:rPr>
              <a:t>第</a:t>
            </a:r>
            <a:r>
              <a:rPr lang="en-US" altLang="zh-CN" sz="2800" b="1" dirty="0">
                <a:latin typeface="宋体"/>
                <a:ea typeface="宋体"/>
                <a:cs typeface="宋体"/>
                <a:sym typeface="宋体"/>
              </a:rPr>
              <a:t>7</a:t>
            </a:r>
            <a:r>
              <a:rPr lang="zh-CN" altLang="en-US" sz="2800" b="1" dirty="0">
                <a:latin typeface="宋体"/>
                <a:ea typeface="宋体"/>
                <a:cs typeface="宋体"/>
                <a:sym typeface="宋体"/>
              </a:rPr>
              <a:t>章 从冠军开始：</a:t>
            </a:r>
            <a:r>
              <a:rPr lang="en-US" altLang="zh-CN" sz="2800" b="1" dirty="0" err="1">
                <a:latin typeface="宋体"/>
                <a:ea typeface="宋体"/>
                <a:cs typeface="宋体"/>
                <a:sym typeface="宋体"/>
              </a:rPr>
              <a:t>ResNet</a:t>
            </a:r>
            <a:endParaRPr lang="zh-CN" altLang="en-US" sz="2800" b="1" dirty="0">
              <a:latin typeface="宋体"/>
              <a:ea typeface="宋体"/>
              <a:cs typeface="宋体"/>
              <a:sym typeface="宋体"/>
            </a:endParaRPr>
          </a:p>
        </p:txBody>
      </p:sp>
      <p:sp>
        <p:nvSpPr>
          <p:cNvPr id="31" name="Shape 31"/>
          <p:cNvSpPr>
            <a:spLocks noGrp="1"/>
          </p:cNvSpPr>
          <p:nvPr>
            <p:ph type="body" idx="4294967295"/>
          </p:nvPr>
        </p:nvSpPr>
        <p:spPr>
          <a:xfrm>
            <a:off x="457200" y="1600200"/>
            <a:ext cx="8229600" cy="4525963"/>
          </a:xfrm>
          <a:prstGeom prst="rect">
            <a:avLst/>
          </a:prstGeom>
          <a:extLst>
            <a:ext uri="{C572A759-6A51-4108-AA02-DFA0A04FC94B}">
              <ma14:wrappingTextBoxFlag xmlns:ma14="http://schemas.microsoft.com/office/mac/drawingml/2011/main" xmlns="" val="1"/>
            </a:ext>
          </a:extLst>
        </p:spPr>
        <p:txBody>
          <a:bodyPr>
            <a:normAutofit/>
          </a:bodyPr>
          <a:lstStyle/>
          <a:p>
            <a:pPr marL="0" indent="0" defTabSz="740663">
              <a:spcBef>
                <a:spcPts val="600"/>
              </a:spcBef>
              <a:buNone/>
              <a:defRPr sz="2106"/>
            </a:pPr>
            <a:r>
              <a:rPr lang="en-US" altLang="zh-CN" dirty="0">
                <a:latin typeface="宋体"/>
                <a:ea typeface="宋体"/>
                <a:cs typeface="宋体"/>
                <a:sym typeface="宋体"/>
              </a:rPr>
              <a:t>7.1  </a:t>
            </a:r>
            <a:r>
              <a:rPr lang="en-US" altLang="zh-CN" dirty="0" err="1">
                <a:latin typeface="宋体"/>
                <a:ea typeface="宋体"/>
                <a:cs typeface="宋体"/>
                <a:sym typeface="宋体"/>
              </a:rPr>
              <a:t>ResNet</a:t>
            </a:r>
            <a:r>
              <a:rPr lang="zh-CN" altLang="en-US" dirty="0">
                <a:latin typeface="宋体"/>
                <a:ea typeface="宋体"/>
                <a:cs typeface="宋体"/>
                <a:sym typeface="宋体"/>
              </a:rPr>
              <a:t>基础原理与程序设计基础</a:t>
            </a:r>
          </a:p>
          <a:p>
            <a:pPr marL="0" indent="0" defTabSz="740663">
              <a:spcBef>
                <a:spcPts val="600"/>
              </a:spcBef>
              <a:buNone/>
              <a:defRPr sz="2106"/>
            </a:pPr>
            <a:r>
              <a:rPr lang="en-US" altLang="zh-CN" dirty="0">
                <a:latin typeface="宋体"/>
                <a:ea typeface="宋体"/>
                <a:cs typeface="宋体"/>
                <a:sym typeface="宋体"/>
              </a:rPr>
              <a:t>7.2  </a:t>
            </a:r>
            <a:r>
              <a:rPr lang="en-US" altLang="zh-CN" dirty="0" err="1">
                <a:latin typeface="宋体"/>
                <a:ea typeface="宋体"/>
                <a:cs typeface="宋体"/>
                <a:sym typeface="宋体"/>
              </a:rPr>
              <a:t>ResNet</a:t>
            </a:r>
            <a:r>
              <a:rPr lang="zh-CN" altLang="en-US" dirty="0">
                <a:latin typeface="宋体"/>
                <a:ea typeface="宋体"/>
                <a:cs typeface="宋体"/>
                <a:sym typeface="宋体"/>
              </a:rPr>
              <a:t>实战：</a:t>
            </a:r>
            <a:r>
              <a:rPr lang="en-US" altLang="zh-CN" dirty="0">
                <a:latin typeface="宋体"/>
                <a:ea typeface="宋体"/>
                <a:cs typeface="宋体"/>
                <a:sym typeface="宋体"/>
              </a:rPr>
              <a:t>CIFAR10</a:t>
            </a:r>
            <a:r>
              <a:rPr lang="zh-CN" altLang="en-US" dirty="0">
                <a:latin typeface="宋体"/>
                <a:ea typeface="宋体"/>
                <a:cs typeface="宋体"/>
                <a:sym typeface="宋体"/>
              </a:rPr>
              <a:t>数据集分类</a:t>
            </a:r>
          </a:p>
          <a:p>
            <a:pPr marL="0" indent="0" defTabSz="740663">
              <a:spcBef>
                <a:spcPts val="600"/>
              </a:spcBef>
              <a:buNone/>
              <a:defRPr sz="2106"/>
            </a:pPr>
            <a:r>
              <a:rPr lang="en-US" altLang="zh-CN" dirty="0">
                <a:latin typeface="宋体"/>
                <a:ea typeface="宋体"/>
                <a:cs typeface="宋体"/>
                <a:sym typeface="宋体"/>
              </a:rPr>
              <a:t>7.3  </a:t>
            </a:r>
            <a:r>
              <a:rPr lang="zh-CN" altLang="en-US" dirty="0">
                <a:latin typeface="宋体"/>
                <a:ea typeface="宋体"/>
                <a:cs typeface="宋体"/>
                <a:sym typeface="宋体"/>
              </a:rPr>
              <a:t>本章小结</a:t>
            </a:r>
          </a:p>
          <a:p>
            <a:pPr marL="0" indent="0" defTabSz="740663">
              <a:spcBef>
                <a:spcPts val="600"/>
              </a:spcBef>
              <a:buNone/>
              <a:defRPr sz="2106"/>
            </a:pPr>
            <a:endParaRPr lang="zh-CN" altLang="en-US" dirty="0">
              <a:latin typeface="宋体"/>
              <a:ea typeface="宋体"/>
              <a:cs typeface="宋体"/>
              <a:sym typeface="宋体"/>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200" b="1" dirty="0">
                <a:latin typeface="宋体"/>
                <a:ea typeface="宋体"/>
                <a:cs typeface="宋体"/>
                <a:sym typeface="宋体"/>
              </a:rPr>
              <a:t>7.1  </a:t>
            </a:r>
            <a:r>
              <a:rPr lang="en-US" altLang="zh-CN" sz="3200" b="1" dirty="0" err="1">
                <a:latin typeface="宋体"/>
                <a:ea typeface="宋体"/>
                <a:cs typeface="宋体"/>
                <a:sym typeface="宋体"/>
              </a:rPr>
              <a:t>ResNet</a:t>
            </a:r>
            <a:r>
              <a:rPr lang="zh-CN" altLang="en-US" sz="3200" b="1" dirty="0">
                <a:latin typeface="宋体"/>
                <a:ea typeface="宋体"/>
                <a:cs typeface="宋体"/>
                <a:sym typeface="宋体"/>
              </a:rPr>
              <a:t>基础原理与程序设计基础</a:t>
            </a:r>
          </a:p>
        </p:txBody>
      </p:sp>
      <p:sp>
        <p:nvSpPr>
          <p:cNvPr id="9" name="文本框 8">
            <a:extLst>
              <a:ext uri="{FF2B5EF4-FFF2-40B4-BE49-F238E27FC236}">
                <a16:creationId xmlns:a16="http://schemas.microsoft.com/office/drawing/2014/main" id="{A30F48A6-64E0-4AF9-9EA4-F03B1C10EAA8}"/>
              </a:ext>
            </a:extLst>
          </p:cNvPr>
          <p:cNvSpPr txBox="1"/>
          <p:nvPr/>
        </p:nvSpPr>
        <p:spPr>
          <a:xfrm>
            <a:off x="390524" y="1790700"/>
            <a:ext cx="8229599"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卷积神经网络的实质就是无限拟合一个符合对应目标的函数。而根据泛逼近定理（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universal approximation theorem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），如果给定足够的容量，一个单层的前馈网络就足以表示任何函数。但是，这个层可能是非常大的，而且网络容易过拟合数据。因此，学术界有一个共同的认识，就是网络架构需要更深。</a:t>
            </a:r>
          </a:p>
          <a:p>
            <a:pPr indent="266700" algn="just"/>
            <a:r>
              <a:rPr lang="zh-CN"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但是，研究发现只是简单地将层堆叠在一起，增加网络的深度并不会起太大的作用。这是由于难搞的梯度消失（</a:t>
            </a:r>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vanishing gradient</a:t>
            </a:r>
            <a:r>
              <a:rPr lang="zh-CN"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）问题，深层的网络很难训练。因为梯度反向传播到前一层，重复相乘可能使梯度无穷小。结果就是，随着网络的层数更深，其性能趋于饱和，甚至开始迅速下降，如图所示。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61054D04-5262-4B63-9817-E5635F05D321}"/>
              </a:ext>
            </a:extLst>
          </p:cNvPr>
          <p:cNvSpPr txBox="1"/>
          <p:nvPr/>
        </p:nvSpPr>
        <p:spPr>
          <a:xfrm>
            <a:off x="180975" y="1192768"/>
            <a:ext cx="4572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Bef>
                <a:spcPts val="1200"/>
              </a:spcBef>
              <a:spcAft>
                <a:spcPts val="1200"/>
              </a:spcAft>
            </a:pPr>
            <a:r>
              <a:rPr lang="en-US"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7.1.1  </a:t>
            </a:r>
            <a:r>
              <a:rPr lang="en-US" altLang="zh-CN" sz="1800" kern="100" dirty="0" err="1">
                <a:effectLst/>
                <a:latin typeface="方正姚体" panose="02010601030101010101" pitchFamily="2" charset="-122"/>
                <a:ea typeface="方正姚体" panose="02010601030101010101" pitchFamily="2" charset="-122"/>
                <a:cs typeface="Times New Roman" panose="02020603050405020304" pitchFamily="18" charset="0"/>
              </a:rPr>
              <a:t>ResNet</a:t>
            </a:r>
            <a:r>
              <a:rPr lang="zh-CN"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诞生的背景</a:t>
            </a:r>
          </a:p>
        </p:txBody>
      </p:sp>
      <p:pic>
        <p:nvPicPr>
          <p:cNvPr id="15" name="图片 14">
            <a:extLst>
              <a:ext uri="{FF2B5EF4-FFF2-40B4-BE49-F238E27FC236}">
                <a16:creationId xmlns:a16="http://schemas.microsoft.com/office/drawing/2014/main" id="{D134FB25-A123-4A00-97EF-627745E5D68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173095" y="4099024"/>
            <a:ext cx="5274310" cy="1830070"/>
          </a:xfrm>
          <a:prstGeom prst="rect">
            <a:avLst/>
          </a:prstGeom>
          <a:noFill/>
          <a:ln>
            <a:noFill/>
          </a:ln>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7.1  </a:t>
            </a:r>
            <a:r>
              <a:rPr lang="en-US" altLang="zh-CN" sz="2800" b="1" dirty="0" err="1">
                <a:latin typeface="宋体"/>
                <a:ea typeface="宋体"/>
                <a:cs typeface="宋体"/>
                <a:sym typeface="宋体"/>
              </a:rPr>
              <a:t>ResNet</a:t>
            </a:r>
            <a:r>
              <a:rPr lang="zh-CN" altLang="en-US" sz="2800" b="1" dirty="0">
                <a:latin typeface="宋体"/>
                <a:ea typeface="宋体"/>
                <a:cs typeface="宋体"/>
                <a:sym typeface="宋体"/>
              </a:rPr>
              <a:t>基础原理与程序设计基础</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11187"/>
          </a:xfrm>
          <a:prstGeom prst="rect">
            <a:avLst/>
          </a:prstGeom>
          <a:extLst>
            <a:ext uri="{C572A759-6A51-4108-AA02-DFA0A04FC94B}">
              <ma14:wrappingTextBoxFlag xmlns="" xmlns:ma14="http://schemas.microsoft.com/office/mac/drawingml/2011/main"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7.1.2  </a:t>
            </a:r>
            <a:r>
              <a:rPr lang="zh-CN" altLang="en-US" sz="1800" b="1" kern="100" dirty="0">
                <a:effectLst/>
                <a:latin typeface="等线" panose="02010600030101010101" pitchFamily="2" charset="-122"/>
                <a:ea typeface="等线" panose="02010600030101010101" pitchFamily="2" charset="-122"/>
              </a:rPr>
              <a:t>不要重复造轮子</a:t>
            </a:r>
            <a:r>
              <a:rPr lang="en-US" altLang="zh-CN" sz="1800" b="1" kern="100" dirty="0">
                <a:effectLst/>
                <a:latin typeface="等线" panose="02010600030101010101" pitchFamily="2" charset="-122"/>
                <a:ea typeface="等线" panose="02010600030101010101" pitchFamily="2" charset="-122"/>
              </a:rPr>
              <a:t>-Pytorch2.0</a:t>
            </a:r>
            <a:r>
              <a:rPr lang="zh-CN" altLang="en-US" sz="1800" b="1" kern="100" dirty="0">
                <a:effectLst/>
                <a:latin typeface="等线" panose="02010600030101010101" pitchFamily="2" charset="-122"/>
                <a:ea typeface="等线" panose="02010600030101010101" pitchFamily="2" charset="-122"/>
              </a:rPr>
              <a:t>中模块工具</a:t>
            </a:r>
            <a:endParaRPr lang="zh-CN" altLang="en-US" dirty="0"/>
          </a:p>
        </p:txBody>
      </p:sp>
      <p:sp>
        <p:nvSpPr>
          <p:cNvPr id="13" name="文本框 12">
            <a:extLst>
              <a:ext uri="{FF2B5EF4-FFF2-40B4-BE49-F238E27FC236}">
                <a16:creationId xmlns:a16="http://schemas.microsoft.com/office/drawing/2014/main" id="{162616D3-B387-4594-9A1B-3E0F5AD99B6C}"/>
              </a:ext>
            </a:extLst>
          </p:cNvPr>
          <p:cNvSpPr txBox="1"/>
          <p:nvPr/>
        </p:nvSpPr>
        <p:spPr>
          <a:xfrm>
            <a:off x="457200" y="2133601"/>
            <a:ext cx="8089900" cy="2585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作者知道读者可能会，在正式讲解</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Resnet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之前，我们先学习和熟悉一下</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Resnet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构建过程中所使用的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模块。</a:t>
            </a:r>
          </a:p>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工欲善其事，必先利其器。在构建自己的残差网络之前，需要准备好相关的程序设计工具。这里的工具是指那些已经设计好结构、直接可以使用的代码。首先最重要的卷积核的创建方法。从模型上看，需要更改的内容很少，即卷积核的大小、输出通道数以及所定义的卷积层的名称，代码如下：</a:t>
            </a:r>
          </a:p>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torch.nn.Conv2d</a:t>
            </a:r>
          </a:p>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首先是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conv2d</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这个卷积模型的</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Pytorch</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，这在我们前面的学习中已经有较为常见的出现，后期我们还会学习到其</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1D</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模式。</a:t>
            </a:r>
          </a:p>
        </p:txBody>
      </p:sp>
    </p:spTree>
    <p:extLst>
      <p:ext uri="{BB962C8B-B14F-4D97-AF65-F5344CB8AC3E}">
        <p14:creationId xmlns:p14="http://schemas.microsoft.com/office/powerpoint/2010/main" val="251875959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7.1  </a:t>
            </a:r>
            <a:r>
              <a:rPr lang="en-US" altLang="zh-CN" sz="2800" b="1" dirty="0" err="1">
                <a:latin typeface="宋体"/>
                <a:ea typeface="宋体"/>
                <a:cs typeface="宋体"/>
                <a:sym typeface="宋体"/>
              </a:rPr>
              <a:t>ResNet</a:t>
            </a:r>
            <a:r>
              <a:rPr lang="zh-CN" altLang="en-US" sz="2800" b="1" dirty="0">
                <a:latin typeface="宋体"/>
                <a:ea typeface="宋体"/>
                <a:cs typeface="宋体"/>
                <a:sym typeface="宋体"/>
              </a:rPr>
              <a:t>基础原理与程序设计基础</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30237"/>
          </a:xfrm>
          <a:prstGeom prst="rect">
            <a:avLst/>
          </a:prstGeom>
          <a:extLst>
            <a:ext uri="{C572A759-6A51-4108-AA02-DFA0A04FC94B}">
              <ma14:wrappingTextBoxFlag xmlns="" xmlns:ma14="http://schemas.microsoft.com/office/mac/drawingml/2011/main"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7.1.3  </a:t>
            </a:r>
            <a:r>
              <a:rPr lang="en-US" altLang="zh-CN" sz="1800" b="1" kern="100" dirty="0" err="1">
                <a:effectLst/>
                <a:latin typeface="等线" panose="02010600030101010101" pitchFamily="2" charset="-122"/>
                <a:ea typeface="等线" panose="02010600030101010101" pitchFamily="2" charset="-122"/>
              </a:rPr>
              <a:t>ResNet</a:t>
            </a:r>
            <a:r>
              <a:rPr lang="zh-CN" altLang="en-US" sz="1800" b="1" kern="100" dirty="0">
                <a:effectLst/>
                <a:latin typeface="等线" panose="02010600030101010101" pitchFamily="2" charset="-122"/>
                <a:ea typeface="等线" panose="02010600030101010101" pitchFamily="2" charset="-122"/>
              </a:rPr>
              <a:t>残差模块的实现</a:t>
            </a:r>
            <a:endParaRPr lang="zh-CN" altLang="en-US" dirty="0"/>
          </a:p>
        </p:txBody>
      </p:sp>
      <p:sp>
        <p:nvSpPr>
          <p:cNvPr id="13" name="文本框 12">
            <a:extLst>
              <a:ext uri="{FF2B5EF4-FFF2-40B4-BE49-F238E27FC236}">
                <a16:creationId xmlns:a16="http://schemas.microsoft.com/office/drawing/2014/main" id="{3D14EFC6-4C68-4087-9269-4A2026F9AB64}"/>
              </a:ext>
            </a:extLst>
          </p:cNvPr>
          <p:cNvSpPr txBox="1"/>
          <p:nvPr/>
        </p:nvSpPr>
        <p:spPr>
          <a:xfrm>
            <a:off x="457200" y="2047875"/>
            <a:ext cx="8515351"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ResNet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网络结构已经在上文做了介绍，它突破性地使用“模块化”思维去对网络进行叠加，从而实现了数据在模块内部特征的传递不会产生丢失。</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从图可以看到，模块的内部实际上是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个卷积通道相互叠加，形成了一种瓶颈设计。对于每个残差模块，使用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层卷积。这三层分别是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的卷积层，其中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层卷积的作用是对输入数据进行一个“整形”的作用，通过修改通道数使得</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卷积层具有较小的输入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输出数据结构。</a:t>
            </a:r>
          </a:p>
        </p:txBody>
      </p:sp>
      <p:pic>
        <p:nvPicPr>
          <p:cNvPr id="14" name="图片 13">
            <a:extLst>
              <a:ext uri="{FF2B5EF4-FFF2-40B4-BE49-F238E27FC236}">
                <a16:creationId xmlns:a16="http://schemas.microsoft.com/office/drawing/2014/main" id="{B35E3945-D20E-4008-8612-095754CAF60F}"/>
              </a:ext>
            </a:extLst>
          </p:cNvPr>
          <p:cNvPicPr/>
          <p:nvPr/>
        </p:nvPicPr>
        <p:blipFill>
          <a:blip r:embed="rId2"/>
          <a:stretch>
            <a:fillRect/>
          </a:stretch>
        </p:blipFill>
        <p:spPr>
          <a:xfrm>
            <a:off x="5922010" y="3429000"/>
            <a:ext cx="2764790" cy="2441575"/>
          </a:xfrm>
          <a:prstGeom prst="rect">
            <a:avLst/>
          </a:prstGeom>
        </p:spPr>
      </p:pic>
    </p:spTree>
    <p:extLst>
      <p:ext uri="{BB962C8B-B14F-4D97-AF65-F5344CB8AC3E}">
        <p14:creationId xmlns:p14="http://schemas.microsoft.com/office/powerpoint/2010/main" val="44406799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600" b="1" dirty="0">
                <a:latin typeface="宋体"/>
                <a:ea typeface="宋体"/>
                <a:cs typeface="宋体"/>
                <a:sym typeface="宋体"/>
              </a:rPr>
              <a:t>7.1  </a:t>
            </a:r>
            <a:r>
              <a:rPr lang="en-US" altLang="zh-CN" sz="3600" b="1" dirty="0" err="1">
                <a:latin typeface="宋体"/>
                <a:ea typeface="宋体"/>
                <a:cs typeface="宋体"/>
                <a:sym typeface="宋体"/>
              </a:rPr>
              <a:t>ResNet</a:t>
            </a:r>
            <a:r>
              <a:rPr lang="zh-CN" altLang="en-US" sz="3600" b="1" dirty="0">
                <a:latin typeface="宋体"/>
                <a:ea typeface="宋体"/>
                <a:cs typeface="宋体"/>
                <a:sym typeface="宋体"/>
              </a:rPr>
              <a:t>基础原理与程序设计基础</a:t>
            </a:r>
          </a:p>
        </p:txBody>
      </p:sp>
      <p:sp>
        <p:nvSpPr>
          <p:cNvPr id="6" name="文本框 5">
            <a:extLst>
              <a:ext uri="{FF2B5EF4-FFF2-40B4-BE49-F238E27FC236}">
                <a16:creationId xmlns:a16="http://schemas.microsoft.com/office/drawing/2014/main" id="{77E74240-1CEE-4E1E-B360-53A2BD352F78}"/>
              </a:ext>
            </a:extLst>
          </p:cNvPr>
          <p:cNvSpPr txBox="1"/>
          <p:nvPr/>
        </p:nvSpPr>
        <p:spPr>
          <a:xfrm>
            <a:off x="209550" y="1417638"/>
            <a:ext cx="6657975"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7.1.4  Resnet</a:t>
            </a:r>
            <a:r>
              <a:rPr lang="zh-CN" altLang="en-US" sz="1800" b="1" kern="100" dirty="0">
                <a:effectLst/>
                <a:latin typeface="等线" panose="02010600030101010101" pitchFamily="2" charset="-122"/>
                <a:ea typeface="等线" panose="02010600030101010101" pitchFamily="2" charset="-122"/>
              </a:rPr>
              <a:t>网络的实现</a:t>
            </a:r>
            <a:endParaRPr lang="zh-CN" altLang="zh-CN" sz="1800" b="1" kern="100" dirty="0">
              <a:effectLst/>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933FD8AC-9C44-488E-A07A-0C888EFAD5C6}"/>
              </a:ext>
            </a:extLst>
          </p:cNvPr>
          <p:cNvSpPr txBox="1"/>
          <p:nvPr/>
        </p:nvSpPr>
        <p:spPr>
          <a:xfrm>
            <a:off x="457201" y="2047875"/>
            <a:ext cx="8229599"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dirty="0">
                <a:effectLst/>
                <a:ea typeface="等线" panose="02010600030101010101" pitchFamily="2" charset="-122"/>
                <a:cs typeface="Times New Roman" panose="02020603050405020304" pitchFamily="18" charset="0"/>
              </a:rPr>
              <a:t>在介绍完</a:t>
            </a:r>
            <a:r>
              <a:rPr lang="en-US" altLang="zh-CN" sz="1800" dirty="0">
                <a:effectLst/>
                <a:ea typeface="等线" panose="02010600030101010101" pitchFamily="2" charset="-122"/>
                <a:cs typeface="Times New Roman" panose="02020603050405020304" pitchFamily="18" charset="0"/>
              </a:rPr>
              <a:t>Resnet</a:t>
            </a:r>
            <a:r>
              <a:rPr lang="zh-CN" altLang="zh-CN" sz="1800" dirty="0">
                <a:effectLst/>
                <a:ea typeface="等线" panose="02010600030101010101" pitchFamily="2" charset="-122"/>
                <a:cs typeface="Times New Roman" panose="02020603050405020304" pitchFamily="18" charset="0"/>
              </a:rPr>
              <a:t>模块的实现后，下面进入到我们使用完成的</a:t>
            </a:r>
            <a:r>
              <a:rPr lang="en-US" altLang="zh-CN" sz="1800" dirty="0">
                <a:effectLst/>
                <a:ea typeface="等线" panose="02010600030101010101" pitchFamily="2" charset="-122"/>
                <a:cs typeface="Times New Roman" panose="02020603050405020304" pitchFamily="18" charset="0"/>
              </a:rPr>
              <a:t>Resnet Block</a:t>
            </a:r>
            <a:r>
              <a:rPr lang="zh-CN" altLang="zh-CN" sz="1800" dirty="0">
                <a:effectLst/>
                <a:ea typeface="等线" panose="02010600030101010101" pitchFamily="2" charset="-122"/>
                <a:cs typeface="Times New Roman" panose="02020603050405020304" pitchFamily="18" charset="0"/>
              </a:rPr>
              <a:t>实现完整的</a:t>
            </a:r>
            <a:r>
              <a:rPr lang="en-US" altLang="zh-CN" sz="1800" dirty="0">
                <a:effectLst/>
                <a:ea typeface="等线" panose="02010600030101010101" pitchFamily="2" charset="-122"/>
                <a:cs typeface="Times New Roman" panose="02020603050405020304" pitchFamily="18" charset="0"/>
              </a:rPr>
              <a:t>Resnet</a:t>
            </a:r>
            <a:r>
              <a:rPr lang="zh-CN" altLang="zh-CN" sz="1800" dirty="0">
                <a:effectLst/>
                <a:ea typeface="等线" panose="02010600030101010101" pitchFamily="2" charset="-122"/>
                <a:cs typeface="Times New Roman" panose="02020603050405020304" pitchFamily="18" charset="0"/>
              </a:rPr>
              <a:t>。</a:t>
            </a:r>
            <a:r>
              <a:rPr lang="en-US" altLang="zh-CN" sz="1800" dirty="0" err="1">
                <a:effectLst/>
                <a:ea typeface="等线" panose="02010600030101010101" pitchFamily="2" charset="-122"/>
                <a:cs typeface="Times New Roman" panose="02020603050405020304" pitchFamily="18" charset="0"/>
              </a:rPr>
              <a:t>ResNet</a:t>
            </a:r>
            <a:r>
              <a:rPr lang="zh-CN" altLang="zh-CN" sz="1800" dirty="0">
                <a:effectLst/>
                <a:ea typeface="等线" panose="02010600030101010101" pitchFamily="2" charset="-122"/>
                <a:cs typeface="Times New Roman" panose="02020603050405020304" pitchFamily="18" charset="0"/>
              </a:rPr>
              <a:t>的结构如下图所示。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9" name="图片 8" descr="这里写图片描述">
            <a:extLst>
              <a:ext uri="{FF2B5EF4-FFF2-40B4-BE49-F238E27FC236}">
                <a16:creationId xmlns:a16="http://schemas.microsoft.com/office/drawing/2014/main" id="{EE52FD94-EFB2-446F-B85A-73F358C632E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20" y="3324443"/>
            <a:ext cx="4251960" cy="1835785"/>
          </a:xfrm>
          <a:prstGeom prst="rect">
            <a:avLst/>
          </a:prstGeom>
          <a:noFill/>
          <a:ln>
            <a:noFill/>
          </a:ln>
        </p:spPr>
      </p:pic>
    </p:spTree>
    <p:extLst>
      <p:ext uri="{BB962C8B-B14F-4D97-AF65-F5344CB8AC3E}">
        <p14:creationId xmlns:p14="http://schemas.microsoft.com/office/powerpoint/2010/main" val="180939025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7.2  </a:t>
            </a:r>
            <a:r>
              <a:rPr lang="en-US" altLang="zh-CN" sz="2800" b="1" dirty="0" err="1">
                <a:latin typeface="宋体"/>
                <a:ea typeface="宋体"/>
                <a:cs typeface="宋体"/>
                <a:sym typeface="宋体"/>
              </a:rPr>
              <a:t>ResNet</a:t>
            </a:r>
            <a:r>
              <a:rPr lang="zh-CN" altLang="en-US" sz="2800" b="1" dirty="0">
                <a:latin typeface="宋体"/>
                <a:ea typeface="宋体"/>
                <a:cs typeface="宋体"/>
                <a:sym typeface="宋体"/>
              </a:rPr>
              <a:t>实战：</a:t>
            </a:r>
            <a:r>
              <a:rPr lang="en-US" altLang="zh-CN" sz="2800" b="1" dirty="0">
                <a:latin typeface="宋体"/>
                <a:ea typeface="宋体"/>
                <a:cs typeface="宋体"/>
                <a:sym typeface="宋体"/>
              </a:rPr>
              <a:t>CIFAR10</a:t>
            </a:r>
            <a:r>
              <a:rPr lang="zh-CN" altLang="en-US" sz="2800" b="1" dirty="0">
                <a:latin typeface="宋体"/>
                <a:ea typeface="宋体"/>
                <a:cs typeface="宋体"/>
                <a:sym typeface="宋体"/>
              </a:rPr>
              <a:t>数据集分类</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7.2.1  CIFAR-10</a:t>
            </a:r>
            <a:r>
              <a:rPr lang="zh-CN" altLang="en-US" sz="1800" b="1" kern="100" dirty="0">
                <a:effectLst/>
                <a:latin typeface="等线" panose="02010600030101010101" pitchFamily="2" charset="-122"/>
                <a:ea typeface="等线" panose="02010600030101010101" pitchFamily="2" charset="-122"/>
              </a:rPr>
              <a:t>数据集简介</a:t>
            </a:r>
            <a:endParaRPr lang="zh-CN" altLang="zh-CN" sz="1800" b="1" kern="100" dirty="0">
              <a:effectLst/>
              <a:latin typeface="等线" panose="02010600030101010101" pitchFamily="2" charset="-122"/>
              <a:ea typeface="等线" panose="02010600030101010101" pitchFamily="2" charset="-122"/>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42900" y="2028826"/>
            <a:ext cx="7686675"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CIFAR-10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数据集共有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60000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张彩色图像，这些图像是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32*32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像素，分为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个类，每类</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6000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张图。这里面有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50000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张用于训练，构成了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个训练批，每一批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10000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张图；另外</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10000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用于测试，单独构成一批。测试批的数据里，取自</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类中的每一类，每一类随机取</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张。抽剩下的就随机排列组成了训练批。注意，一个训练批中的各类图像的数量并不一定相同，总的来看训练批，每一类都有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5000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张图。</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0162EE97-7271-4960-8142-B3A3D2D7E0F1}"/>
              </a:ext>
            </a:extLst>
          </p:cNvPr>
          <p:cNvPicPr/>
          <p:nvPr/>
        </p:nvPicPr>
        <p:blipFill>
          <a:blip r:embed="rId2"/>
          <a:stretch>
            <a:fillRect/>
          </a:stretch>
        </p:blipFill>
        <p:spPr>
          <a:xfrm>
            <a:off x="3669665" y="2238692"/>
            <a:ext cx="5274310" cy="3466465"/>
          </a:xfrm>
          <a:prstGeom prst="rect">
            <a:avLst/>
          </a:prstGeom>
        </p:spPr>
      </p:pic>
    </p:spTree>
    <p:extLst>
      <p:ext uri="{BB962C8B-B14F-4D97-AF65-F5344CB8AC3E}">
        <p14:creationId xmlns:p14="http://schemas.microsoft.com/office/powerpoint/2010/main" val="3551130021"/>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7.2  </a:t>
            </a:r>
            <a:r>
              <a:rPr lang="en-US" altLang="zh-CN" sz="2800" b="1" dirty="0" err="1">
                <a:latin typeface="宋体"/>
                <a:ea typeface="宋体"/>
                <a:cs typeface="宋体"/>
                <a:sym typeface="宋体"/>
              </a:rPr>
              <a:t>ResNet</a:t>
            </a:r>
            <a:r>
              <a:rPr lang="zh-CN" altLang="en-US" sz="2800" b="1" dirty="0">
                <a:latin typeface="宋体"/>
                <a:ea typeface="宋体"/>
                <a:cs typeface="宋体"/>
                <a:sym typeface="宋体"/>
              </a:rPr>
              <a:t>实战：</a:t>
            </a:r>
            <a:r>
              <a:rPr lang="en-US" altLang="zh-CN" sz="2800" b="1" dirty="0">
                <a:latin typeface="宋体"/>
                <a:ea typeface="宋体"/>
                <a:cs typeface="宋体"/>
                <a:sym typeface="宋体"/>
              </a:rPr>
              <a:t>CIFAR10</a:t>
            </a:r>
            <a:r>
              <a:rPr lang="zh-CN" altLang="en-US" sz="2800" b="1" dirty="0">
                <a:latin typeface="宋体"/>
                <a:ea typeface="宋体"/>
                <a:cs typeface="宋体"/>
                <a:sym typeface="宋体"/>
              </a:rPr>
              <a:t>数据集分类</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90500" y="1160901"/>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7.2.2  </a:t>
            </a:r>
            <a:r>
              <a:rPr lang="zh-CN" altLang="en-US" sz="1800" b="1" kern="100" dirty="0">
                <a:effectLst/>
                <a:latin typeface="等线" panose="02010600030101010101" pitchFamily="2" charset="-122"/>
                <a:ea typeface="等线" panose="02010600030101010101" pitchFamily="2" charset="-122"/>
              </a:rPr>
              <a:t>基于</a:t>
            </a:r>
            <a:r>
              <a:rPr lang="en-US" altLang="zh-CN" sz="1800" b="1" kern="100" dirty="0">
                <a:effectLst/>
                <a:latin typeface="等线" panose="02010600030101010101" pitchFamily="2" charset="-122"/>
                <a:ea typeface="等线" panose="02010600030101010101" pitchFamily="2" charset="-122"/>
              </a:rPr>
              <a:t>Resnet</a:t>
            </a:r>
            <a:r>
              <a:rPr lang="zh-CN" altLang="en-US" sz="1800" b="1" kern="100" dirty="0">
                <a:effectLst/>
                <a:latin typeface="等线" panose="02010600030101010101" pitchFamily="2" charset="-122"/>
                <a:ea typeface="等线" panose="02010600030101010101" pitchFamily="2" charset="-122"/>
              </a:rPr>
              <a:t>的</a:t>
            </a:r>
            <a:r>
              <a:rPr lang="en-US" altLang="zh-CN" sz="1800" b="1" kern="100" dirty="0">
                <a:effectLst/>
                <a:latin typeface="等线" panose="02010600030101010101" pitchFamily="2" charset="-122"/>
                <a:ea typeface="等线" panose="02010600030101010101" pitchFamily="2" charset="-122"/>
              </a:rPr>
              <a:t>CIFAR10</a:t>
            </a:r>
            <a:r>
              <a:rPr lang="zh-CN" altLang="en-US" sz="1800" b="1" kern="100" dirty="0">
                <a:effectLst/>
                <a:latin typeface="等线" panose="02010600030101010101" pitchFamily="2" charset="-122"/>
                <a:ea typeface="等线" panose="02010600030101010101" pitchFamily="2" charset="-122"/>
              </a:rPr>
              <a:t>数据集分类</a:t>
            </a:r>
            <a:endParaRPr lang="zh-CN" altLang="zh-CN" sz="1800" b="1" kern="100" dirty="0">
              <a:effectLst/>
              <a:latin typeface="等线" panose="02010600030101010101" pitchFamily="2" charset="-122"/>
              <a:ea typeface="等线" panose="02010600030101010101" pitchFamily="2" charset="-122"/>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61950" y="1827924"/>
            <a:ext cx="8601075"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前面章节中我们对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Resnet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模型以及</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CIFAR100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数据集进行了介绍，本章开始则使用我们上面定义的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Resnet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模型进行分类任务。</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在上面一节中作者已经介绍了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CIFAR10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数据集的基本构成，并讲解了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Resnet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的基本模型结构，下面在这里我们直接导入对应的数据和模型即可。完整的模型训练如下所示：</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10" name="图片 9">
            <a:extLst>
              <a:ext uri="{FF2B5EF4-FFF2-40B4-BE49-F238E27FC236}">
                <a16:creationId xmlns:a16="http://schemas.microsoft.com/office/drawing/2014/main" id="{933BA9D9-89C6-42D6-A0C1-BFA9675A215B}"/>
              </a:ext>
            </a:extLst>
          </p:cNvPr>
          <p:cNvPicPr>
            <a:picLocks noChangeAspect="1"/>
          </p:cNvPicPr>
          <p:nvPr/>
        </p:nvPicPr>
        <p:blipFill>
          <a:blip r:embed="rId2"/>
          <a:stretch>
            <a:fillRect/>
          </a:stretch>
        </p:blipFill>
        <p:spPr>
          <a:xfrm>
            <a:off x="2852166" y="3336036"/>
            <a:ext cx="5306568" cy="2014728"/>
          </a:xfrm>
          <a:prstGeom prst="rect">
            <a:avLst/>
          </a:prstGeom>
        </p:spPr>
      </p:pic>
    </p:spTree>
    <p:extLst>
      <p:ext uri="{BB962C8B-B14F-4D97-AF65-F5344CB8AC3E}">
        <p14:creationId xmlns:p14="http://schemas.microsoft.com/office/powerpoint/2010/main" val="3170087031"/>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en-US" dirty="0">
                <a:latin typeface="宋体"/>
                <a:ea typeface="宋体"/>
                <a:cs typeface="宋体"/>
                <a:sym typeface="宋体"/>
              </a:rPr>
              <a:t>7.3 </a:t>
            </a:r>
            <a:r>
              <a:rPr dirty="0" err="1">
                <a:latin typeface="宋体"/>
                <a:ea typeface="宋体"/>
                <a:cs typeface="宋体"/>
                <a:sym typeface="宋体"/>
              </a:rPr>
              <a:t>本章小结</a:t>
            </a:r>
            <a:endParaRPr dirty="0">
              <a:latin typeface="宋体"/>
              <a:ea typeface="宋体"/>
              <a:cs typeface="宋体"/>
              <a:sym typeface="宋体"/>
            </a:endParaRPr>
          </a:p>
        </p:txBody>
      </p:sp>
      <p:sp>
        <p:nvSpPr>
          <p:cNvPr id="95" name="Shape 95"/>
          <p:cNvSpPr/>
          <p:nvPr/>
        </p:nvSpPr>
        <p:spPr>
          <a:xfrm>
            <a:off x="457200" y="1778369"/>
            <a:ext cx="7970243" cy="3139321"/>
          </a:xfrm>
          <a:prstGeom prst="rect">
            <a:avLst/>
          </a:prstGeom>
          <a:ln w="12700">
            <a:miter lim="400000"/>
          </a:ln>
          <a:extLst>
            <a:ext uri="{C572A759-6A51-4108-AA02-DFA0A04FC94B}">
              <ma14:wrappingTextBoxFlag xmlns:ma14="http://schemas.microsoft.com/office/mac/drawingml/2011/main" xmlns="" val="1"/>
            </a:ext>
          </a:extLst>
        </p:spPr>
        <p:txBody>
          <a:bodyPr wrap="square" lIns="45719" rIns="45719">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本章是一个起点，让读者站在巨人的肩膀上，从冠军开始！</a:t>
            </a:r>
          </a:p>
          <a:p>
            <a:pPr indent="266700" algn="just"/>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ResNet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通过“直连”和“模块”的方法开创了一个时代，开天辟地的改变人们仅仅依靠堆积神经网络层来获取更高性能的做法，在一定程度上解决了梯度消失和梯度爆炸的问题。这是一项跨时代的发明。</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当简单的堆积神经网络层的做法失效的时候，人们开始采用模块化的思想设计网络，同时在不断“加宽”模块的内部通道。但是当这些能够做的方法以及被挖掘穷尽后又有没有新的方法能够更进一步提升卷积神经网络的效果呢？</a:t>
            </a:r>
          </a:p>
          <a:p>
            <a:pPr indent="266700" algn="just"/>
            <a:r>
              <a:rPr lang="zh-CN" altLang="zh-CN" sz="1800" kern="100">
                <a:effectLst/>
                <a:latin typeface="等线" panose="02010600030101010101" pitchFamily="2" charset="-122"/>
                <a:ea typeface="等线" panose="02010600030101010101" pitchFamily="2" charset="-122"/>
                <a:cs typeface="Times New Roman" panose="02020603050405020304" pitchFamily="18" charset="0"/>
              </a:rPr>
              <a:t>答案是有的，对于深度学习来说，除了对模型的精巧设计以外，还有对损失函数和优化函数的修正，甚至随着对深度学习的研究科研人员对深度学习更进一步的了解，新的模型结构也被提出，这在我们后面章节中也会有讲解。</a:t>
            </a:r>
          </a:p>
          <a:p>
            <a:endParaRPr dirty="0"/>
          </a:p>
        </p:txBody>
      </p:sp>
    </p:spTree>
  </p:cSld>
  <p:clrMapOvr>
    <a:masterClrMapping/>
  </p:clrMapOvr>
  <p:transition spd="slow"/>
</p:sld>
</file>

<file path=ppt/theme/theme1.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137</TotalTime>
  <Words>957</Words>
  <Application>Microsoft Office PowerPoint</Application>
  <PresentationFormat>全屏显示(4:3)</PresentationFormat>
  <Paragraphs>34</Paragraphs>
  <Slides>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vt:i4>
      </vt:variant>
    </vt:vector>
  </HeadingPairs>
  <TitlesOfParts>
    <vt:vector size="15" baseType="lpstr">
      <vt:lpstr>Songti SC Bold</vt:lpstr>
      <vt:lpstr>等线</vt:lpstr>
      <vt:lpstr>方正姚体</vt:lpstr>
      <vt:lpstr>宋体</vt:lpstr>
      <vt:lpstr>Arial</vt:lpstr>
      <vt:lpstr>Calibri</vt:lpstr>
      <vt:lpstr>Tema de Office</vt:lpstr>
      <vt:lpstr>第7章 从冠军开始：ResNet</vt:lpstr>
      <vt:lpstr>7.1  ResNet基础原理与程序设计基础</vt:lpstr>
      <vt:lpstr>7.1  ResNet基础原理与程序设计基础</vt:lpstr>
      <vt:lpstr>7.1  ResNet基础原理与程序设计基础</vt:lpstr>
      <vt:lpstr>7.1  ResNet基础原理与程序设计基础</vt:lpstr>
      <vt:lpstr>7.2  ResNet实战：CIFAR10数据集分类</vt:lpstr>
      <vt:lpstr>7.2  ResNet实战：CIFAR10数据集分类</vt:lpstr>
      <vt:lpstr>7.3 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Hello TensorFlow &amp; Keras</dc:title>
  <dc:creator>lenovo</dc:creator>
  <cp:lastModifiedBy>lenovo</cp:lastModifiedBy>
  <cp:revision>13</cp:revision>
  <dcterms:modified xsi:type="dcterms:W3CDTF">2023-07-26T05:26:44Z</dcterms:modified>
</cp:coreProperties>
</file>