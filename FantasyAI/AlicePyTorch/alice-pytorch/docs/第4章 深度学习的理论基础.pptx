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sldIdLst>
    <p:sldId id="256" r:id="rId2"/>
    <p:sldId id="258" r:id="rId3"/>
    <p:sldId id="270" r:id="rId4"/>
    <p:sldId id="271" r:id="rId5"/>
    <p:sldId id="272" r:id="rId6"/>
    <p:sldId id="273" r:id="rId7"/>
    <p:sldId id="274" r:id="rId8"/>
    <p:sldId id="275" r:id="rId9"/>
    <p:sldId id="276" r:id="rId10"/>
    <p:sldId id="277" r:id="rId11"/>
    <p:sldId id="269" r:id="rId12"/>
  </p:sldIdLst>
  <p:sldSz cx="9144000" cy="6858000" type="screen4x3"/>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5pPr>
    <a:lvl6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6pPr>
    <a:lvl7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7pPr>
    <a:lvl8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8pPr>
    <a:lvl9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7E7"/>
          </a:solidFill>
        </a:fill>
      </a:tcStyle>
    </a:wholeTbl>
    <a:band2H>
      <a:tcTxStyle/>
      <a:tcStyle>
        <a:tcBdr/>
        <a:fill>
          <a:solidFill>
            <a:srgbClr val="E8ECF4"/>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a:tcStyle>
        <a:tcBdr/>
        <a:fill>
          <a:solidFill>
            <a:srgbClr val="EFF3E9"/>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a:tcStyle>
        <a:tcBdr/>
        <a:fill>
          <a:solidFill>
            <a:srgbClr val="FDEE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0" d="100"/>
          <a:sy n="80" d="100"/>
        </p:scale>
        <p:origin x="1522"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7" name="Shape 27"/>
          <p:cNvSpPr>
            <a:spLocks noGrp="1" noRot="1" noChangeAspect="1"/>
          </p:cNvSpPr>
          <p:nvPr>
            <p:ph type="sldImg"/>
          </p:nvPr>
        </p:nvSpPr>
        <p:spPr>
          <a:xfrm>
            <a:off x="1143000" y="685800"/>
            <a:ext cx="4572000" cy="3429000"/>
          </a:xfrm>
          <a:prstGeom prst="rect">
            <a:avLst/>
          </a:prstGeom>
        </p:spPr>
        <p:txBody>
          <a:bodyPr/>
          <a:lstStyle/>
          <a:p>
            <a:endParaRPr/>
          </a:p>
        </p:txBody>
      </p:sp>
      <p:sp>
        <p:nvSpPr>
          <p:cNvPr id="28" name="Shape 28"/>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spcBef>
        <a:spcPts val="400"/>
      </a:spcBef>
      <a:defRPr sz="1200">
        <a:latin typeface="+mj-lt"/>
        <a:ea typeface="+mj-ea"/>
        <a:cs typeface="+mj-cs"/>
        <a:sym typeface="Calibri"/>
      </a:defRPr>
    </a:lvl1pPr>
    <a:lvl2pPr indent="228600" latinLnBrk="0">
      <a:spcBef>
        <a:spcPts val="400"/>
      </a:spcBef>
      <a:defRPr sz="1200">
        <a:latin typeface="+mj-lt"/>
        <a:ea typeface="+mj-ea"/>
        <a:cs typeface="+mj-cs"/>
        <a:sym typeface="Calibri"/>
      </a:defRPr>
    </a:lvl2pPr>
    <a:lvl3pPr indent="457200" latinLnBrk="0">
      <a:spcBef>
        <a:spcPts val="400"/>
      </a:spcBef>
      <a:defRPr sz="1200">
        <a:latin typeface="+mj-lt"/>
        <a:ea typeface="+mj-ea"/>
        <a:cs typeface="+mj-cs"/>
        <a:sym typeface="Calibri"/>
      </a:defRPr>
    </a:lvl3pPr>
    <a:lvl4pPr indent="685800" latinLnBrk="0">
      <a:spcBef>
        <a:spcPts val="400"/>
      </a:spcBef>
      <a:defRPr sz="1200">
        <a:latin typeface="+mj-lt"/>
        <a:ea typeface="+mj-ea"/>
        <a:cs typeface="+mj-cs"/>
        <a:sym typeface="Calibri"/>
      </a:defRPr>
    </a:lvl4pPr>
    <a:lvl5pPr indent="914400" latinLnBrk="0">
      <a:spcBef>
        <a:spcPts val="400"/>
      </a:spcBef>
      <a:defRPr sz="1200">
        <a:latin typeface="+mj-lt"/>
        <a:ea typeface="+mj-ea"/>
        <a:cs typeface="+mj-cs"/>
        <a:sym typeface="Calibri"/>
      </a:defRPr>
    </a:lvl5pPr>
    <a:lvl6pPr indent="1143000" latinLnBrk="0">
      <a:spcBef>
        <a:spcPts val="400"/>
      </a:spcBef>
      <a:defRPr sz="1200">
        <a:latin typeface="+mj-lt"/>
        <a:ea typeface="+mj-ea"/>
        <a:cs typeface="+mj-cs"/>
        <a:sym typeface="Calibri"/>
      </a:defRPr>
    </a:lvl6pPr>
    <a:lvl7pPr indent="1371600" latinLnBrk="0">
      <a:spcBef>
        <a:spcPts val="400"/>
      </a:spcBef>
      <a:defRPr sz="1200">
        <a:latin typeface="+mj-lt"/>
        <a:ea typeface="+mj-ea"/>
        <a:cs typeface="+mj-cs"/>
        <a:sym typeface="Calibri"/>
      </a:defRPr>
    </a:lvl7pPr>
    <a:lvl8pPr indent="1600200" latinLnBrk="0">
      <a:spcBef>
        <a:spcPts val="400"/>
      </a:spcBef>
      <a:defRPr sz="1200">
        <a:latin typeface="+mj-lt"/>
        <a:ea typeface="+mj-ea"/>
        <a:cs typeface="+mj-cs"/>
        <a:sym typeface="Calibri"/>
      </a:defRPr>
    </a:lvl8pPr>
    <a:lvl9pPr indent="1828800" latinLnBrk="0">
      <a:spcBef>
        <a:spcPts val="400"/>
      </a:spcBef>
      <a:defRPr sz="1200">
        <a:latin typeface="+mj-lt"/>
        <a:ea typeface="+mj-ea"/>
        <a:cs typeface="+mj-cs"/>
        <a:sym typeface="Calibri"/>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11" name="Shape 11"/>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18" name="Shape 18"/>
          <p:cNvSpPr/>
          <p:nvPr/>
        </p:nvSpPr>
        <p:spPr>
          <a:xfrm>
            <a:off x="-1" y="692149"/>
            <a:ext cx="9144002" cy="46039"/>
          </a:xfrm>
          <a:prstGeom prst="rect">
            <a:avLst/>
          </a:prstGeom>
          <a:gradFill>
            <a:gsLst>
              <a:gs pos="0">
                <a:srgbClr val="CCCCFF"/>
              </a:gs>
              <a:gs pos="17999">
                <a:srgbClr val="BFBFBF"/>
              </a:gs>
              <a:gs pos="48001">
                <a:srgbClr val="595959"/>
              </a:gs>
              <a:gs pos="82002">
                <a:srgbClr val="A5A5A5"/>
              </a:gs>
              <a:gs pos="100000">
                <a:srgbClr val="D8D8D8"/>
              </a:gs>
            </a:gsLst>
            <a:lin ang="10800000"/>
          </a:gradFill>
          <a:ln w="12700">
            <a:miter lim="400000"/>
          </a:ln>
        </p:spPr>
        <p:txBody>
          <a:bodyPr lIns="45719" rIns="45719" anchor="ctr"/>
          <a:lstStyle/>
          <a:p>
            <a:pPr>
              <a:defRPr>
                <a:solidFill>
                  <a:srgbClr val="FFFFFF"/>
                </a:solidFill>
                <a:latin typeface="宋体"/>
                <a:ea typeface="宋体"/>
                <a:cs typeface="宋体"/>
                <a:sym typeface="宋体"/>
              </a:defRPr>
            </a:pPr>
            <a:endParaRPr/>
          </a:p>
        </p:txBody>
      </p:sp>
      <p:sp>
        <p:nvSpPr>
          <p:cNvPr id="19" name="Shape 19"/>
          <p:cNvSpPr>
            <a:spLocks noGrp="1"/>
          </p:cNvSpPr>
          <p:nvPr>
            <p:ph type="title"/>
          </p:nvPr>
        </p:nvSpPr>
        <p:spPr>
          <a:xfrm>
            <a:off x="457200" y="274637"/>
            <a:ext cx="8229600" cy="1143001"/>
          </a:xfrm>
          <a:prstGeom prst="rect">
            <a:avLst/>
          </a:prstGeom>
          <a:extLst>
            <a:ext uri="{C572A759-6A51-4108-AA02-DFA0A04FC94B}">
              <ma14:wrappingTextBoxFlag xmlns:ma14="http://schemas.microsoft.com/office/mac/drawingml/2011/main" xmlns="" val="1"/>
            </a:ext>
          </a:extLst>
        </p:spPr>
        <p:txBody>
          <a:bodyPr>
            <a:normAutofit/>
          </a:bodyPr>
          <a:lstStyle/>
          <a:p>
            <a:r>
              <a:t>Haga clic para modificar el estilo de título del patrón</a:t>
            </a:r>
          </a:p>
        </p:txBody>
      </p:sp>
      <p:sp>
        <p:nvSpPr>
          <p:cNvPr id="20" name="Shape 20"/>
          <p:cNvSpPr>
            <a:spLocks noGrp="1"/>
          </p:cNvSpPr>
          <p:nvPr>
            <p:ph type="body" idx="1"/>
          </p:nvPr>
        </p:nvSpPr>
        <p:spPr>
          <a:xfrm>
            <a:off x="457200" y="1600200"/>
            <a:ext cx="8229600" cy="4525963"/>
          </a:xfrm>
          <a:prstGeom prst="rect">
            <a:avLst/>
          </a:prstGeom>
          <a:extLst>
            <a:ext uri="{C572A759-6A51-4108-AA02-DFA0A04FC94B}">
              <ma14:wrappingTextBoxFlag xmlns:ma14="http://schemas.microsoft.com/office/mac/drawingml/2011/main" xmlns="" val="1"/>
            </a:ext>
          </a:extLst>
        </p:spPr>
        <p:txBody>
          <a:bodyPr>
            <a:normAutofit/>
          </a:bodyPr>
          <a:lstStyle/>
          <a:p>
            <a:r>
              <a:t>Haga clic para modificar el estilo de texto del patrón</a:t>
            </a:r>
          </a:p>
          <a:p>
            <a:pPr lvl="1"/>
            <a:r>
              <a:t>Segundo nivel</a:t>
            </a:r>
          </a:p>
          <a:p>
            <a:pPr lvl="2"/>
            <a:r>
              <a:t>Tercer nivel</a:t>
            </a:r>
          </a:p>
          <a:p>
            <a:pPr lvl="3"/>
            <a:r>
              <a:t>Cuarto nivel</a:t>
            </a:r>
          </a:p>
          <a:p>
            <a:pPr lvl="4"/>
            <a:r>
              <a:t>Quinto nivel</a:t>
            </a:r>
          </a:p>
        </p:txBody>
      </p:sp>
      <p:sp>
        <p:nvSpPr>
          <p:cNvPr id="21" name="Shape 21"/>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4"/>
          <a:srcRect/>
          <a:stretch>
            <a:fillRect/>
          </a:stretch>
        </a:blipFill>
        <a:effectLst/>
      </p:bgPr>
    </p:bg>
    <p:spTree>
      <p:nvGrpSpPr>
        <p:cNvPr id="1" name=""/>
        <p:cNvGrpSpPr/>
        <p:nvPr/>
      </p:nvGrpSpPr>
      <p:grpSpPr>
        <a:xfrm>
          <a:off x="0" y="0"/>
          <a:ext cx="0" cy="0"/>
          <a:chOff x="0" y="0"/>
          <a:chExt cx="0" cy="0"/>
        </a:xfrm>
      </p:grpSpPr>
      <p:sp>
        <p:nvSpPr>
          <p:cNvPr id="2" name="Shape 2"/>
          <p:cNvSpPr>
            <a:spLocks noGrp="1"/>
          </p:cNvSpPr>
          <p:nvPr>
            <p:ph type="title"/>
          </p:nvPr>
        </p:nvSpPr>
        <p:spPr>
          <a:xfrm>
            <a:off x="457200" y="92074"/>
            <a:ext cx="8229600" cy="1508127"/>
          </a:xfrm>
          <a:prstGeom prst="rect">
            <a:avLst/>
          </a:prstGeom>
          <a:ln w="12700">
            <a:miter lim="400000"/>
          </a:ln>
        </p:spPr>
        <p:txBody>
          <a:bodyPr lIns="45719" rIns="45719" anchor="ctr"/>
          <a:lstStyle/>
          <a:p>
            <a:endParaRPr/>
          </a:p>
        </p:txBody>
      </p:sp>
      <p:sp>
        <p:nvSpPr>
          <p:cNvPr id="3" name="Shape 3"/>
          <p:cNvSpPr>
            <a:spLocks noGrp="1"/>
          </p:cNvSpPr>
          <p:nvPr>
            <p:ph type="body" idx="1"/>
          </p:nvPr>
        </p:nvSpPr>
        <p:spPr>
          <a:xfrm>
            <a:off x="457200" y="1600200"/>
            <a:ext cx="8229600" cy="5257800"/>
          </a:xfrm>
          <a:prstGeom prst="rect">
            <a:avLst/>
          </a:prstGeom>
          <a:ln w="12700">
            <a:miter lim="400000"/>
          </a:ln>
        </p:spPr>
        <p:txBody>
          <a:bodyPr lIns="45719" rIns="45719"/>
          <a:lstStyle/>
          <a:p>
            <a:endParaRPr/>
          </a:p>
        </p:txBody>
      </p:sp>
      <p:sp>
        <p:nvSpPr>
          <p:cNvPr id="4" name="Shape 4"/>
          <p:cNvSpPr>
            <a:spLocks noGrp="1"/>
          </p:cNvSpPr>
          <p:nvPr>
            <p:ph type="sldNum" sz="quarter" idx="2"/>
          </p:nvPr>
        </p:nvSpPr>
        <p:spPr>
          <a:xfrm>
            <a:off x="8422818" y="6404292"/>
            <a:ext cx="263983" cy="269241"/>
          </a:xfrm>
          <a:prstGeom prst="rect">
            <a:avLst/>
          </a:prstGeom>
          <a:ln w="12700">
            <a:miter lim="400000"/>
          </a:ln>
        </p:spPr>
        <p:txBody>
          <a:bodyPr wrap="none" lIns="45719" rIns="45719" anchor="ctr">
            <a:spAutoFit/>
          </a:bodyPr>
          <a:lstStyle>
            <a:lvl1pPr algn="r">
              <a:defRPr sz="1200">
                <a:solidFill>
                  <a:srgbClr val="898989"/>
                </a:solidFill>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ransition spd="med"/>
  <p:txStyles>
    <p:titleStyle>
      <a:lvl1pPr marL="0" marR="0" indent="0" algn="ctr" defTabSz="9144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j-lt"/>
          <a:ea typeface="+mj-ea"/>
          <a:cs typeface="+mj-cs"/>
          <a:sym typeface="Calibri"/>
        </a:defRPr>
      </a:lvl1pPr>
      <a:lvl2pPr marL="0" marR="0" indent="0" algn="ctr" defTabSz="9144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j-lt"/>
          <a:ea typeface="+mj-ea"/>
          <a:cs typeface="+mj-cs"/>
          <a:sym typeface="Calibri"/>
        </a:defRPr>
      </a:lvl2pPr>
      <a:lvl3pPr marL="0" marR="0" indent="0" algn="ctr" defTabSz="9144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j-lt"/>
          <a:ea typeface="+mj-ea"/>
          <a:cs typeface="+mj-cs"/>
          <a:sym typeface="Calibri"/>
        </a:defRPr>
      </a:lvl3pPr>
      <a:lvl4pPr marL="0" marR="0" indent="0" algn="ctr" defTabSz="9144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j-lt"/>
          <a:ea typeface="+mj-ea"/>
          <a:cs typeface="+mj-cs"/>
          <a:sym typeface="Calibri"/>
        </a:defRPr>
      </a:lvl4pPr>
      <a:lvl5pPr marL="0" marR="0" indent="0" algn="ctr" defTabSz="9144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j-lt"/>
          <a:ea typeface="+mj-ea"/>
          <a:cs typeface="+mj-cs"/>
          <a:sym typeface="Calibri"/>
        </a:defRPr>
      </a:lvl5pPr>
      <a:lvl6pPr marL="0" marR="0" indent="457200" algn="ctr" defTabSz="9144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j-lt"/>
          <a:ea typeface="+mj-ea"/>
          <a:cs typeface="+mj-cs"/>
          <a:sym typeface="Calibri"/>
        </a:defRPr>
      </a:lvl6pPr>
      <a:lvl7pPr marL="0" marR="0" indent="914400" algn="ctr" defTabSz="9144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j-lt"/>
          <a:ea typeface="+mj-ea"/>
          <a:cs typeface="+mj-cs"/>
          <a:sym typeface="Calibri"/>
        </a:defRPr>
      </a:lvl7pPr>
      <a:lvl8pPr marL="0" marR="0" indent="1371600" algn="ctr" defTabSz="9144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j-lt"/>
          <a:ea typeface="+mj-ea"/>
          <a:cs typeface="+mj-cs"/>
          <a:sym typeface="Calibri"/>
        </a:defRPr>
      </a:lvl8pPr>
      <a:lvl9pPr marL="0" marR="0" indent="1828800" algn="ctr" defTabSz="9144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j-lt"/>
          <a:ea typeface="+mj-ea"/>
          <a:cs typeface="+mj-cs"/>
          <a:sym typeface="Calibri"/>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j-lt"/>
          <a:ea typeface="+mj-ea"/>
          <a:cs typeface="+mj-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j-lt"/>
          <a:ea typeface="+mj-ea"/>
          <a:cs typeface="+mj-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j-lt"/>
          <a:ea typeface="+mj-ea"/>
          <a:cs typeface="+mj-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j-lt"/>
          <a:ea typeface="+mj-ea"/>
          <a:cs typeface="+mj-cs"/>
          <a:sym typeface="Calibri"/>
        </a:defRPr>
      </a:lvl4pPr>
      <a:lvl5pPr marL="2235200" marR="0" indent="-406400" algn="l" defTabSz="9144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j-lt"/>
          <a:ea typeface="+mj-ea"/>
          <a:cs typeface="+mj-cs"/>
          <a:sym typeface="Calibri"/>
        </a:defRPr>
      </a:lvl5pPr>
      <a:lvl6pPr marL="2692400" marR="0" indent="-406400" algn="l" defTabSz="9144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j-lt"/>
          <a:ea typeface="+mj-ea"/>
          <a:cs typeface="+mj-cs"/>
          <a:sym typeface="Calibri"/>
        </a:defRPr>
      </a:lvl6pPr>
      <a:lvl7pPr marL="3149600" marR="0" indent="-406400" algn="l" defTabSz="9144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j-lt"/>
          <a:ea typeface="+mj-ea"/>
          <a:cs typeface="+mj-cs"/>
          <a:sym typeface="Calibri"/>
        </a:defRPr>
      </a:lvl7pPr>
      <a:lvl8pPr marL="3606800" marR="0" indent="-406400" algn="l" defTabSz="9144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j-lt"/>
          <a:ea typeface="+mj-ea"/>
          <a:cs typeface="+mj-cs"/>
          <a:sym typeface="Calibri"/>
        </a:defRPr>
      </a:lvl8pPr>
      <a:lvl9pPr marL="4064000" marR="0" indent="-406400" algn="l" defTabSz="9144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j-lt"/>
          <a:ea typeface="+mj-ea"/>
          <a:cs typeface="+mj-cs"/>
          <a:sym typeface="Calibri"/>
        </a:defRPr>
      </a:lvl9pPr>
    </p:bodyStyle>
    <p:otherStyle>
      <a:lvl1pPr marL="0" marR="0" indent="0"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5pPr>
      <a:lvl6pPr marL="0" marR="0" indent="0"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6pPr>
      <a:lvl7pPr marL="0" marR="0" indent="0"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7pPr>
      <a:lvl8pPr marL="0" marR="0" indent="0"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8pPr>
      <a:lvl9pPr marL="0" marR="0" indent="0"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emf"/><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Shape 30"/>
          <p:cNvSpPr>
            <a:spLocks noGrp="1"/>
          </p:cNvSpPr>
          <p:nvPr>
            <p:ph type="title" idx="4294967295"/>
          </p:nvPr>
        </p:nvSpPr>
        <p:spPr>
          <a:xfrm>
            <a:off x="457200" y="274637"/>
            <a:ext cx="8229600" cy="1143001"/>
          </a:xfrm>
          <a:prstGeom prst="rect">
            <a:avLst/>
          </a:prstGeom>
          <a:extLst>
            <a:ext uri="{C572A759-6A51-4108-AA02-DFA0A04FC94B}">
              <ma14:wrappingTextBoxFlag xmlns:ma14="http://schemas.microsoft.com/office/mac/drawingml/2011/main" xmlns="" val="1"/>
            </a:ext>
          </a:extLst>
        </p:spPr>
        <p:txBody>
          <a:bodyPr>
            <a:normAutofit/>
          </a:bodyPr>
          <a:lstStyle>
            <a:lvl1pPr defTabSz="667512">
              <a:defRPr sz="3212">
                <a:latin typeface="宋体"/>
                <a:ea typeface="宋体"/>
                <a:cs typeface="宋体"/>
                <a:sym typeface="宋体"/>
              </a:defRPr>
            </a:lvl1pPr>
          </a:lstStyle>
          <a:p>
            <a:pPr>
              <a:defRPr>
                <a:latin typeface="+mj-lt"/>
                <a:ea typeface="+mj-ea"/>
                <a:cs typeface="+mj-cs"/>
                <a:sym typeface="Calibri"/>
              </a:defRPr>
            </a:pPr>
            <a:r>
              <a:rPr lang="zh-CN" altLang="en-US" sz="2800" b="1" dirty="0">
                <a:latin typeface="宋体"/>
                <a:ea typeface="宋体"/>
                <a:cs typeface="宋体"/>
                <a:sym typeface="宋体"/>
              </a:rPr>
              <a:t>第</a:t>
            </a:r>
            <a:r>
              <a:rPr lang="en-US" altLang="zh-CN" sz="2800" b="1" dirty="0">
                <a:latin typeface="宋体"/>
                <a:ea typeface="宋体"/>
                <a:cs typeface="宋体"/>
                <a:sym typeface="宋体"/>
              </a:rPr>
              <a:t>4</a:t>
            </a:r>
            <a:r>
              <a:rPr lang="zh-CN" altLang="en-US" sz="2800" b="1" dirty="0">
                <a:latin typeface="宋体"/>
                <a:ea typeface="宋体"/>
                <a:cs typeface="宋体"/>
                <a:sym typeface="宋体"/>
              </a:rPr>
              <a:t>章 深度学习的理论基础</a:t>
            </a:r>
          </a:p>
        </p:txBody>
      </p:sp>
      <p:sp>
        <p:nvSpPr>
          <p:cNvPr id="31" name="Shape 31"/>
          <p:cNvSpPr>
            <a:spLocks noGrp="1"/>
          </p:cNvSpPr>
          <p:nvPr>
            <p:ph type="body" idx="4294967295"/>
          </p:nvPr>
        </p:nvSpPr>
        <p:spPr>
          <a:xfrm>
            <a:off x="457200" y="1600200"/>
            <a:ext cx="8229600" cy="4525963"/>
          </a:xfrm>
          <a:prstGeom prst="rect">
            <a:avLst/>
          </a:prstGeom>
          <a:extLst>
            <a:ext uri="{C572A759-6A51-4108-AA02-DFA0A04FC94B}">
              <ma14:wrappingTextBoxFlag xmlns:ma14="http://schemas.microsoft.com/office/mac/drawingml/2011/main" xmlns="" val="1"/>
            </a:ext>
          </a:extLst>
        </p:spPr>
        <p:txBody>
          <a:bodyPr>
            <a:normAutofit/>
          </a:bodyPr>
          <a:lstStyle/>
          <a:p>
            <a:pPr marL="0" indent="0" defTabSz="740663">
              <a:spcBef>
                <a:spcPts val="600"/>
              </a:spcBef>
              <a:buNone/>
              <a:defRPr sz="2106"/>
            </a:pPr>
            <a:r>
              <a:rPr lang="en-US" altLang="zh-CN" dirty="0">
                <a:latin typeface="宋体"/>
                <a:ea typeface="宋体"/>
                <a:cs typeface="宋体"/>
                <a:sym typeface="宋体"/>
              </a:rPr>
              <a:t>4.1  BP</a:t>
            </a:r>
            <a:r>
              <a:rPr lang="zh-CN" altLang="en-US" dirty="0">
                <a:latin typeface="宋体"/>
                <a:ea typeface="宋体"/>
                <a:cs typeface="宋体"/>
                <a:sym typeface="宋体"/>
              </a:rPr>
              <a:t>神经网络前身历史</a:t>
            </a:r>
          </a:p>
          <a:p>
            <a:pPr marL="0" indent="0" defTabSz="740663">
              <a:spcBef>
                <a:spcPts val="600"/>
              </a:spcBef>
              <a:buNone/>
              <a:defRPr sz="2106"/>
            </a:pPr>
            <a:r>
              <a:rPr lang="en-US" altLang="zh-CN" dirty="0">
                <a:latin typeface="宋体"/>
                <a:ea typeface="宋体"/>
                <a:cs typeface="宋体"/>
                <a:sym typeface="宋体"/>
              </a:rPr>
              <a:t>4.2  BP</a:t>
            </a:r>
            <a:r>
              <a:rPr lang="zh-CN" altLang="en-US" dirty="0">
                <a:latin typeface="宋体"/>
                <a:ea typeface="宋体"/>
                <a:cs typeface="宋体"/>
                <a:sym typeface="宋体"/>
              </a:rPr>
              <a:t>神经网络两个基础算法详解</a:t>
            </a:r>
          </a:p>
          <a:p>
            <a:pPr marL="0" indent="0" defTabSz="740663">
              <a:spcBef>
                <a:spcPts val="600"/>
              </a:spcBef>
              <a:buNone/>
              <a:defRPr sz="2106"/>
            </a:pPr>
            <a:r>
              <a:rPr lang="en-US" altLang="zh-CN" dirty="0">
                <a:latin typeface="宋体"/>
                <a:ea typeface="宋体"/>
                <a:cs typeface="宋体"/>
                <a:sym typeface="宋体"/>
              </a:rPr>
              <a:t>4.3  </a:t>
            </a:r>
            <a:r>
              <a:rPr lang="zh-CN" altLang="en-US" dirty="0">
                <a:latin typeface="宋体"/>
                <a:ea typeface="宋体"/>
                <a:cs typeface="宋体"/>
                <a:sym typeface="宋体"/>
              </a:rPr>
              <a:t>反馈神经网络反向传播算法介绍</a:t>
            </a:r>
          </a:p>
          <a:p>
            <a:pPr marL="0" indent="0" defTabSz="740663">
              <a:spcBef>
                <a:spcPts val="600"/>
              </a:spcBef>
              <a:buNone/>
              <a:defRPr sz="2106"/>
            </a:pPr>
            <a:r>
              <a:rPr lang="en-US" altLang="zh-CN" dirty="0">
                <a:latin typeface="宋体"/>
                <a:ea typeface="宋体"/>
                <a:cs typeface="宋体"/>
                <a:sym typeface="宋体"/>
              </a:rPr>
              <a:t>4.4  </a:t>
            </a:r>
            <a:r>
              <a:rPr lang="zh-CN" altLang="en-US" dirty="0">
                <a:latin typeface="宋体"/>
                <a:ea typeface="宋体"/>
                <a:cs typeface="宋体"/>
                <a:sym typeface="宋体"/>
              </a:rPr>
              <a:t>本章小结</a:t>
            </a:r>
          </a:p>
          <a:p>
            <a:pPr marL="0" indent="0" defTabSz="740663">
              <a:spcBef>
                <a:spcPts val="600"/>
              </a:spcBef>
              <a:buNone/>
              <a:defRPr sz="2106"/>
            </a:pPr>
            <a:endParaRPr lang="zh-CN" altLang="en-US" dirty="0">
              <a:latin typeface="宋体"/>
              <a:ea typeface="宋体"/>
              <a:cs typeface="宋体"/>
              <a:sym typeface="宋体"/>
            </a:endParaRP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hape 38"/>
          <p:cNvSpPr>
            <a:spLocks noGrp="1"/>
          </p:cNvSpPr>
          <p:nvPr>
            <p:ph type="title" idx="4294967295"/>
          </p:nvPr>
        </p:nvSpPr>
        <p:spPr>
          <a:xfrm>
            <a:off x="457200" y="274637"/>
            <a:ext cx="8229600" cy="1143001"/>
          </a:xfrm>
          <a:prstGeom prst="rect">
            <a:avLst/>
          </a:prstGeom>
          <a:extLst>
            <a:ext uri="{C572A759-6A51-4108-AA02-DFA0A04FC94B}">
              <ma14:wrappingTextBoxFlag xmlns:ma14="http://schemas.microsoft.com/office/mac/drawingml/2011/main" xmlns="" val="1"/>
            </a:ext>
          </a:extLst>
        </p:spPr>
        <p:txBody>
          <a:bodyPr>
            <a:normAutofit/>
          </a:bodyPr>
          <a:lstStyle>
            <a:lvl1pPr defTabSz="539495">
              <a:defRPr sz="2596">
                <a:latin typeface="宋体"/>
                <a:ea typeface="宋体"/>
                <a:cs typeface="宋体"/>
                <a:sym typeface="宋体"/>
              </a:defRPr>
            </a:lvl1pPr>
          </a:lstStyle>
          <a:p>
            <a:pPr>
              <a:defRPr>
                <a:latin typeface="+mj-lt"/>
                <a:ea typeface="+mj-ea"/>
                <a:cs typeface="+mj-cs"/>
                <a:sym typeface="Calibri"/>
              </a:defRPr>
            </a:pPr>
            <a:r>
              <a:rPr lang="en-US" altLang="zh-CN" sz="3200" b="1" dirty="0">
                <a:latin typeface="宋体"/>
                <a:ea typeface="宋体"/>
                <a:cs typeface="宋体"/>
                <a:sym typeface="宋体"/>
              </a:rPr>
              <a:t>4.1  BP</a:t>
            </a:r>
            <a:r>
              <a:rPr lang="zh-CN" altLang="en-US" sz="3200" b="1" dirty="0">
                <a:latin typeface="宋体"/>
                <a:ea typeface="宋体"/>
                <a:cs typeface="宋体"/>
                <a:sym typeface="宋体"/>
              </a:rPr>
              <a:t>神经网络前身历史</a:t>
            </a:r>
          </a:p>
        </p:txBody>
      </p:sp>
      <p:sp>
        <p:nvSpPr>
          <p:cNvPr id="9" name="文本框 8">
            <a:extLst>
              <a:ext uri="{FF2B5EF4-FFF2-40B4-BE49-F238E27FC236}">
                <a16:creationId xmlns:a16="http://schemas.microsoft.com/office/drawing/2014/main" id="{A30F48A6-64E0-4AF9-9EA4-F03B1C10EAA8}"/>
              </a:ext>
            </a:extLst>
          </p:cNvPr>
          <p:cNvSpPr txBox="1"/>
          <p:nvPr/>
        </p:nvSpPr>
        <p:spPr>
          <a:xfrm>
            <a:off x="1085850" y="2143125"/>
            <a:ext cx="6972300" cy="219290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indent="266700" algn="just"/>
            <a:r>
              <a:rPr lang="zh-CN" altLang="zh-CN" sz="1050" kern="100" dirty="0">
                <a:effectLst/>
                <a:latin typeface="等线" panose="02010600030101010101" pitchFamily="2" charset="-122"/>
                <a:ea typeface="等线" panose="02010600030101010101" pitchFamily="2" charset="-122"/>
                <a:cs typeface="Times New Roman" panose="02020603050405020304" pitchFamily="18" charset="0"/>
              </a:rPr>
              <a:t>在介绍</a:t>
            </a:r>
            <a:r>
              <a:rPr lang="en-US" altLang="zh-CN" sz="1050" kern="100" dirty="0">
                <a:effectLst/>
                <a:latin typeface="等线" panose="02010600030101010101" pitchFamily="2" charset="-122"/>
                <a:ea typeface="等线" panose="02010600030101010101" pitchFamily="2" charset="-122"/>
                <a:cs typeface="Times New Roman" panose="02020603050405020304" pitchFamily="18" charset="0"/>
              </a:rPr>
              <a:t>BP</a:t>
            </a:r>
            <a:r>
              <a:rPr lang="zh-CN" altLang="zh-CN" sz="1050" kern="100" dirty="0">
                <a:effectLst/>
                <a:latin typeface="等线" panose="02010600030101010101" pitchFamily="2" charset="-122"/>
                <a:ea typeface="等线" panose="02010600030101010101" pitchFamily="2" charset="-122"/>
                <a:cs typeface="Times New Roman" panose="02020603050405020304" pitchFamily="18" charset="0"/>
              </a:rPr>
              <a:t>神经网络之前，人工神经网络是必须提到的内容。人工神经网络（</a:t>
            </a:r>
            <a:r>
              <a:rPr lang="en-US" altLang="zh-CN" sz="1050" kern="100" dirty="0">
                <a:effectLst/>
                <a:latin typeface="等线" panose="02010600030101010101" pitchFamily="2" charset="-122"/>
                <a:ea typeface="等线" panose="02010600030101010101" pitchFamily="2" charset="-122"/>
                <a:cs typeface="Times New Roman" panose="02020603050405020304" pitchFamily="18" charset="0"/>
              </a:rPr>
              <a:t>artificial </a:t>
            </a:r>
            <a:r>
              <a:rPr lang="en-US" altLang="zh-CN" sz="1050" kern="100" dirty="0" err="1">
                <a:effectLst/>
                <a:latin typeface="等线" panose="02010600030101010101" pitchFamily="2" charset="-122"/>
                <a:ea typeface="等线" panose="02010600030101010101" pitchFamily="2" charset="-122"/>
                <a:cs typeface="Times New Roman" panose="02020603050405020304" pitchFamily="18" charset="0"/>
              </a:rPr>
              <a:t>Artificial</a:t>
            </a:r>
            <a:r>
              <a:rPr lang="en-US" altLang="zh-CN" sz="1050" kern="100" dirty="0">
                <a:effectLst/>
                <a:latin typeface="等线" panose="02010600030101010101" pitchFamily="2" charset="-122"/>
                <a:ea typeface="等线" panose="02010600030101010101" pitchFamily="2" charset="-122"/>
                <a:cs typeface="Times New Roman" panose="02020603050405020304" pitchFamily="18" charset="0"/>
              </a:rPr>
              <a:t> Neural Network</a:t>
            </a:r>
            <a:r>
              <a:rPr lang="zh-CN" altLang="zh-CN" sz="105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050" kern="100" dirty="0">
                <a:effectLst/>
                <a:latin typeface="等线" panose="02010600030101010101" pitchFamily="2" charset="-122"/>
                <a:ea typeface="等线" panose="02010600030101010101" pitchFamily="2" charset="-122"/>
                <a:cs typeface="Times New Roman" panose="02020603050405020304" pitchFamily="18" charset="0"/>
              </a:rPr>
              <a:t>ANN</a:t>
            </a:r>
            <a:r>
              <a:rPr lang="zh-CN" altLang="zh-CN" sz="1050" kern="100" dirty="0">
                <a:effectLst/>
                <a:latin typeface="等线" panose="02010600030101010101" pitchFamily="2" charset="-122"/>
                <a:ea typeface="等线" panose="02010600030101010101" pitchFamily="2" charset="-122"/>
                <a:cs typeface="Times New Roman" panose="02020603050405020304" pitchFamily="18" charset="0"/>
              </a:rPr>
              <a:t>）的发展经历了大约半个世纪，从</a:t>
            </a:r>
            <a:r>
              <a:rPr lang="en-US" altLang="zh-CN" sz="1050" kern="100" dirty="0">
                <a:effectLst/>
                <a:latin typeface="等线" panose="02010600030101010101" pitchFamily="2" charset="-122"/>
                <a:ea typeface="等线" panose="02010600030101010101" pitchFamily="2" charset="-122"/>
                <a:cs typeface="Times New Roman" panose="02020603050405020304" pitchFamily="18" charset="0"/>
              </a:rPr>
              <a:t>20</a:t>
            </a:r>
            <a:r>
              <a:rPr lang="zh-CN" altLang="zh-CN" sz="1050" kern="100" dirty="0">
                <a:effectLst/>
                <a:latin typeface="等线" panose="02010600030101010101" pitchFamily="2" charset="-122"/>
                <a:ea typeface="等线" panose="02010600030101010101" pitchFamily="2" charset="-122"/>
                <a:cs typeface="Times New Roman" panose="02020603050405020304" pitchFamily="18" charset="0"/>
              </a:rPr>
              <a:t>世纪</a:t>
            </a:r>
            <a:r>
              <a:rPr lang="en-US" altLang="zh-CN" sz="1050" kern="100" dirty="0">
                <a:effectLst/>
                <a:latin typeface="等线" panose="02010600030101010101" pitchFamily="2" charset="-122"/>
                <a:ea typeface="等线" panose="02010600030101010101" pitchFamily="2" charset="-122"/>
                <a:cs typeface="Times New Roman" panose="02020603050405020304" pitchFamily="18" charset="0"/>
              </a:rPr>
              <a:t>40</a:t>
            </a:r>
            <a:r>
              <a:rPr lang="zh-CN" altLang="zh-CN" sz="1050" kern="100" dirty="0">
                <a:effectLst/>
                <a:latin typeface="等线" panose="02010600030101010101" pitchFamily="2" charset="-122"/>
                <a:ea typeface="等线" panose="02010600030101010101" pitchFamily="2" charset="-122"/>
                <a:cs typeface="Times New Roman" panose="02020603050405020304" pitchFamily="18" charset="0"/>
              </a:rPr>
              <a:t>年代初到</a:t>
            </a:r>
            <a:r>
              <a:rPr lang="en-US" altLang="zh-CN" sz="1050" kern="100" dirty="0">
                <a:effectLst/>
                <a:latin typeface="等线" panose="02010600030101010101" pitchFamily="2" charset="-122"/>
                <a:ea typeface="等线" panose="02010600030101010101" pitchFamily="2" charset="-122"/>
                <a:cs typeface="Times New Roman" panose="02020603050405020304" pitchFamily="18" charset="0"/>
              </a:rPr>
              <a:t>80</a:t>
            </a:r>
            <a:r>
              <a:rPr lang="zh-CN" altLang="zh-CN" sz="1050" kern="100" dirty="0">
                <a:effectLst/>
                <a:latin typeface="等线" panose="02010600030101010101" pitchFamily="2" charset="-122"/>
                <a:ea typeface="等线" panose="02010600030101010101" pitchFamily="2" charset="-122"/>
                <a:cs typeface="Times New Roman" panose="02020603050405020304" pitchFamily="18" charset="0"/>
              </a:rPr>
              <a:t>年代，神经网络的研究经历了低潮和高潮几起几落的发展过程。</a:t>
            </a:r>
          </a:p>
          <a:p>
            <a:pPr indent="266700" algn="just"/>
            <a:r>
              <a:rPr lang="en-US" altLang="zh-CN" sz="1050" kern="100" dirty="0">
                <a:effectLst/>
                <a:latin typeface="等线" panose="02010600030101010101" pitchFamily="2" charset="-122"/>
                <a:ea typeface="等线" panose="02010600030101010101" pitchFamily="2" charset="-122"/>
                <a:cs typeface="Times New Roman" panose="02020603050405020304" pitchFamily="18" charset="0"/>
              </a:rPr>
              <a:t>1930</a:t>
            </a:r>
            <a:r>
              <a:rPr lang="zh-CN" altLang="zh-CN" sz="1050" kern="100" dirty="0">
                <a:effectLst/>
                <a:latin typeface="等线" panose="02010600030101010101" pitchFamily="2" charset="-122"/>
                <a:ea typeface="等线" panose="02010600030101010101" pitchFamily="2" charset="-122"/>
                <a:cs typeface="Times New Roman" panose="02020603050405020304" pitchFamily="18" charset="0"/>
              </a:rPr>
              <a:t>年，</a:t>
            </a:r>
            <a:r>
              <a:rPr lang="en-US" altLang="zh-CN" sz="1050" kern="100" dirty="0" err="1">
                <a:effectLst/>
                <a:latin typeface="等线" panose="02010600030101010101" pitchFamily="2" charset="-122"/>
                <a:ea typeface="等线" panose="02010600030101010101" pitchFamily="2" charset="-122"/>
                <a:cs typeface="Times New Roman" panose="02020603050405020304" pitchFamily="18" charset="0"/>
              </a:rPr>
              <a:t>B.Widrow</a:t>
            </a:r>
            <a:r>
              <a:rPr lang="zh-CN" altLang="zh-CN" sz="1050" kern="100" dirty="0">
                <a:effectLst/>
                <a:latin typeface="等线" panose="02010600030101010101" pitchFamily="2" charset="-122"/>
                <a:ea typeface="等线" panose="02010600030101010101" pitchFamily="2" charset="-122"/>
                <a:cs typeface="Times New Roman" panose="02020603050405020304" pitchFamily="18" charset="0"/>
              </a:rPr>
              <a:t>和</a:t>
            </a:r>
            <a:r>
              <a:rPr lang="en-US" altLang="zh-CN" sz="1050" kern="100" dirty="0" err="1">
                <a:effectLst/>
                <a:latin typeface="等线" panose="02010600030101010101" pitchFamily="2" charset="-122"/>
                <a:ea typeface="等线" panose="02010600030101010101" pitchFamily="2" charset="-122"/>
                <a:cs typeface="Times New Roman" panose="02020603050405020304" pitchFamily="18" charset="0"/>
              </a:rPr>
              <a:t>M.Hoff</a:t>
            </a:r>
            <a:r>
              <a:rPr lang="zh-CN" altLang="zh-CN" sz="1050" kern="100" dirty="0">
                <a:effectLst/>
                <a:latin typeface="等线" panose="02010600030101010101" pitchFamily="2" charset="-122"/>
                <a:ea typeface="等线" panose="02010600030101010101" pitchFamily="2" charset="-122"/>
                <a:cs typeface="Times New Roman" panose="02020603050405020304" pitchFamily="18" charset="0"/>
              </a:rPr>
              <a:t>提出了自适应线性元件网络（</a:t>
            </a:r>
            <a:r>
              <a:rPr lang="en-US" altLang="zh-CN" sz="1050" kern="100" dirty="0" err="1">
                <a:effectLst/>
                <a:latin typeface="等线" panose="02010600030101010101" pitchFamily="2" charset="-122"/>
                <a:ea typeface="等线" panose="02010600030101010101" pitchFamily="2" charset="-122"/>
                <a:cs typeface="Times New Roman" panose="02020603050405020304" pitchFamily="18" charset="0"/>
              </a:rPr>
              <a:t>ADAptive</a:t>
            </a:r>
            <a:r>
              <a:rPr lang="en-US" altLang="zh-CN" sz="1050" kern="100" dirty="0">
                <a:effectLst/>
                <a:latin typeface="等线" panose="02010600030101010101" pitchFamily="2" charset="-122"/>
                <a:ea typeface="等线" panose="02010600030101010101" pitchFamily="2" charset="-122"/>
                <a:cs typeface="Times New Roman" panose="02020603050405020304" pitchFamily="18" charset="0"/>
              </a:rPr>
              <a:t> </a:t>
            </a:r>
            <a:r>
              <a:rPr lang="en-US" altLang="zh-CN" sz="1050" kern="100" dirty="0" err="1">
                <a:effectLst/>
                <a:latin typeface="等线" panose="02010600030101010101" pitchFamily="2" charset="-122"/>
                <a:ea typeface="等线" panose="02010600030101010101" pitchFamily="2" charset="-122"/>
                <a:cs typeface="Times New Roman" panose="02020603050405020304" pitchFamily="18" charset="0"/>
              </a:rPr>
              <a:t>LINear</a:t>
            </a:r>
            <a:r>
              <a:rPr lang="en-US" altLang="zh-CN" sz="1050" kern="100" dirty="0">
                <a:effectLst/>
                <a:latin typeface="等线" panose="02010600030101010101" pitchFamily="2" charset="-122"/>
                <a:ea typeface="等线" panose="02010600030101010101" pitchFamily="2" charset="-122"/>
                <a:cs typeface="Times New Roman" panose="02020603050405020304" pitchFamily="18" charset="0"/>
              </a:rPr>
              <a:t> </a:t>
            </a:r>
            <a:r>
              <a:rPr lang="en-US" altLang="zh-CN" sz="1050" kern="100" dirty="0" err="1">
                <a:effectLst/>
                <a:latin typeface="等线" panose="02010600030101010101" pitchFamily="2" charset="-122"/>
                <a:ea typeface="等线" panose="02010600030101010101" pitchFamily="2" charset="-122"/>
                <a:cs typeface="Times New Roman" panose="02020603050405020304" pitchFamily="18" charset="0"/>
              </a:rPr>
              <a:t>NEuron</a:t>
            </a:r>
            <a:r>
              <a:rPr lang="zh-CN" altLang="zh-CN" sz="105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050" kern="100" dirty="0">
                <a:effectLst/>
                <a:latin typeface="等线" panose="02010600030101010101" pitchFamily="2" charset="-122"/>
                <a:ea typeface="等线" panose="02010600030101010101" pitchFamily="2" charset="-122"/>
                <a:cs typeface="Times New Roman" panose="02020603050405020304" pitchFamily="18" charset="0"/>
              </a:rPr>
              <a:t>ADALINE</a:t>
            </a:r>
            <a:r>
              <a:rPr lang="zh-CN" altLang="zh-CN" sz="1050" kern="100" dirty="0">
                <a:effectLst/>
                <a:latin typeface="等线" panose="02010600030101010101" pitchFamily="2" charset="-122"/>
                <a:ea typeface="等线" panose="02010600030101010101" pitchFamily="2" charset="-122"/>
                <a:cs typeface="Times New Roman" panose="02020603050405020304" pitchFamily="18" charset="0"/>
              </a:rPr>
              <a:t>），这是一种连续取值的线性加权求和阈值网络。后来，在此基础上发展了非线性多层自适应网络。</a:t>
            </a:r>
            <a:r>
              <a:rPr lang="en-US" altLang="zh-CN" sz="1050" kern="100" dirty="0" err="1">
                <a:effectLst/>
                <a:latin typeface="等线" panose="02010600030101010101" pitchFamily="2" charset="-122"/>
                <a:ea typeface="等线" panose="02010600030101010101" pitchFamily="2" charset="-122"/>
                <a:cs typeface="Times New Roman" panose="02020603050405020304" pitchFamily="18" charset="0"/>
              </a:rPr>
              <a:t>Widrow</a:t>
            </a:r>
            <a:r>
              <a:rPr lang="en-US" altLang="zh-CN" sz="1050" kern="100" dirty="0">
                <a:effectLst/>
                <a:latin typeface="等线" panose="02010600030101010101" pitchFamily="2" charset="-122"/>
                <a:ea typeface="等线" panose="02010600030101010101" pitchFamily="2" charset="-122"/>
                <a:cs typeface="Times New Roman" panose="02020603050405020304" pitchFamily="18" charset="0"/>
              </a:rPr>
              <a:t>-Hoff</a:t>
            </a:r>
            <a:r>
              <a:rPr lang="zh-CN" altLang="zh-CN" sz="1050" kern="100" dirty="0">
                <a:effectLst/>
                <a:latin typeface="等线" panose="02010600030101010101" pitchFamily="2" charset="-122"/>
                <a:ea typeface="等线" panose="02010600030101010101" pitchFamily="2" charset="-122"/>
                <a:cs typeface="Times New Roman" panose="02020603050405020304" pitchFamily="18" charset="0"/>
              </a:rPr>
              <a:t>的技术被称为最小均方误差（</a:t>
            </a:r>
            <a:r>
              <a:rPr lang="en-US" altLang="zh-CN" sz="1050" kern="100" dirty="0">
                <a:effectLst/>
                <a:latin typeface="等线" panose="02010600030101010101" pitchFamily="2" charset="-122"/>
                <a:ea typeface="等线" panose="02010600030101010101" pitchFamily="2" charset="-122"/>
                <a:cs typeface="Times New Roman" panose="02020603050405020304" pitchFamily="18" charset="0"/>
              </a:rPr>
              <a:t>least mean square</a:t>
            </a:r>
            <a:r>
              <a:rPr lang="zh-CN" altLang="zh-CN" sz="105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050" kern="100" dirty="0">
                <a:effectLst/>
                <a:latin typeface="等线" panose="02010600030101010101" pitchFamily="2" charset="-122"/>
                <a:ea typeface="等线" panose="02010600030101010101" pitchFamily="2" charset="-122"/>
                <a:cs typeface="Times New Roman" panose="02020603050405020304" pitchFamily="18" charset="0"/>
              </a:rPr>
              <a:t>LMS</a:t>
            </a:r>
            <a:r>
              <a:rPr lang="zh-CN" altLang="zh-CN" sz="1050" kern="100" dirty="0">
                <a:effectLst/>
                <a:latin typeface="等线" panose="02010600030101010101" pitchFamily="2" charset="-122"/>
                <a:ea typeface="等线" panose="02010600030101010101" pitchFamily="2" charset="-122"/>
                <a:cs typeface="Times New Roman" panose="02020603050405020304" pitchFamily="18" charset="0"/>
              </a:rPr>
              <a:t>）学习规则。从此神经网络的发展进入了第一个高潮期。</a:t>
            </a:r>
          </a:p>
          <a:p>
            <a:pPr indent="266700" algn="just"/>
            <a:r>
              <a:rPr lang="zh-CN" altLang="zh-CN" sz="1050" kern="100" dirty="0">
                <a:effectLst/>
                <a:latin typeface="等线" panose="02010600030101010101" pitchFamily="2" charset="-122"/>
                <a:ea typeface="等线" panose="02010600030101010101" pitchFamily="2" charset="-122"/>
                <a:cs typeface="Times New Roman" panose="02020603050405020304" pitchFamily="18" charset="0"/>
              </a:rPr>
              <a:t>的确，在有限范围内，感知机有较好的功能，并且收敛定理得到证明。单层感知机能够通过学习把线性可分的模式分开，但对像</a:t>
            </a:r>
            <a:r>
              <a:rPr lang="en-US" altLang="zh-CN" sz="1050" kern="100" dirty="0">
                <a:effectLst/>
                <a:latin typeface="等线" panose="02010600030101010101" pitchFamily="2" charset="-122"/>
                <a:ea typeface="等线" panose="02010600030101010101" pitchFamily="2" charset="-122"/>
                <a:cs typeface="Times New Roman" panose="02020603050405020304" pitchFamily="18" charset="0"/>
              </a:rPr>
              <a:t>XOR</a:t>
            </a:r>
            <a:r>
              <a:rPr lang="zh-CN" altLang="zh-CN" sz="1050" kern="100" dirty="0">
                <a:effectLst/>
                <a:latin typeface="等线" panose="02010600030101010101" pitchFamily="2" charset="-122"/>
                <a:ea typeface="等线" panose="02010600030101010101" pitchFamily="2" charset="-122"/>
                <a:cs typeface="Times New Roman" panose="02020603050405020304" pitchFamily="18" charset="0"/>
              </a:rPr>
              <a:t>（异或）这样简单的非线性问题却无法求解，这一点让人们大失所望，甚至开始怀疑神经网络的价值和潜力。</a:t>
            </a:r>
          </a:p>
          <a:p>
            <a:pPr indent="266700" algn="just"/>
            <a:r>
              <a:rPr lang="en-US" altLang="zh-CN" sz="1050" kern="100" dirty="0">
                <a:effectLst/>
                <a:latin typeface="等线" panose="02010600030101010101" pitchFamily="2" charset="-122"/>
                <a:ea typeface="等线" panose="02010600030101010101" pitchFamily="2" charset="-122"/>
                <a:cs typeface="Times New Roman" panose="02020603050405020304" pitchFamily="18" charset="0"/>
              </a:rPr>
              <a:t>1939</a:t>
            </a:r>
            <a:r>
              <a:rPr lang="zh-CN" altLang="zh-CN" sz="1050" kern="100" dirty="0">
                <a:effectLst/>
                <a:latin typeface="等线" panose="02010600030101010101" pitchFamily="2" charset="-122"/>
                <a:ea typeface="等线" panose="02010600030101010101" pitchFamily="2" charset="-122"/>
                <a:cs typeface="Times New Roman" panose="02020603050405020304" pitchFamily="18" charset="0"/>
              </a:rPr>
              <a:t>年，麻省理工学院著名的人工智能专家</a:t>
            </a:r>
            <a:r>
              <a:rPr lang="en-US" altLang="zh-CN" sz="1050" kern="100" dirty="0" err="1">
                <a:effectLst/>
                <a:latin typeface="等线" panose="02010600030101010101" pitchFamily="2" charset="-122"/>
                <a:ea typeface="等线" panose="02010600030101010101" pitchFamily="2" charset="-122"/>
                <a:cs typeface="Times New Roman" panose="02020603050405020304" pitchFamily="18" charset="0"/>
              </a:rPr>
              <a:t>M.Minsky</a:t>
            </a:r>
            <a:r>
              <a:rPr lang="zh-CN" altLang="zh-CN" sz="1050" kern="100" dirty="0">
                <a:effectLst/>
                <a:latin typeface="等线" panose="02010600030101010101" pitchFamily="2" charset="-122"/>
                <a:ea typeface="等线" panose="02010600030101010101" pitchFamily="2" charset="-122"/>
                <a:cs typeface="Times New Roman" panose="02020603050405020304" pitchFamily="18" charset="0"/>
              </a:rPr>
              <a:t>和</a:t>
            </a:r>
            <a:r>
              <a:rPr lang="en-US" altLang="zh-CN" sz="1050" kern="100" dirty="0" err="1">
                <a:effectLst/>
                <a:latin typeface="等线" panose="02010600030101010101" pitchFamily="2" charset="-122"/>
                <a:ea typeface="等线" panose="02010600030101010101" pitchFamily="2" charset="-122"/>
                <a:cs typeface="Times New Roman" panose="02020603050405020304" pitchFamily="18" charset="0"/>
              </a:rPr>
              <a:t>S.Papert</a:t>
            </a:r>
            <a:r>
              <a:rPr lang="zh-CN" altLang="zh-CN" sz="1050" kern="100" dirty="0">
                <a:effectLst/>
                <a:latin typeface="等线" panose="02010600030101010101" pitchFamily="2" charset="-122"/>
                <a:ea typeface="等线" panose="02010600030101010101" pitchFamily="2" charset="-122"/>
                <a:cs typeface="Times New Roman" panose="02020603050405020304" pitchFamily="18" charset="0"/>
              </a:rPr>
              <a:t>，出版了颇有影响力的</a:t>
            </a:r>
            <a:r>
              <a:rPr lang="en-US" altLang="zh-CN" sz="1050" kern="100" dirty="0">
                <a:effectLst/>
                <a:latin typeface="等线" panose="02010600030101010101" pitchFamily="2" charset="-122"/>
                <a:ea typeface="等线" panose="02010600030101010101" pitchFamily="2" charset="-122"/>
                <a:cs typeface="Times New Roman" panose="02020603050405020304" pitchFamily="18" charset="0"/>
              </a:rPr>
              <a:t>Perceptron</a:t>
            </a:r>
            <a:r>
              <a:rPr lang="zh-CN" altLang="zh-CN" sz="1050" kern="100" dirty="0">
                <a:effectLst/>
                <a:latin typeface="等线" panose="02010600030101010101" pitchFamily="2" charset="-122"/>
                <a:ea typeface="等线" panose="02010600030101010101" pitchFamily="2" charset="-122"/>
                <a:cs typeface="Times New Roman" panose="02020603050405020304" pitchFamily="18" charset="0"/>
              </a:rPr>
              <a:t>一书，从数学上剖析了简单神经网络的功能和局限性，并且指出多层感知器还不能找到有效的计算方法，由于</a:t>
            </a:r>
            <a:r>
              <a:rPr lang="en-US" altLang="zh-CN" sz="1050" kern="100" dirty="0" err="1">
                <a:effectLst/>
                <a:latin typeface="等线" panose="02010600030101010101" pitchFamily="2" charset="-122"/>
                <a:ea typeface="等线" panose="02010600030101010101" pitchFamily="2" charset="-122"/>
                <a:cs typeface="Times New Roman" panose="02020603050405020304" pitchFamily="18" charset="0"/>
              </a:rPr>
              <a:t>M.Minsky</a:t>
            </a:r>
            <a:r>
              <a:rPr lang="zh-CN" altLang="zh-CN" sz="1050" kern="100" dirty="0">
                <a:effectLst/>
                <a:latin typeface="等线" panose="02010600030101010101" pitchFamily="2" charset="-122"/>
                <a:ea typeface="等线" panose="02010600030101010101" pitchFamily="2" charset="-122"/>
                <a:cs typeface="Times New Roman" panose="02020603050405020304" pitchFamily="18" charset="0"/>
              </a:rPr>
              <a:t>在学术界的地位和影响，其悲观的结论，被大多数人不做进一步分析而接受；加之当时以逻辑推理为研究基础的人工智能和数字计算机的辉煌成就，大大减低了人们对神经网络研究的热情。</a:t>
            </a:r>
          </a:p>
        </p:txBody>
      </p:sp>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hape 38"/>
          <p:cNvSpPr>
            <a:spLocks noGrp="1"/>
          </p:cNvSpPr>
          <p:nvPr>
            <p:ph type="title" idx="4294967295"/>
          </p:nvPr>
        </p:nvSpPr>
        <p:spPr>
          <a:xfrm>
            <a:off x="457200" y="274637"/>
            <a:ext cx="8229600" cy="1143001"/>
          </a:xfrm>
          <a:prstGeom prst="rect">
            <a:avLst/>
          </a:prstGeom>
          <a:extLst>
            <a:ext uri="{C572A759-6A51-4108-AA02-DFA0A04FC94B}">
              <ma14:wrappingTextBoxFlag xmlns="" xmlns:ma14="http://schemas.microsoft.com/office/mac/drawingml/2011/main" val="1"/>
            </a:ext>
          </a:extLst>
        </p:spPr>
        <p:txBody>
          <a:bodyPr>
            <a:normAutofit/>
          </a:bodyPr>
          <a:lstStyle>
            <a:lvl1pPr defTabSz="539495">
              <a:defRPr sz="2596">
                <a:latin typeface="宋体"/>
                <a:ea typeface="宋体"/>
                <a:cs typeface="宋体"/>
                <a:sym typeface="宋体"/>
              </a:defRPr>
            </a:lvl1pPr>
          </a:lstStyle>
          <a:p>
            <a:pPr>
              <a:defRPr>
                <a:latin typeface="+mj-lt"/>
                <a:ea typeface="+mj-ea"/>
                <a:cs typeface="+mj-cs"/>
                <a:sym typeface="Calibri"/>
              </a:defRPr>
            </a:pPr>
            <a:r>
              <a:rPr lang="en-US" altLang="zh-CN" sz="2800" b="1" dirty="0">
                <a:latin typeface="宋体"/>
                <a:ea typeface="宋体"/>
                <a:cs typeface="宋体"/>
                <a:sym typeface="宋体"/>
              </a:rPr>
              <a:t>4.2  BP</a:t>
            </a:r>
            <a:r>
              <a:rPr lang="zh-CN" altLang="en-US" sz="2800" b="1" dirty="0">
                <a:latin typeface="宋体"/>
                <a:ea typeface="宋体"/>
                <a:cs typeface="宋体"/>
                <a:sym typeface="宋体"/>
              </a:rPr>
              <a:t>神经网络两个基础算法详解</a:t>
            </a:r>
            <a:endParaRPr lang="zh-CN" altLang="en-US" dirty="0">
              <a:latin typeface="宋体"/>
              <a:ea typeface="宋体"/>
              <a:cs typeface="宋体"/>
              <a:sym typeface="宋体"/>
            </a:endParaRPr>
          </a:p>
        </p:txBody>
      </p:sp>
      <p:sp>
        <p:nvSpPr>
          <p:cNvPr id="39" name="Shape 39"/>
          <p:cNvSpPr>
            <a:spLocks noGrp="1"/>
          </p:cNvSpPr>
          <p:nvPr>
            <p:ph type="body" sz="quarter" idx="4294967295"/>
          </p:nvPr>
        </p:nvSpPr>
        <p:spPr>
          <a:xfrm>
            <a:off x="317500" y="1417638"/>
            <a:ext cx="8229600" cy="611187"/>
          </a:xfrm>
          <a:prstGeom prst="rect">
            <a:avLst/>
          </a:prstGeom>
          <a:extLst>
            <a:ext uri="{C572A759-6A51-4108-AA02-DFA0A04FC94B}">
              <ma14:wrappingTextBoxFlag xmlns="" xmlns:ma14="http://schemas.microsoft.com/office/mac/drawingml/2011/main" val="1"/>
            </a:ext>
          </a:extLst>
        </p:spPr>
        <p:txBody>
          <a:bodyPr>
            <a:normAutofit/>
          </a:bodyPr>
          <a:lstStyle>
            <a:lvl1pPr marL="342899" indent="-342899">
              <a:buChar char="•"/>
              <a:defRPr sz="4000">
                <a:latin typeface="Songti SC Bold"/>
                <a:ea typeface="Songti SC Bold"/>
                <a:cs typeface="Songti SC Bold"/>
                <a:sym typeface="Songti SC Bold"/>
              </a:defRPr>
            </a:lvl1pPr>
          </a:lstStyle>
          <a:p>
            <a:pPr marL="0" indent="0">
              <a:buNone/>
            </a:pPr>
            <a:r>
              <a:rPr lang="en-US" altLang="zh-CN" sz="1800" b="1" kern="100" dirty="0">
                <a:effectLst/>
                <a:latin typeface="等线" panose="02010600030101010101" pitchFamily="2" charset="-122"/>
                <a:ea typeface="等线" panose="02010600030101010101" pitchFamily="2" charset="-122"/>
              </a:rPr>
              <a:t>4.2.1  </a:t>
            </a:r>
            <a:r>
              <a:rPr lang="zh-CN" altLang="en-US" sz="1800" b="1" kern="100" dirty="0">
                <a:effectLst/>
                <a:latin typeface="等线" panose="02010600030101010101" pitchFamily="2" charset="-122"/>
                <a:ea typeface="等线" panose="02010600030101010101" pitchFamily="2" charset="-122"/>
              </a:rPr>
              <a:t>最小二乘法（</a:t>
            </a:r>
            <a:r>
              <a:rPr lang="en-US" altLang="zh-CN" sz="1800" b="1" kern="100" dirty="0">
                <a:effectLst/>
                <a:latin typeface="等线" panose="02010600030101010101" pitchFamily="2" charset="-122"/>
                <a:ea typeface="等线" panose="02010600030101010101" pitchFamily="2" charset="-122"/>
              </a:rPr>
              <a:t>LS</a:t>
            </a:r>
            <a:r>
              <a:rPr lang="zh-CN" altLang="en-US" sz="1800" b="1" kern="100" dirty="0">
                <a:effectLst/>
                <a:latin typeface="等线" panose="02010600030101010101" pitchFamily="2" charset="-122"/>
                <a:ea typeface="等线" panose="02010600030101010101" pitchFamily="2" charset="-122"/>
              </a:rPr>
              <a:t>算法）详解</a:t>
            </a:r>
            <a:endParaRPr lang="zh-CN" altLang="en-US" dirty="0"/>
          </a:p>
        </p:txBody>
      </p:sp>
      <p:sp>
        <p:nvSpPr>
          <p:cNvPr id="13" name="文本框 12">
            <a:extLst>
              <a:ext uri="{FF2B5EF4-FFF2-40B4-BE49-F238E27FC236}">
                <a16:creationId xmlns:a16="http://schemas.microsoft.com/office/drawing/2014/main" id="{162616D3-B387-4594-9A1B-3E0F5AD99B6C}"/>
              </a:ext>
            </a:extLst>
          </p:cNvPr>
          <p:cNvSpPr txBox="1"/>
          <p:nvPr/>
        </p:nvSpPr>
        <p:spPr>
          <a:xfrm>
            <a:off x="457200" y="2133601"/>
            <a:ext cx="8089900" cy="203132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indent="266700"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LS</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算法是一种数学优化技术，也是一种机器学习常用算法。它通过最小化误差的平方和寻找数据的最佳函数匹配。利用最小二乘法可以简便地求得未知的数据，并使得这些求得的数据与实际数据之间误差的平方和为最小。最小二乘法还可用于曲线拟合。其他一些优化问题也可通过最小化能量或最大化熵用最小二乘法来表达。</a:t>
            </a:r>
          </a:p>
          <a:p>
            <a:pPr indent="266700"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由于最小二乘法不是本章的重点内容，笔者只通过一个图示演示一下</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LS</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算法的原理。</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LS</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算法原理如图</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4.5</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所示。</a:t>
            </a:r>
          </a:p>
        </p:txBody>
      </p:sp>
      <p:pic>
        <p:nvPicPr>
          <p:cNvPr id="6" name="图片 5">
            <a:extLst>
              <a:ext uri="{FF2B5EF4-FFF2-40B4-BE49-F238E27FC236}">
                <a16:creationId xmlns:a16="http://schemas.microsoft.com/office/drawing/2014/main" id="{CEC49421-979D-4651-9BD8-C279D6085D2F}"/>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5151120" y="3149263"/>
            <a:ext cx="3813810" cy="2672080"/>
          </a:xfrm>
          <a:prstGeom prst="rect">
            <a:avLst/>
          </a:prstGeom>
          <a:noFill/>
          <a:ln>
            <a:noFill/>
          </a:ln>
        </p:spPr>
      </p:pic>
    </p:spTree>
    <p:extLst>
      <p:ext uri="{BB962C8B-B14F-4D97-AF65-F5344CB8AC3E}">
        <p14:creationId xmlns:p14="http://schemas.microsoft.com/office/powerpoint/2010/main" val="2518759597"/>
      </p:ext>
    </p:extLst>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hape 38"/>
          <p:cNvSpPr>
            <a:spLocks noGrp="1"/>
          </p:cNvSpPr>
          <p:nvPr>
            <p:ph type="title" idx="4294967295"/>
          </p:nvPr>
        </p:nvSpPr>
        <p:spPr>
          <a:xfrm>
            <a:off x="457200" y="274637"/>
            <a:ext cx="8229600" cy="1143001"/>
          </a:xfrm>
          <a:prstGeom prst="rect">
            <a:avLst/>
          </a:prstGeom>
          <a:extLst>
            <a:ext uri="{C572A759-6A51-4108-AA02-DFA0A04FC94B}">
              <ma14:wrappingTextBoxFlag xmlns="" xmlns:ma14="http://schemas.microsoft.com/office/mac/drawingml/2011/main" val="1"/>
            </a:ext>
          </a:extLst>
        </p:spPr>
        <p:txBody>
          <a:bodyPr>
            <a:normAutofit/>
          </a:bodyPr>
          <a:lstStyle>
            <a:lvl1pPr defTabSz="539495">
              <a:defRPr sz="2596">
                <a:latin typeface="宋体"/>
                <a:ea typeface="宋体"/>
                <a:cs typeface="宋体"/>
                <a:sym typeface="宋体"/>
              </a:defRPr>
            </a:lvl1pPr>
          </a:lstStyle>
          <a:p>
            <a:pPr>
              <a:defRPr>
                <a:latin typeface="+mj-lt"/>
                <a:ea typeface="+mj-ea"/>
                <a:cs typeface="+mj-cs"/>
                <a:sym typeface="Calibri"/>
              </a:defRPr>
            </a:pPr>
            <a:r>
              <a:rPr lang="en-US" altLang="zh-CN" sz="2800" b="1" dirty="0">
                <a:latin typeface="宋体"/>
                <a:ea typeface="宋体"/>
                <a:cs typeface="宋体"/>
                <a:sym typeface="宋体"/>
              </a:rPr>
              <a:t>4.2  BP</a:t>
            </a:r>
            <a:r>
              <a:rPr lang="zh-CN" altLang="en-US" sz="2800" b="1" dirty="0">
                <a:latin typeface="宋体"/>
                <a:ea typeface="宋体"/>
                <a:cs typeface="宋体"/>
                <a:sym typeface="宋体"/>
              </a:rPr>
              <a:t>神经网络两个基础算法详解</a:t>
            </a:r>
            <a:endParaRPr lang="zh-CN" altLang="en-US" dirty="0">
              <a:latin typeface="宋体"/>
              <a:ea typeface="宋体"/>
              <a:cs typeface="宋体"/>
              <a:sym typeface="宋体"/>
            </a:endParaRPr>
          </a:p>
        </p:txBody>
      </p:sp>
      <p:sp>
        <p:nvSpPr>
          <p:cNvPr id="39" name="Shape 39"/>
          <p:cNvSpPr>
            <a:spLocks noGrp="1"/>
          </p:cNvSpPr>
          <p:nvPr>
            <p:ph type="body" sz="quarter" idx="4294967295"/>
          </p:nvPr>
        </p:nvSpPr>
        <p:spPr>
          <a:xfrm>
            <a:off x="317500" y="1417638"/>
            <a:ext cx="8229600" cy="630237"/>
          </a:xfrm>
          <a:prstGeom prst="rect">
            <a:avLst/>
          </a:prstGeom>
          <a:extLst>
            <a:ext uri="{C572A759-6A51-4108-AA02-DFA0A04FC94B}">
              <ma14:wrappingTextBoxFlag xmlns="" xmlns:ma14="http://schemas.microsoft.com/office/mac/drawingml/2011/main" val="1"/>
            </a:ext>
          </a:extLst>
        </p:spPr>
        <p:txBody>
          <a:bodyPr>
            <a:normAutofit/>
          </a:bodyPr>
          <a:lstStyle>
            <a:lvl1pPr marL="342899" indent="-342899">
              <a:buChar char="•"/>
              <a:defRPr sz="4000">
                <a:latin typeface="Songti SC Bold"/>
                <a:ea typeface="Songti SC Bold"/>
                <a:cs typeface="Songti SC Bold"/>
                <a:sym typeface="Songti SC Bold"/>
              </a:defRPr>
            </a:lvl1pPr>
          </a:lstStyle>
          <a:p>
            <a:pPr marL="0" indent="0">
              <a:buNone/>
            </a:pPr>
            <a:r>
              <a:rPr lang="en-US" altLang="zh-CN" sz="1800" b="1" kern="100" dirty="0">
                <a:effectLst/>
                <a:latin typeface="等线" panose="02010600030101010101" pitchFamily="2" charset="-122"/>
                <a:ea typeface="等线" panose="02010600030101010101" pitchFamily="2" charset="-122"/>
              </a:rPr>
              <a:t>4.2.2  </a:t>
            </a:r>
            <a:r>
              <a:rPr lang="zh-CN" altLang="en-US" sz="1800" b="1" kern="100" dirty="0">
                <a:effectLst/>
                <a:latin typeface="等线" panose="02010600030101010101" pitchFamily="2" charset="-122"/>
                <a:ea typeface="等线" panose="02010600030101010101" pitchFamily="2" charset="-122"/>
              </a:rPr>
              <a:t>道士下山的故事</a:t>
            </a:r>
            <a:r>
              <a:rPr lang="en-US" altLang="zh-CN" sz="1800" b="1" kern="100" dirty="0">
                <a:effectLst/>
                <a:latin typeface="等线" panose="02010600030101010101" pitchFamily="2" charset="-122"/>
                <a:ea typeface="等线" panose="02010600030101010101" pitchFamily="2" charset="-122"/>
              </a:rPr>
              <a:t>-</a:t>
            </a:r>
            <a:r>
              <a:rPr lang="zh-CN" altLang="en-US" sz="1800" b="1" kern="100" dirty="0">
                <a:effectLst/>
                <a:latin typeface="等线" panose="02010600030101010101" pitchFamily="2" charset="-122"/>
                <a:ea typeface="等线" panose="02010600030101010101" pitchFamily="2" charset="-122"/>
              </a:rPr>
              <a:t>梯度下降算法</a:t>
            </a:r>
            <a:endParaRPr lang="zh-CN" altLang="en-US" dirty="0"/>
          </a:p>
        </p:txBody>
      </p:sp>
      <p:sp>
        <p:nvSpPr>
          <p:cNvPr id="13" name="文本框 12">
            <a:extLst>
              <a:ext uri="{FF2B5EF4-FFF2-40B4-BE49-F238E27FC236}">
                <a16:creationId xmlns:a16="http://schemas.microsoft.com/office/drawing/2014/main" id="{3D14EFC6-4C68-4087-9269-4A2026F9AB64}"/>
              </a:ext>
            </a:extLst>
          </p:cNvPr>
          <p:cNvSpPr txBox="1"/>
          <p:nvPr/>
        </p:nvSpPr>
        <p:spPr>
          <a:xfrm>
            <a:off x="31749" y="1863209"/>
            <a:ext cx="8515351"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indent="266700"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在介绍随机梯度下降算法之前，给大家讲一个道士下山的故事。请读者看图。</a:t>
            </a:r>
          </a:p>
        </p:txBody>
      </p:sp>
      <p:pic>
        <p:nvPicPr>
          <p:cNvPr id="6" name="图片 5">
            <a:extLst>
              <a:ext uri="{FF2B5EF4-FFF2-40B4-BE49-F238E27FC236}">
                <a16:creationId xmlns:a16="http://schemas.microsoft.com/office/drawing/2014/main" id="{584E8CF0-2F71-423C-82A7-BAE20C5CC5CB}"/>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4072255" y="2280167"/>
            <a:ext cx="4614545" cy="2438400"/>
          </a:xfrm>
          <a:prstGeom prst="rect">
            <a:avLst/>
          </a:prstGeom>
          <a:noFill/>
          <a:ln>
            <a:noFill/>
          </a:ln>
        </p:spPr>
      </p:pic>
      <p:sp>
        <p:nvSpPr>
          <p:cNvPr id="10" name="文本框 9">
            <a:extLst>
              <a:ext uri="{FF2B5EF4-FFF2-40B4-BE49-F238E27FC236}">
                <a16:creationId xmlns:a16="http://schemas.microsoft.com/office/drawing/2014/main" id="{4C8B44AE-DAB9-4101-A5B9-E93AA132D76C}"/>
              </a:ext>
            </a:extLst>
          </p:cNvPr>
          <p:cNvSpPr txBox="1"/>
          <p:nvPr/>
        </p:nvSpPr>
        <p:spPr>
          <a:xfrm>
            <a:off x="631825" y="2594135"/>
            <a:ext cx="3244850" cy="203132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r>
              <a:rPr lang="zh-CN" altLang="zh-CN" sz="1050" kern="100" dirty="0">
                <a:effectLst/>
                <a:latin typeface="等线" panose="02010600030101010101" pitchFamily="2" charset="-122"/>
                <a:ea typeface="等线" panose="02010600030101010101" pitchFamily="2" charset="-122"/>
                <a:cs typeface="Times New Roman" panose="02020603050405020304" pitchFamily="18" charset="0"/>
              </a:rPr>
              <a:t>这是一个模拟随机梯度下降算法的演示图。为了便于理解，我们将其比喻成道士想要出去游玩的一座山。</a:t>
            </a:r>
          </a:p>
          <a:p>
            <a:pPr indent="266700" algn="just"/>
            <a:r>
              <a:rPr lang="zh-CN" altLang="zh-CN" sz="1050" kern="100" dirty="0">
                <a:effectLst/>
                <a:latin typeface="等线" panose="02010600030101010101" pitchFamily="2" charset="-122"/>
                <a:ea typeface="等线" panose="02010600030101010101" pitchFamily="2" charset="-122"/>
                <a:cs typeface="Times New Roman" panose="02020603050405020304" pitchFamily="18" charset="0"/>
              </a:rPr>
              <a:t>设想道士有一天和道友一起到一座不太熟悉的山上去玩，在兴趣盎然中很快登上了山顶。但是天有不测，下起了雨。如果这时需要道士和其同来的道友用最快的速度下山，那么怎么办呢？</a:t>
            </a:r>
          </a:p>
          <a:p>
            <a:pPr indent="266700" algn="just"/>
            <a:r>
              <a:rPr lang="zh-CN" altLang="zh-CN" sz="1050" kern="100" dirty="0">
                <a:effectLst/>
                <a:latin typeface="等线" panose="02010600030101010101" pitchFamily="2" charset="-122"/>
                <a:ea typeface="等线" panose="02010600030101010101" pitchFamily="2" charset="-122"/>
                <a:cs typeface="Times New Roman" panose="02020603050405020304" pitchFamily="18" charset="0"/>
              </a:rPr>
              <a:t>如果想以最快的速度下山，那么最快的办法就是顺着坡度最陡峭的地方走下去。但是由于不熟悉路，道士在下山的过程中，每走过一段路程就需要停下来观望，从而选择最陡峭的下山路。这样一路走下来的话，可以在最短时间内走到底。</a:t>
            </a:r>
          </a:p>
        </p:txBody>
      </p:sp>
    </p:spTree>
    <p:extLst>
      <p:ext uri="{BB962C8B-B14F-4D97-AF65-F5344CB8AC3E}">
        <p14:creationId xmlns:p14="http://schemas.microsoft.com/office/powerpoint/2010/main" val="444067998"/>
      </p:ext>
    </p:extLst>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hape 38"/>
          <p:cNvSpPr>
            <a:spLocks noGrp="1"/>
          </p:cNvSpPr>
          <p:nvPr>
            <p:ph type="title" idx="4294967295"/>
          </p:nvPr>
        </p:nvSpPr>
        <p:spPr>
          <a:xfrm>
            <a:off x="457200" y="274637"/>
            <a:ext cx="8229600" cy="1143001"/>
          </a:xfrm>
          <a:prstGeom prst="rect">
            <a:avLst/>
          </a:prstGeom>
          <a:extLst>
            <a:ext uri="{C572A759-6A51-4108-AA02-DFA0A04FC94B}">
              <ma14:wrappingTextBoxFlag xmlns:ma14="http://schemas.microsoft.com/office/mac/drawingml/2011/main" xmlns="" val="1"/>
            </a:ext>
          </a:extLst>
        </p:spPr>
        <p:txBody>
          <a:bodyPr>
            <a:normAutofit/>
          </a:bodyPr>
          <a:lstStyle>
            <a:lvl1pPr defTabSz="539495">
              <a:defRPr sz="2596">
                <a:latin typeface="宋体"/>
                <a:ea typeface="宋体"/>
                <a:cs typeface="宋体"/>
                <a:sym typeface="宋体"/>
              </a:defRPr>
            </a:lvl1pPr>
          </a:lstStyle>
          <a:p>
            <a:pPr>
              <a:defRPr>
                <a:latin typeface="+mj-lt"/>
                <a:ea typeface="+mj-ea"/>
                <a:cs typeface="+mj-cs"/>
                <a:sym typeface="Calibri"/>
              </a:defRPr>
            </a:pPr>
            <a:r>
              <a:rPr lang="en-US" altLang="zh-CN" sz="3600" b="1" dirty="0">
                <a:latin typeface="宋体"/>
                <a:ea typeface="宋体"/>
                <a:cs typeface="宋体"/>
                <a:sym typeface="宋体"/>
              </a:rPr>
              <a:t>4.2  BP</a:t>
            </a:r>
            <a:r>
              <a:rPr lang="zh-CN" altLang="en-US" sz="3600" b="1" dirty="0">
                <a:latin typeface="宋体"/>
                <a:ea typeface="宋体"/>
                <a:cs typeface="宋体"/>
                <a:sym typeface="宋体"/>
              </a:rPr>
              <a:t>神经网络两个基础算法详解</a:t>
            </a:r>
          </a:p>
        </p:txBody>
      </p:sp>
      <p:sp>
        <p:nvSpPr>
          <p:cNvPr id="6" name="文本框 5">
            <a:extLst>
              <a:ext uri="{FF2B5EF4-FFF2-40B4-BE49-F238E27FC236}">
                <a16:creationId xmlns:a16="http://schemas.microsoft.com/office/drawing/2014/main" id="{77E74240-1CEE-4E1E-B360-53A2BD352F78}"/>
              </a:ext>
            </a:extLst>
          </p:cNvPr>
          <p:cNvSpPr txBox="1"/>
          <p:nvPr/>
        </p:nvSpPr>
        <p:spPr>
          <a:xfrm>
            <a:off x="209550" y="1417638"/>
            <a:ext cx="6657975" cy="51347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lnSpc>
                <a:spcPct val="173000"/>
              </a:lnSpc>
              <a:spcBef>
                <a:spcPts val="1300"/>
              </a:spcBef>
              <a:spcAft>
                <a:spcPts val="1300"/>
              </a:spcAft>
            </a:pPr>
            <a:r>
              <a:rPr lang="en-US" altLang="zh-CN" sz="1800" b="1" kern="100" dirty="0">
                <a:effectLst/>
                <a:latin typeface="等线" panose="02010600030101010101" pitchFamily="2" charset="-122"/>
                <a:ea typeface="等线" panose="02010600030101010101" pitchFamily="2" charset="-122"/>
              </a:rPr>
              <a:t>4.2.3  </a:t>
            </a:r>
            <a:r>
              <a:rPr lang="zh-CN" altLang="en-US" sz="1800" b="1" kern="100" dirty="0">
                <a:effectLst/>
                <a:latin typeface="等线" panose="02010600030101010101" pitchFamily="2" charset="-122"/>
                <a:ea typeface="等线" panose="02010600030101010101" pitchFamily="2" charset="-122"/>
              </a:rPr>
              <a:t>最下二乘法的梯度下降算法以及</a:t>
            </a:r>
            <a:r>
              <a:rPr lang="en-US" altLang="zh-CN" sz="1800" b="1" kern="100" dirty="0">
                <a:effectLst/>
                <a:latin typeface="等线" panose="02010600030101010101" pitchFamily="2" charset="-122"/>
                <a:ea typeface="等线" panose="02010600030101010101" pitchFamily="2" charset="-122"/>
              </a:rPr>
              <a:t>python</a:t>
            </a:r>
            <a:r>
              <a:rPr lang="zh-CN" altLang="en-US" sz="1800" b="1" kern="100" dirty="0">
                <a:effectLst/>
                <a:latin typeface="等线" panose="02010600030101010101" pitchFamily="2" charset="-122"/>
                <a:ea typeface="等线" panose="02010600030101010101" pitchFamily="2" charset="-122"/>
              </a:rPr>
              <a:t>实现</a:t>
            </a:r>
            <a:endParaRPr lang="zh-CN" altLang="zh-CN" sz="1800" b="1" kern="100" dirty="0">
              <a:effectLst/>
              <a:latin typeface="等线" panose="02010600030101010101" pitchFamily="2" charset="-122"/>
              <a:ea typeface="等线" panose="02010600030101010101" pitchFamily="2" charset="-122"/>
            </a:endParaRPr>
          </a:p>
        </p:txBody>
      </p:sp>
      <p:sp>
        <p:nvSpPr>
          <p:cNvPr id="8" name="文本框 7">
            <a:extLst>
              <a:ext uri="{FF2B5EF4-FFF2-40B4-BE49-F238E27FC236}">
                <a16:creationId xmlns:a16="http://schemas.microsoft.com/office/drawing/2014/main" id="{933FD8AC-9C44-488E-A07A-0C888EFAD5C6}"/>
              </a:ext>
            </a:extLst>
          </p:cNvPr>
          <p:cNvSpPr txBox="1"/>
          <p:nvPr/>
        </p:nvSpPr>
        <p:spPr>
          <a:xfrm>
            <a:off x="457201" y="2047875"/>
            <a:ext cx="8229599" cy="30060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从前面的介绍可以看到，任何一个需要进行梯度下降的函数可以被比作一座山，而梯度下降的目标就是找到这座山的底部，也就是函数的最小值。根据之前道士下山的场景，最快的下山方式就是找到最为陡峭的山路，然后沿着这条山路走下去，直到下一个观望点。之后在下一个观望点重复这个过程，重复这个过程，寻找最为陡峭的山路，直到山脚。</a:t>
            </a:r>
          </a:p>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下面作者带读者实现这个过程去求解最小二乘法的最小值，但是在开始之前有部分需要读者掌握的数学原理展示给读者。</a:t>
            </a:r>
          </a:p>
          <a:p>
            <a:pPr algn="just"/>
            <a:r>
              <a:rPr lang="en-US" altLang="zh-CN" sz="1800" b="1" kern="100" dirty="0">
                <a:effectLst/>
                <a:latin typeface="等线" panose="02010600030101010101" pitchFamily="2" charset="-122"/>
                <a:ea typeface="等线" panose="02010600030101010101" pitchFamily="2" charset="-122"/>
                <a:cs typeface="Times New Roman" panose="02020603050405020304" pitchFamily="18" charset="0"/>
              </a:rPr>
              <a:t>1</a:t>
            </a:r>
            <a:r>
              <a:rPr lang="zh-CN" altLang="zh-CN" sz="1800" b="1" kern="100" dirty="0">
                <a:effectLst/>
                <a:latin typeface="等线" panose="02010600030101010101" pitchFamily="2" charset="-122"/>
                <a:ea typeface="等线" panose="02010600030101010101" pitchFamily="2" charset="-122"/>
                <a:cs typeface="Times New Roman" panose="02020603050405020304" pitchFamily="18" charset="0"/>
              </a:rPr>
              <a:t>、微分</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marL="228600" indent="266700"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高等数学中对函数微分的解释有很多，而最主要的有</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2</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种：</a:t>
            </a:r>
          </a:p>
          <a:p>
            <a:pPr marL="342900" lvl="0" indent="-342900" algn="just">
              <a:lnSpc>
                <a:spcPts val="1570"/>
              </a:lnSpc>
              <a:buFont typeface="Wingdings" panose="05000000000000000000" pitchFamily="2" charset="2"/>
              <a:buChar char=""/>
            </a:pP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函数曲线上某点切线的斜率；</a:t>
            </a:r>
          </a:p>
          <a:p>
            <a:pPr marL="342900" lvl="0" indent="-342900" algn="just">
              <a:lnSpc>
                <a:spcPts val="1570"/>
              </a:lnSpc>
              <a:buFont typeface="Wingdings" panose="05000000000000000000" pitchFamily="2" charset="2"/>
              <a:buChar char=""/>
            </a:pP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函数的变化率。</a:t>
            </a:r>
          </a:p>
        </p:txBody>
      </p:sp>
    </p:spTree>
    <p:extLst>
      <p:ext uri="{BB962C8B-B14F-4D97-AF65-F5344CB8AC3E}">
        <p14:creationId xmlns:p14="http://schemas.microsoft.com/office/powerpoint/2010/main" val="1809390250"/>
      </p:ext>
    </p:extLst>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hape 38"/>
          <p:cNvSpPr>
            <a:spLocks noGrp="1"/>
          </p:cNvSpPr>
          <p:nvPr>
            <p:ph type="title" idx="4294967295"/>
          </p:nvPr>
        </p:nvSpPr>
        <p:spPr>
          <a:xfrm>
            <a:off x="457200" y="274637"/>
            <a:ext cx="8229600" cy="1143001"/>
          </a:xfrm>
          <a:prstGeom prst="rect">
            <a:avLst/>
          </a:prstGeom>
          <a:extLst>
            <a:ext uri="{C572A759-6A51-4108-AA02-DFA0A04FC94B}">
              <ma14:wrappingTextBoxFlag xmlns="" xmlns:ma14="http://schemas.microsoft.com/office/mac/drawingml/2011/main" val="1"/>
            </a:ext>
          </a:extLst>
        </p:spPr>
        <p:txBody>
          <a:bodyPr>
            <a:normAutofit/>
          </a:bodyPr>
          <a:lstStyle>
            <a:lvl1pPr defTabSz="539495">
              <a:defRPr sz="2596">
                <a:latin typeface="宋体"/>
                <a:ea typeface="宋体"/>
                <a:cs typeface="宋体"/>
                <a:sym typeface="宋体"/>
              </a:defRPr>
            </a:lvl1pPr>
          </a:lstStyle>
          <a:p>
            <a:pPr>
              <a:defRPr>
                <a:latin typeface="+mj-lt"/>
                <a:ea typeface="+mj-ea"/>
                <a:cs typeface="+mj-cs"/>
                <a:sym typeface="Calibri"/>
              </a:defRPr>
            </a:pPr>
            <a:r>
              <a:rPr lang="en-US" altLang="zh-CN" sz="2800" b="1" dirty="0">
                <a:latin typeface="宋体"/>
                <a:ea typeface="宋体"/>
                <a:cs typeface="宋体"/>
                <a:sym typeface="宋体"/>
              </a:rPr>
              <a:t>4.3  </a:t>
            </a:r>
            <a:r>
              <a:rPr lang="zh-CN" altLang="en-US" sz="2800" b="1" dirty="0">
                <a:latin typeface="宋体"/>
                <a:ea typeface="宋体"/>
                <a:cs typeface="宋体"/>
                <a:sym typeface="宋体"/>
              </a:rPr>
              <a:t>反馈神经网络反向传播算法介绍</a:t>
            </a:r>
            <a:endParaRPr lang="zh-CN" altLang="en-US" dirty="0">
              <a:latin typeface="宋体"/>
              <a:ea typeface="宋体"/>
              <a:cs typeface="宋体"/>
              <a:sym typeface="宋体"/>
            </a:endParaRPr>
          </a:p>
        </p:txBody>
      </p:sp>
      <p:sp>
        <p:nvSpPr>
          <p:cNvPr id="6" name="文本框 5">
            <a:extLst>
              <a:ext uri="{FF2B5EF4-FFF2-40B4-BE49-F238E27FC236}">
                <a16:creationId xmlns:a16="http://schemas.microsoft.com/office/drawing/2014/main" id="{29D0C010-5E46-4FBB-AFD9-FA4A40768EF5}"/>
              </a:ext>
            </a:extLst>
          </p:cNvPr>
          <p:cNvSpPr txBox="1"/>
          <p:nvPr/>
        </p:nvSpPr>
        <p:spPr>
          <a:xfrm>
            <a:off x="180975" y="1314450"/>
            <a:ext cx="8763000" cy="51347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lnSpc>
                <a:spcPct val="173000"/>
              </a:lnSpc>
              <a:spcBef>
                <a:spcPts val="1300"/>
              </a:spcBef>
              <a:spcAft>
                <a:spcPts val="1300"/>
              </a:spcAft>
            </a:pPr>
            <a:r>
              <a:rPr lang="en-US" altLang="zh-CN" sz="1800" b="1" kern="100" dirty="0">
                <a:effectLst/>
                <a:latin typeface="等线" panose="02010600030101010101" pitchFamily="2" charset="-122"/>
                <a:ea typeface="等线" panose="02010600030101010101" pitchFamily="2" charset="-122"/>
              </a:rPr>
              <a:t>4.3.1  </a:t>
            </a:r>
            <a:r>
              <a:rPr lang="zh-CN" altLang="en-US" sz="1800" b="1" kern="100" dirty="0">
                <a:effectLst/>
                <a:latin typeface="等线" panose="02010600030101010101" pitchFamily="2" charset="-122"/>
                <a:ea typeface="等线" panose="02010600030101010101" pitchFamily="2" charset="-122"/>
              </a:rPr>
              <a:t>深度学习基础</a:t>
            </a:r>
            <a:endParaRPr lang="zh-CN" altLang="zh-CN" sz="1800" b="1" kern="100" dirty="0">
              <a:effectLst/>
              <a:latin typeface="等线" panose="02010600030101010101" pitchFamily="2" charset="-122"/>
              <a:ea typeface="等线" panose="02010600030101010101" pitchFamily="2" charset="-122"/>
            </a:endParaRPr>
          </a:p>
        </p:txBody>
      </p:sp>
      <p:sp>
        <p:nvSpPr>
          <p:cNvPr id="12" name="文本框 11">
            <a:extLst>
              <a:ext uri="{FF2B5EF4-FFF2-40B4-BE49-F238E27FC236}">
                <a16:creationId xmlns:a16="http://schemas.microsoft.com/office/drawing/2014/main" id="{C1F7676E-D47F-425D-B29B-D625ECF06481}"/>
              </a:ext>
            </a:extLst>
          </p:cNvPr>
          <p:cNvSpPr txBox="1"/>
          <p:nvPr/>
        </p:nvSpPr>
        <p:spPr>
          <a:xfrm>
            <a:off x="342900" y="2028826"/>
            <a:ext cx="7686675" cy="397031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indent="266700"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机器学习在理论上可以看做是统计学在计算机科学上的一个应用。在统计学上，一个非常重要的内容就是拟合和预测，即基于以往的数据，建立光滑的曲线模型实现数据结果与数据变量的对应关系。</a:t>
            </a:r>
          </a:p>
          <a:p>
            <a:pPr indent="266700"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深度学习为统计学的应用，同样是为了这个目的，寻找结果与影响因素的一一对应关系。只不过样本点由狭义的</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x</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和</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y</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扩展到向量、矩阵等广义的对应点。此时，由于数据的复杂，对应关系模型的复杂度也随之增加，而不能使用一个简单的函数表达。</a:t>
            </a:r>
          </a:p>
          <a:p>
            <a:pPr indent="266700"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数学上通过建立复杂的高次多元函数解决复杂模型拟合的问题，但是大多数都失败，因为过于复杂的函数式是无法进行求解，也就是其公式的获取不可能。</a:t>
            </a:r>
          </a:p>
          <a:p>
            <a:pPr indent="266700"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基于前人的研究，科研工作人员发现可以通过神经网络来表示这样的一个一一对应关系，而神经网络本质就是一个多元复合函数，通过增加神经网络的层次和神经单元，可以更好地表达函数的复合关系。</a:t>
            </a:r>
          </a:p>
          <a:p>
            <a:pPr algn="just"/>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551130021"/>
      </p:ext>
    </p:extLst>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hape 38"/>
          <p:cNvSpPr>
            <a:spLocks noGrp="1"/>
          </p:cNvSpPr>
          <p:nvPr>
            <p:ph type="title" idx="4294967295"/>
          </p:nvPr>
        </p:nvSpPr>
        <p:spPr>
          <a:xfrm>
            <a:off x="457200" y="274637"/>
            <a:ext cx="8229600" cy="1143001"/>
          </a:xfrm>
          <a:prstGeom prst="rect">
            <a:avLst/>
          </a:prstGeom>
          <a:extLst>
            <a:ext uri="{C572A759-6A51-4108-AA02-DFA0A04FC94B}">
              <ma14:wrappingTextBoxFlag xmlns:ma14="http://schemas.microsoft.com/office/mac/drawingml/2011/main" xmlns="" val="1"/>
            </a:ext>
          </a:extLst>
        </p:spPr>
        <p:txBody>
          <a:bodyPr>
            <a:normAutofit/>
          </a:bodyPr>
          <a:lstStyle>
            <a:lvl1pPr defTabSz="539495">
              <a:defRPr sz="2596">
                <a:latin typeface="宋体"/>
                <a:ea typeface="宋体"/>
                <a:cs typeface="宋体"/>
                <a:sym typeface="宋体"/>
              </a:defRPr>
            </a:lvl1pPr>
          </a:lstStyle>
          <a:p>
            <a:pPr>
              <a:defRPr>
                <a:latin typeface="+mj-lt"/>
                <a:ea typeface="+mj-ea"/>
                <a:cs typeface="+mj-cs"/>
                <a:sym typeface="Calibri"/>
              </a:defRPr>
            </a:pPr>
            <a:r>
              <a:rPr lang="en-US" altLang="zh-CN" sz="2800" b="1" dirty="0">
                <a:latin typeface="宋体"/>
                <a:ea typeface="宋体"/>
                <a:cs typeface="宋体"/>
                <a:sym typeface="宋体"/>
              </a:rPr>
              <a:t>4.3  </a:t>
            </a:r>
            <a:r>
              <a:rPr lang="zh-CN" altLang="en-US" sz="2800" b="1" dirty="0">
                <a:latin typeface="宋体"/>
                <a:ea typeface="宋体"/>
                <a:cs typeface="宋体"/>
                <a:sym typeface="宋体"/>
              </a:rPr>
              <a:t>反馈神经网络反向传播算法介绍</a:t>
            </a:r>
          </a:p>
        </p:txBody>
      </p:sp>
      <p:sp>
        <p:nvSpPr>
          <p:cNvPr id="6" name="文本框 5">
            <a:extLst>
              <a:ext uri="{FF2B5EF4-FFF2-40B4-BE49-F238E27FC236}">
                <a16:creationId xmlns:a16="http://schemas.microsoft.com/office/drawing/2014/main" id="{29D0C010-5E46-4FBB-AFD9-FA4A40768EF5}"/>
              </a:ext>
            </a:extLst>
          </p:cNvPr>
          <p:cNvSpPr txBox="1"/>
          <p:nvPr/>
        </p:nvSpPr>
        <p:spPr>
          <a:xfrm>
            <a:off x="180975" y="1314450"/>
            <a:ext cx="8763000"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spcBef>
                <a:spcPts val="1200"/>
              </a:spcBef>
              <a:spcAft>
                <a:spcPts val="1200"/>
              </a:spcAft>
            </a:pPr>
            <a:r>
              <a:rPr lang="en-US" altLang="zh-CN" sz="1800" kern="100" dirty="0">
                <a:effectLst/>
                <a:latin typeface="方正姚体" panose="02010601030101010101" pitchFamily="2" charset="-122"/>
                <a:ea typeface="方正姚体" panose="02010601030101010101" pitchFamily="2" charset="-122"/>
                <a:cs typeface="Times New Roman" panose="02020603050405020304" pitchFamily="18" charset="0"/>
              </a:rPr>
              <a:t>4.3.2  </a:t>
            </a:r>
            <a:r>
              <a:rPr lang="zh-CN" altLang="zh-CN" sz="1800" kern="100" dirty="0">
                <a:effectLst/>
                <a:latin typeface="方正姚体" panose="02010601030101010101" pitchFamily="2" charset="-122"/>
                <a:ea typeface="方正姚体" panose="02010601030101010101" pitchFamily="2" charset="-122"/>
                <a:cs typeface="Times New Roman" panose="02020603050405020304" pitchFamily="18" charset="0"/>
              </a:rPr>
              <a:t>链式求导法则</a:t>
            </a:r>
          </a:p>
        </p:txBody>
      </p:sp>
      <p:pic>
        <p:nvPicPr>
          <p:cNvPr id="10" name="图片 9">
            <a:extLst>
              <a:ext uri="{FF2B5EF4-FFF2-40B4-BE49-F238E27FC236}">
                <a16:creationId xmlns:a16="http://schemas.microsoft.com/office/drawing/2014/main" id="{E34944FE-B613-44E5-B507-D9982142EB83}"/>
              </a:ext>
            </a:extLst>
          </p:cNvPr>
          <p:cNvPicPr>
            <a:picLocks noChangeAspect="1"/>
          </p:cNvPicPr>
          <p:nvPr/>
        </p:nvPicPr>
        <p:blipFill>
          <a:blip r:embed="rId2"/>
          <a:stretch>
            <a:fillRect/>
          </a:stretch>
        </p:blipFill>
        <p:spPr>
          <a:xfrm>
            <a:off x="1190625" y="2068487"/>
            <a:ext cx="6034659" cy="2428075"/>
          </a:xfrm>
          <a:prstGeom prst="rect">
            <a:avLst/>
          </a:prstGeom>
        </p:spPr>
      </p:pic>
    </p:spTree>
    <p:extLst>
      <p:ext uri="{BB962C8B-B14F-4D97-AF65-F5344CB8AC3E}">
        <p14:creationId xmlns:p14="http://schemas.microsoft.com/office/powerpoint/2010/main" val="1397154366"/>
      </p:ext>
    </p:extLst>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hape 38"/>
          <p:cNvSpPr>
            <a:spLocks noGrp="1"/>
          </p:cNvSpPr>
          <p:nvPr>
            <p:ph type="title" idx="4294967295"/>
          </p:nvPr>
        </p:nvSpPr>
        <p:spPr>
          <a:xfrm>
            <a:off x="457200" y="274637"/>
            <a:ext cx="8229600" cy="1143001"/>
          </a:xfrm>
          <a:prstGeom prst="rect">
            <a:avLst/>
          </a:prstGeom>
          <a:extLst>
            <a:ext uri="{C572A759-6A51-4108-AA02-DFA0A04FC94B}">
              <ma14:wrappingTextBoxFlag xmlns="" xmlns:ma14="http://schemas.microsoft.com/office/mac/drawingml/2011/main" val="1"/>
            </a:ext>
          </a:extLst>
        </p:spPr>
        <p:txBody>
          <a:bodyPr>
            <a:normAutofit/>
          </a:bodyPr>
          <a:lstStyle>
            <a:lvl1pPr defTabSz="539495">
              <a:defRPr sz="2596">
                <a:latin typeface="宋体"/>
                <a:ea typeface="宋体"/>
                <a:cs typeface="宋体"/>
                <a:sym typeface="宋体"/>
              </a:defRPr>
            </a:lvl1pPr>
          </a:lstStyle>
          <a:p>
            <a:pPr>
              <a:defRPr>
                <a:latin typeface="+mj-lt"/>
                <a:ea typeface="+mj-ea"/>
                <a:cs typeface="+mj-cs"/>
                <a:sym typeface="Calibri"/>
              </a:defRPr>
            </a:pPr>
            <a:r>
              <a:rPr lang="en-US" altLang="zh-CN" sz="2800" b="1" dirty="0">
                <a:latin typeface="宋体"/>
                <a:ea typeface="宋体"/>
                <a:cs typeface="宋体"/>
                <a:sym typeface="宋体"/>
              </a:rPr>
              <a:t>4.3  </a:t>
            </a:r>
            <a:r>
              <a:rPr lang="zh-CN" altLang="en-US" sz="2800" b="1" dirty="0">
                <a:latin typeface="宋体"/>
                <a:ea typeface="宋体"/>
                <a:cs typeface="宋体"/>
                <a:sym typeface="宋体"/>
              </a:rPr>
              <a:t>反馈神经网络反向传播算法介绍</a:t>
            </a:r>
            <a:endParaRPr lang="zh-CN" altLang="en-US" dirty="0">
              <a:latin typeface="宋体"/>
              <a:ea typeface="宋体"/>
              <a:cs typeface="宋体"/>
              <a:sym typeface="宋体"/>
            </a:endParaRPr>
          </a:p>
        </p:txBody>
      </p:sp>
      <p:sp>
        <p:nvSpPr>
          <p:cNvPr id="6" name="文本框 5">
            <a:extLst>
              <a:ext uri="{FF2B5EF4-FFF2-40B4-BE49-F238E27FC236}">
                <a16:creationId xmlns:a16="http://schemas.microsoft.com/office/drawing/2014/main" id="{29D0C010-5E46-4FBB-AFD9-FA4A40768EF5}"/>
              </a:ext>
            </a:extLst>
          </p:cNvPr>
          <p:cNvSpPr txBox="1"/>
          <p:nvPr/>
        </p:nvSpPr>
        <p:spPr>
          <a:xfrm>
            <a:off x="180975" y="1314450"/>
            <a:ext cx="8763000" cy="47814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lnSpc>
                <a:spcPct val="156000"/>
              </a:lnSpc>
              <a:spcBef>
                <a:spcPts val="1400"/>
              </a:spcBef>
              <a:spcAft>
                <a:spcPts val="1450"/>
              </a:spcAft>
            </a:pPr>
            <a:r>
              <a:rPr lang="en-US" altLang="zh-CN" sz="1800" b="1" kern="100" dirty="0">
                <a:effectLst/>
                <a:latin typeface="等线 Light" panose="02010600030101010101" pitchFamily="2" charset="-122"/>
                <a:ea typeface="等线 Light" panose="02010600030101010101" pitchFamily="2" charset="-122"/>
                <a:cs typeface="Times New Roman" panose="02020603050405020304" pitchFamily="18" charset="0"/>
              </a:rPr>
              <a:t>4.3.3  </a:t>
            </a:r>
            <a:r>
              <a:rPr lang="zh-CN" altLang="en-US" sz="1800" b="1" kern="100" dirty="0">
                <a:effectLst/>
                <a:latin typeface="等线 Light" panose="02010600030101010101" pitchFamily="2" charset="-122"/>
                <a:ea typeface="等线 Light" panose="02010600030101010101" pitchFamily="2" charset="-122"/>
                <a:cs typeface="Times New Roman" panose="02020603050405020304" pitchFamily="18" charset="0"/>
              </a:rPr>
              <a:t>反馈神经网络原理与公式推导</a:t>
            </a:r>
            <a:endParaRPr lang="zh-CN" altLang="zh-CN" sz="1800" b="1" kern="100" dirty="0">
              <a:effectLst/>
              <a:latin typeface="等线 Light" panose="02010600030101010101" pitchFamily="2" charset="-122"/>
              <a:ea typeface="等线 Light" panose="02010600030101010101" pitchFamily="2" charset="-122"/>
              <a:cs typeface="Times New Roman" panose="02020603050405020304" pitchFamily="18" charset="0"/>
            </a:endParaRPr>
          </a:p>
        </p:txBody>
      </p:sp>
      <p:sp>
        <p:nvSpPr>
          <p:cNvPr id="5" name="文本框 4">
            <a:extLst>
              <a:ext uri="{FF2B5EF4-FFF2-40B4-BE49-F238E27FC236}">
                <a16:creationId xmlns:a16="http://schemas.microsoft.com/office/drawing/2014/main" id="{C96D0D81-2363-48A7-835D-695FB28CA2F4}"/>
              </a:ext>
            </a:extLst>
          </p:cNvPr>
          <p:cNvSpPr txBox="1"/>
          <p:nvPr/>
        </p:nvSpPr>
        <p:spPr>
          <a:xfrm>
            <a:off x="295275" y="1952625"/>
            <a:ext cx="8324850" cy="258532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在求导过程中，可能有读者已经注意到，如果拉长了求导过程或者增加了其中的单元，那么就会大大增加其中的计算过程，即很多偏导数的求导过程会被反复的计算，因此在实际中对于权值达到上十万或者上百万的神经网络来说，这样的重复冗余所导致的计算量是很大的。</a:t>
            </a:r>
          </a:p>
          <a:p>
            <a:pPr algn="just"/>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同样是为了求得对权重的更新，反馈神经网络算法将训练误差</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E</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看作以权重向量每个元素为变量的高维函数，通过不断更新权重，寻找训练误差的最低点，按误差函数梯度下降的方向更新权值。</a:t>
            </a:r>
          </a:p>
          <a:p>
            <a:pPr algn="just"/>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提示：反馈神经网络算法具体计算公式在本节后半部分进行推导。</a:t>
            </a:r>
          </a:p>
          <a:p>
            <a:pPr algn="just"/>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首先求得最后的输出层与真实值之间的差距，如图</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4.13</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所示。</a:t>
            </a:r>
          </a:p>
        </p:txBody>
      </p:sp>
      <p:pic>
        <p:nvPicPr>
          <p:cNvPr id="7" name="图片 6">
            <a:extLst>
              <a:ext uri="{FF2B5EF4-FFF2-40B4-BE49-F238E27FC236}">
                <a16:creationId xmlns:a16="http://schemas.microsoft.com/office/drawing/2014/main" id="{81AC62E3-ECE3-4DF5-A28B-95B23A6F74EF}"/>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4457700" y="3898265"/>
            <a:ext cx="4529455" cy="1842770"/>
          </a:xfrm>
          <a:prstGeom prst="rect">
            <a:avLst/>
          </a:prstGeom>
          <a:noFill/>
          <a:ln>
            <a:noFill/>
          </a:ln>
        </p:spPr>
      </p:pic>
    </p:spTree>
    <p:extLst>
      <p:ext uri="{BB962C8B-B14F-4D97-AF65-F5344CB8AC3E}">
        <p14:creationId xmlns:p14="http://schemas.microsoft.com/office/powerpoint/2010/main" val="3179334609"/>
      </p:ext>
    </p:extLst>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hape 38"/>
          <p:cNvSpPr>
            <a:spLocks noGrp="1"/>
          </p:cNvSpPr>
          <p:nvPr>
            <p:ph type="title" idx="4294967295"/>
          </p:nvPr>
        </p:nvSpPr>
        <p:spPr>
          <a:xfrm>
            <a:off x="457200" y="274637"/>
            <a:ext cx="8229600" cy="1143001"/>
          </a:xfrm>
          <a:prstGeom prst="rect">
            <a:avLst/>
          </a:prstGeom>
          <a:extLst>
            <a:ext uri="{C572A759-6A51-4108-AA02-DFA0A04FC94B}">
              <ma14:wrappingTextBoxFlag xmlns:ma14="http://schemas.microsoft.com/office/mac/drawingml/2011/main" xmlns="" val="1"/>
            </a:ext>
          </a:extLst>
        </p:spPr>
        <p:txBody>
          <a:bodyPr>
            <a:normAutofit/>
          </a:bodyPr>
          <a:lstStyle>
            <a:lvl1pPr defTabSz="539495">
              <a:defRPr sz="2596">
                <a:latin typeface="宋体"/>
                <a:ea typeface="宋体"/>
                <a:cs typeface="宋体"/>
                <a:sym typeface="宋体"/>
              </a:defRPr>
            </a:lvl1pPr>
          </a:lstStyle>
          <a:p>
            <a:pPr>
              <a:defRPr>
                <a:latin typeface="+mj-lt"/>
                <a:ea typeface="+mj-ea"/>
                <a:cs typeface="+mj-cs"/>
                <a:sym typeface="Calibri"/>
              </a:defRPr>
            </a:pPr>
            <a:r>
              <a:rPr lang="en-US" altLang="zh-CN" sz="2800" b="1" dirty="0">
                <a:latin typeface="宋体"/>
                <a:ea typeface="宋体"/>
                <a:cs typeface="宋体"/>
                <a:sym typeface="宋体"/>
              </a:rPr>
              <a:t>4.3  </a:t>
            </a:r>
            <a:r>
              <a:rPr lang="zh-CN" altLang="en-US" sz="2800" b="1" dirty="0">
                <a:latin typeface="宋体"/>
                <a:ea typeface="宋体"/>
                <a:cs typeface="宋体"/>
                <a:sym typeface="宋体"/>
              </a:rPr>
              <a:t>反馈神经网络反向传播算法介绍</a:t>
            </a:r>
            <a:endParaRPr lang="zh-CN" altLang="en-US" dirty="0">
              <a:latin typeface="宋体"/>
              <a:ea typeface="宋体"/>
              <a:cs typeface="宋体"/>
              <a:sym typeface="宋体"/>
            </a:endParaRPr>
          </a:p>
        </p:txBody>
      </p:sp>
      <p:sp>
        <p:nvSpPr>
          <p:cNvPr id="6" name="文本框 5">
            <a:extLst>
              <a:ext uri="{FF2B5EF4-FFF2-40B4-BE49-F238E27FC236}">
                <a16:creationId xmlns:a16="http://schemas.microsoft.com/office/drawing/2014/main" id="{29D0C010-5E46-4FBB-AFD9-FA4A40768EF5}"/>
              </a:ext>
            </a:extLst>
          </p:cNvPr>
          <p:cNvSpPr txBox="1"/>
          <p:nvPr/>
        </p:nvSpPr>
        <p:spPr>
          <a:xfrm>
            <a:off x="180975" y="1314450"/>
            <a:ext cx="8763000" cy="47814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lnSpc>
                <a:spcPct val="156000"/>
              </a:lnSpc>
              <a:spcBef>
                <a:spcPts val="1400"/>
              </a:spcBef>
              <a:spcAft>
                <a:spcPts val="1450"/>
              </a:spcAft>
            </a:pPr>
            <a:r>
              <a:rPr lang="en-US" altLang="zh-CN" sz="1800" b="1" kern="100" dirty="0">
                <a:effectLst/>
                <a:latin typeface="等线 Light" panose="02010600030101010101" pitchFamily="2" charset="-122"/>
                <a:ea typeface="等线 Light" panose="02010600030101010101" pitchFamily="2" charset="-122"/>
                <a:cs typeface="Times New Roman" panose="02020603050405020304" pitchFamily="18" charset="0"/>
              </a:rPr>
              <a:t>4.3.4  </a:t>
            </a:r>
            <a:r>
              <a:rPr lang="zh-CN" altLang="en-US" sz="1800" b="1" kern="100" dirty="0">
                <a:effectLst/>
                <a:latin typeface="等线 Light" panose="02010600030101010101" pitchFamily="2" charset="-122"/>
                <a:ea typeface="等线 Light" panose="02010600030101010101" pitchFamily="2" charset="-122"/>
                <a:cs typeface="Times New Roman" panose="02020603050405020304" pitchFamily="18" charset="0"/>
              </a:rPr>
              <a:t>反馈神经网络原理的激活函数</a:t>
            </a:r>
            <a:endParaRPr lang="zh-CN" altLang="zh-CN" sz="1800" b="1" kern="100" dirty="0">
              <a:effectLst/>
              <a:latin typeface="等线 Light" panose="02010600030101010101" pitchFamily="2" charset="-122"/>
              <a:ea typeface="等线 Light" panose="02010600030101010101" pitchFamily="2" charset="-122"/>
              <a:cs typeface="Times New Roman" panose="02020603050405020304" pitchFamily="18" charset="0"/>
            </a:endParaRPr>
          </a:p>
        </p:txBody>
      </p:sp>
      <p:pic>
        <p:nvPicPr>
          <p:cNvPr id="11" name="图片 10">
            <a:extLst>
              <a:ext uri="{FF2B5EF4-FFF2-40B4-BE49-F238E27FC236}">
                <a16:creationId xmlns:a16="http://schemas.microsoft.com/office/drawing/2014/main" id="{D71F09F5-C724-47E9-8614-A5FAA76E67E3}"/>
              </a:ext>
            </a:extLst>
          </p:cNvPr>
          <p:cNvPicPr>
            <a:picLocks noChangeAspect="1"/>
          </p:cNvPicPr>
          <p:nvPr/>
        </p:nvPicPr>
        <p:blipFill>
          <a:blip r:embed="rId2"/>
          <a:stretch>
            <a:fillRect/>
          </a:stretch>
        </p:blipFill>
        <p:spPr>
          <a:xfrm>
            <a:off x="647700" y="1953663"/>
            <a:ext cx="8143875" cy="2950674"/>
          </a:xfrm>
          <a:prstGeom prst="rect">
            <a:avLst/>
          </a:prstGeom>
        </p:spPr>
      </p:pic>
      <p:pic>
        <p:nvPicPr>
          <p:cNvPr id="18" name="图片 17">
            <a:extLst>
              <a:ext uri="{FF2B5EF4-FFF2-40B4-BE49-F238E27FC236}">
                <a16:creationId xmlns:a16="http://schemas.microsoft.com/office/drawing/2014/main" id="{603F8636-5700-49CF-9163-78F1D3C10038}"/>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3754120" y="3731260"/>
            <a:ext cx="5274310" cy="2024380"/>
          </a:xfrm>
          <a:prstGeom prst="rect">
            <a:avLst/>
          </a:prstGeom>
          <a:noFill/>
          <a:ln>
            <a:noFill/>
          </a:ln>
        </p:spPr>
      </p:pic>
    </p:spTree>
    <p:extLst>
      <p:ext uri="{BB962C8B-B14F-4D97-AF65-F5344CB8AC3E}">
        <p14:creationId xmlns:p14="http://schemas.microsoft.com/office/powerpoint/2010/main" val="1081935174"/>
      </p:ext>
    </p:extLst>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hape 38"/>
          <p:cNvSpPr>
            <a:spLocks noGrp="1"/>
          </p:cNvSpPr>
          <p:nvPr>
            <p:ph type="title" idx="4294967295"/>
          </p:nvPr>
        </p:nvSpPr>
        <p:spPr>
          <a:xfrm>
            <a:off x="457200" y="274637"/>
            <a:ext cx="8229600" cy="1143001"/>
          </a:xfrm>
          <a:prstGeom prst="rect">
            <a:avLst/>
          </a:prstGeom>
          <a:extLst>
            <a:ext uri="{C572A759-6A51-4108-AA02-DFA0A04FC94B}">
              <ma14:wrappingTextBoxFlag xmlns="" xmlns:ma14="http://schemas.microsoft.com/office/mac/drawingml/2011/main" val="1"/>
            </a:ext>
          </a:extLst>
        </p:spPr>
        <p:txBody>
          <a:bodyPr>
            <a:normAutofit/>
          </a:bodyPr>
          <a:lstStyle>
            <a:lvl1pPr defTabSz="539495">
              <a:defRPr sz="2596">
                <a:latin typeface="宋体"/>
                <a:ea typeface="宋体"/>
                <a:cs typeface="宋体"/>
                <a:sym typeface="宋体"/>
              </a:defRPr>
            </a:lvl1pPr>
          </a:lstStyle>
          <a:p>
            <a:pPr>
              <a:defRPr>
                <a:latin typeface="+mj-lt"/>
                <a:ea typeface="+mj-ea"/>
                <a:cs typeface="+mj-cs"/>
                <a:sym typeface="Calibri"/>
              </a:defRPr>
            </a:pPr>
            <a:r>
              <a:rPr lang="en-US" altLang="zh-CN" sz="2800" b="1" dirty="0">
                <a:latin typeface="宋体"/>
                <a:ea typeface="宋体"/>
                <a:cs typeface="宋体"/>
                <a:sym typeface="宋体"/>
              </a:rPr>
              <a:t>4.3  </a:t>
            </a:r>
            <a:r>
              <a:rPr lang="zh-CN" altLang="en-US" sz="2800" b="1" dirty="0">
                <a:latin typeface="宋体"/>
                <a:ea typeface="宋体"/>
                <a:cs typeface="宋体"/>
                <a:sym typeface="宋体"/>
              </a:rPr>
              <a:t>反馈神经网络反向传播算法介绍</a:t>
            </a:r>
            <a:endParaRPr lang="zh-CN" altLang="en-US" dirty="0">
              <a:latin typeface="宋体"/>
              <a:ea typeface="宋体"/>
              <a:cs typeface="宋体"/>
              <a:sym typeface="宋体"/>
            </a:endParaRPr>
          </a:p>
        </p:txBody>
      </p:sp>
      <p:sp>
        <p:nvSpPr>
          <p:cNvPr id="6" name="文本框 5">
            <a:extLst>
              <a:ext uri="{FF2B5EF4-FFF2-40B4-BE49-F238E27FC236}">
                <a16:creationId xmlns:a16="http://schemas.microsoft.com/office/drawing/2014/main" id="{29D0C010-5E46-4FBB-AFD9-FA4A40768EF5}"/>
              </a:ext>
            </a:extLst>
          </p:cNvPr>
          <p:cNvSpPr txBox="1"/>
          <p:nvPr/>
        </p:nvSpPr>
        <p:spPr>
          <a:xfrm>
            <a:off x="180975" y="1314450"/>
            <a:ext cx="8763000" cy="47814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lnSpc>
                <a:spcPct val="156000"/>
              </a:lnSpc>
              <a:spcBef>
                <a:spcPts val="1400"/>
              </a:spcBef>
              <a:spcAft>
                <a:spcPts val="1450"/>
              </a:spcAft>
            </a:pPr>
            <a:r>
              <a:rPr lang="en-US" altLang="zh-CN" sz="1800" b="1" kern="100" dirty="0">
                <a:effectLst/>
                <a:latin typeface="等线 Light" panose="02010600030101010101" pitchFamily="2" charset="-122"/>
                <a:ea typeface="等线 Light" panose="02010600030101010101" pitchFamily="2" charset="-122"/>
                <a:cs typeface="Times New Roman" panose="02020603050405020304" pitchFamily="18" charset="0"/>
              </a:rPr>
              <a:t>4.3.5  </a:t>
            </a:r>
            <a:r>
              <a:rPr lang="zh-CN" altLang="en-US" sz="1800" b="1" kern="100" dirty="0">
                <a:effectLst/>
                <a:latin typeface="等线 Light" panose="02010600030101010101" pitchFamily="2" charset="-122"/>
                <a:ea typeface="等线 Light" panose="02010600030101010101" pitchFamily="2" charset="-122"/>
                <a:cs typeface="Times New Roman" panose="02020603050405020304" pitchFamily="18" charset="0"/>
              </a:rPr>
              <a:t>反馈神经网络原理的</a:t>
            </a:r>
            <a:r>
              <a:rPr lang="en-US" altLang="zh-CN" sz="1800" b="1" kern="100" dirty="0">
                <a:effectLst/>
                <a:latin typeface="等线 Light" panose="02010600030101010101" pitchFamily="2" charset="-122"/>
                <a:ea typeface="等线 Light" panose="02010600030101010101" pitchFamily="2" charset="-122"/>
                <a:cs typeface="Times New Roman" panose="02020603050405020304" pitchFamily="18" charset="0"/>
              </a:rPr>
              <a:t>Python</a:t>
            </a:r>
            <a:r>
              <a:rPr lang="zh-CN" altLang="en-US" sz="1800" b="1" kern="100" dirty="0">
                <a:effectLst/>
                <a:latin typeface="等线 Light" panose="02010600030101010101" pitchFamily="2" charset="-122"/>
                <a:ea typeface="等线 Light" panose="02010600030101010101" pitchFamily="2" charset="-122"/>
                <a:cs typeface="Times New Roman" panose="02020603050405020304" pitchFamily="18" charset="0"/>
              </a:rPr>
              <a:t>实现</a:t>
            </a:r>
            <a:endParaRPr lang="zh-CN" altLang="zh-CN" sz="1800" b="1" kern="100" dirty="0">
              <a:effectLst/>
              <a:latin typeface="等线 Light" panose="02010600030101010101" pitchFamily="2" charset="-122"/>
              <a:ea typeface="等线 Light" panose="02010600030101010101" pitchFamily="2" charset="-122"/>
              <a:cs typeface="Times New Roman" panose="02020603050405020304" pitchFamily="18" charset="0"/>
            </a:endParaRPr>
          </a:p>
        </p:txBody>
      </p:sp>
      <p:sp>
        <p:nvSpPr>
          <p:cNvPr id="5" name="文本框 4">
            <a:extLst>
              <a:ext uri="{FF2B5EF4-FFF2-40B4-BE49-F238E27FC236}">
                <a16:creationId xmlns:a16="http://schemas.microsoft.com/office/drawing/2014/main" id="{90F7D220-3BB7-4426-A07F-FA1D3847DD51}"/>
              </a:ext>
            </a:extLst>
          </p:cNvPr>
          <p:cNvSpPr txBox="1"/>
          <p:nvPr/>
        </p:nvSpPr>
        <p:spPr>
          <a:xfrm>
            <a:off x="285750" y="1955244"/>
            <a:ext cx="8229600" cy="175432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indent="266700"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本节将使用</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Python</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语言对神经网络的反馈算法做一个实现。经过前几节的解释，读者对神经网络的算法和描述有了一定的理解，本节中将使用</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Python</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代码去实现一个自己的反馈神经网络。</a:t>
            </a:r>
          </a:p>
          <a:p>
            <a:pPr indent="266700"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为了简化起见，这里的神经网络被设置成三层，即只有一个输入层，一个隐藏层以及最终的输出层。</a:t>
            </a:r>
          </a:p>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1</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）首先是辅助函数的确定：</a:t>
            </a:r>
          </a:p>
        </p:txBody>
      </p:sp>
      <p:pic>
        <p:nvPicPr>
          <p:cNvPr id="4" name="图片 3">
            <a:extLst>
              <a:ext uri="{FF2B5EF4-FFF2-40B4-BE49-F238E27FC236}">
                <a16:creationId xmlns:a16="http://schemas.microsoft.com/office/drawing/2014/main" id="{D4300349-EEFE-42E2-B63E-5A2815D4D1A6}"/>
              </a:ext>
            </a:extLst>
          </p:cNvPr>
          <p:cNvPicPr>
            <a:picLocks noChangeAspect="1"/>
          </p:cNvPicPr>
          <p:nvPr/>
        </p:nvPicPr>
        <p:blipFill>
          <a:blip r:embed="rId2"/>
          <a:stretch>
            <a:fillRect/>
          </a:stretch>
        </p:blipFill>
        <p:spPr>
          <a:xfrm>
            <a:off x="3080766" y="3725418"/>
            <a:ext cx="5306568" cy="1818132"/>
          </a:xfrm>
          <a:prstGeom prst="rect">
            <a:avLst/>
          </a:prstGeom>
        </p:spPr>
      </p:pic>
    </p:spTree>
    <p:extLst>
      <p:ext uri="{BB962C8B-B14F-4D97-AF65-F5344CB8AC3E}">
        <p14:creationId xmlns:p14="http://schemas.microsoft.com/office/powerpoint/2010/main" val="235109314"/>
      </p:ext>
    </p:extLst>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Shape 93"/>
          <p:cNvSpPr>
            <a:spLocks noGrp="1"/>
          </p:cNvSpPr>
          <p:nvPr>
            <p:ph type="title" idx="4294967295"/>
          </p:nvPr>
        </p:nvSpPr>
        <p:spPr>
          <a:xfrm>
            <a:off x="457200" y="274637"/>
            <a:ext cx="8229600" cy="1143001"/>
          </a:xfrm>
          <a:prstGeom prst="rect">
            <a:avLst/>
          </a:prstGeom>
          <a:extLst>
            <a:ext uri="{C572A759-6A51-4108-AA02-DFA0A04FC94B}">
              <ma14:wrappingTextBoxFlag xmlns:ma14="http://schemas.microsoft.com/office/mac/drawingml/2011/main" xmlns="" val="1"/>
            </a:ext>
          </a:extLst>
        </p:spPr>
        <p:txBody>
          <a:bodyPr>
            <a:normAutofit/>
          </a:bodyPr>
          <a:lstStyle>
            <a:lvl1pPr defTabSz="667512">
              <a:defRPr sz="3212">
                <a:latin typeface="宋体"/>
                <a:ea typeface="宋体"/>
                <a:cs typeface="宋体"/>
                <a:sym typeface="宋体"/>
              </a:defRPr>
            </a:lvl1pPr>
          </a:lstStyle>
          <a:p>
            <a:pPr>
              <a:defRPr>
                <a:latin typeface="+mj-lt"/>
                <a:ea typeface="+mj-ea"/>
                <a:cs typeface="+mj-cs"/>
                <a:sym typeface="Calibri"/>
              </a:defRPr>
            </a:pPr>
            <a:r>
              <a:rPr lang="en-US" dirty="0">
                <a:latin typeface="宋体"/>
                <a:ea typeface="宋体"/>
                <a:cs typeface="宋体"/>
                <a:sym typeface="宋体"/>
              </a:rPr>
              <a:t>4.4</a:t>
            </a:r>
            <a:r>
              <a:rPr dirty="0">
                <a:latin typeface="宋体"/>
                <a:ea typeface="宋体"/>
                <a:cs typeface="宋体"/>
                <a:sym typeface="宋体"/>
              </a:rPr>
              <a:t>本章小结</a:t>
            </a:r>
          </a:p>
        </p:txBody>
      </p:sp>
      <p:sp>
        <p:nvSpPr>
          <p:cNvPr id="95" name="Shape 95"/>
          <p:cNvSpPr/>
          <p:nvPr/>
        </p:nvSpPr>
        <p:spPr>
          <a:xfrm>
            <a:off x="457200" y="2264144"/>
            <a:ext cx="7970243" cy="1477328"/>
          </a:xfrm>
          <a:prstGeom prst="rect">
            <a:avLst/>
          </a:prstGeom>
          <a:ln w="12700">
            <a:miter lim="400000"/>
          </a:ln>
          <a:extLst>
            <a:ext uri="{C572A759-6A51-4108-AA02-DFA0A04FC94B}">
              <ma14:wrappingTextBoxFlag xmlns:ma14="http://schemas.microsoft.com/office/mac/drawingml/2011/main" xmlns="" val="1"/>
            </a:ext>
          </a:extLst>
        </p:spPr>
        <p:txBody>
          <a:bodyPr wrap="square" lIns="45719" rIns="45719">
            <a:spAutoFit/>
          </a:bodyPr>
          <a:lstStyle/>
          <a:p>
            <a:pPr indent="266700"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本章是深度学习最为基础的一个内容，向读者完整介绍了深度学习的最基础的起始知识——</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BP</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神经网络的原理和实现。这是整个深度学习最为基础的内容，可以说所有的后续发展都是在对</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BP</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神经网络的修正上发展而来。</a:t>
            </a:r>
          </a:p>
          <a:p>
            <a:pPr indent="266700"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在后续章节中，作者会依次带读者了解更多的神经网络。</a:t>
            </a:r>
          </a:p>
          <a:p>
            <a:endParaRPr dirty="0"/>
          </a:p>
        </p:txBody>
      </p:sp>
    </p:spTree>
  </p:cSld>
  <p:clrMapOvr>
    <a:masterClrMapping/>
  </p:clrMapOvr>
  <p:transition spd="slow"/>
</p:sld>
</file>

<file path=ppt/theme/theme1.xml><?xml version="1.0" encoding="utf-8"?>
<a:theme xmlns:a="http://schemas.openxmlformats.org/drawingml/2006/main" name="Tema de Office">
  <a:themeElements>
    <a:clrScheme name="Tema de Offic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Tema de Office">
      <a:majorFont>
        <a:latin typeface="Calibri"/>
        <a:ea typeface="Calibri"/>
        <a:cs typeface="Calibri"/>
      </a:majorFont>
      <a:minorFont>
        <a:latin typeface="Helvetica"/>
        <a:ea typeface="Helvetica"/>
        <a:cs typeface="Helvetica"/>
      </a:minorFont>
    </a:fontScheme>
    <a:fmtScheme name="Tema de 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Tema de Office">
  <a:themeElements>
    <a:clrScheme name="Tema de Offic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Tema de Office">
      <a:majorFont>
        <a:latin typeface="Calibri"/>
        <a:ea typeface="Calibri"/>
        <a:cs typeface="Calibri"/>
      </a:majorFont>
      <a:minorFont>
        <a:latin typeface="Helvetica"/>
        <a:ea typeface="Helvetica"/>
        <a:cs typeface="Helvetica"/>
      </a:minorFont>
    </a:fontScheme>
    <a:fmtScheme name="Tema de 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110</TotalTime>
  <Words>1409</Words>
  <Application>Microsoft Office PowerPoint</Application>
  <PresentationFormat>全屏显示(4:3)</PresentationFormat>
  <Paragraphs>52</Paragraphs>
  <Slides>11</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11</vt:i4>
      </vt:variant>
    </vt:vector>
  </HeadingPairs>
  <TitlesOfParts>
    <vt:vector size="20" baseType="lpstr">
      <vt:lpstr>Songti SC Bold</vt:lpstr>
      <vt:lpstr>等线</vt:lpstr>
      <vt:lpstr>等线 Light</vt:lpstr>
      <vt:lpstr>方正姚体</vt:lpstr>
      <vt:lpstr>宋体</vt:lpstr>
      <vt:lpstr>Arial</vt:lpstr>
      <vt:lpstr>Calibri</vt:lpstr>
      <vt:lpstr>Wingdings</vt:lpstr>
      <vt:lpstr>Tema de Office</vt:lpstr>
      <vt:lpstr>第4章 深度学习的理论基础</vt:lpstr>
      <vt:lpstr>4.1  BP神经网络前身历史</vt:lpstr>
      <vt:lpstr>4.2  BP神经网络两个基础算法详解</vt:lpstr>
      <vt:lpstr>4.2  BP神经网络两个基础算法详解</vt:lpstr>
      <vt:lpstr>4.2  BP神经网络两个基础算法详解</vt:lpstr>
      <vt:lpstr>4.3  反馈神经网络反向传播算法介绍</vt:lpstr>
      <vt:lpstr>4.3  反馈神经网络反向传播算法介绍</vt:lpstr>
      <vt:lpstr>4.3  反馈神经网络反向传播算法介绍</vt:lpstr>
      <vt:lpstr>4.3  反馈神经网络反向传播算法介绍</vt:lpstr>
      <vt:lpstr>4.3  反馈神经网络反向传播算法介绍</vt:lpstr>
      <vt:lpstr>4.4本章小结</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第10章  Hello TensorFlow &amp; Keras</dc:title>
  <dc:creator>lenovo</dc:creator>
  <cp:lastModifiedBy>lenovo</cp:lastModifiedBy>
  <cp:revision>7</cp:revision>
  <dcterms:modified xsi:type="dcterms:W3CDTF">2023-07-26T04:59:57Z</dcterms:modified>
</cp:coreProperties>
</file>