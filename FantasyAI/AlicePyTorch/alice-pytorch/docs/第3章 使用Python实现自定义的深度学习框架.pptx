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8" r:id="rId3"/>
    <p:sldId id="270" r:id="rId4"/>
    <p:sldId id="271" r:id="rId5"/>
    <p:sldId id="272" r:id="rId6"/>
    <p:sldId id="273" r:id="rId7"/>
    <p:sldId id="274" r:id="rId8"/>
    <p:sldId id="275" r:id="rId9"/>
    <p:sldId id="276" r:id="rId10"/>
    <p:sldId id="277" r:id="rId11"/>
    <p:sldId id="278" r:id="rId12"/>
    <p:sldId id="279" r:id="rId13"/>
    <p:sldId id="280" r:id="rId14"/>
    <p:sldId id="269" r:id="rId15"/>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2800" b="1" dirty="0">
                <a:latin typeface="宋体"/>
                <a:ea typeface="宋体"/>
                <a:cs typeface="宋体"/>
                <a:sym typeface="宋体"/>
              </a:rPr>
              <a:t>第</a:t>
            </a:r>
            <a:r>
              <a:rPr lang="en-US" altLang="zh-CN" sz="2800" b="1" dirty="0">
                <a:latin typeface="宋体"/>
                <a:ea typeface="宋体"/>
                <a:cs typeface="宋体"/>
                <a:sym typeface="宋体"/>
              </a:rPr>
              <a:t>3</a:t>
            </a:r>
            <a:r>
              <a:rPr lang="zh-CN" altLang="en-US" sz="2800" b="1" dirty="0">
                <a:latin typeface="宋体"/>
                <a:ea typeface="宋体"/>
                <a:cs typeface="宋体"/>
                <a:sym typeface="宋体"/>
              </a:rPr>
              <a:t>章 使用</a:t>
            </a:r>
            <a:r>
              <a:rPr lang="en-US" altLang="zh-CN" sz="2800" b="1" dirty="0">
                <a:latin typeface="宋体"/>
                <a:ea typeface="宋体"/>
                <a:cs typeface="宋体"/>
                <a:sym typeface="宋体"/>
              </a:rPr>
              <a:t>Python</a:t>
            </a:r>
            <a:r>
              <a:rPr lang="zh-CN" altLang="en-US" sz="2800" b="1" dirty="0">
                <a:latin typeface="宋体"/>
                <a:ea typeface="宋体"/>
                <a:cs typeface="宋体"/>
                <a:sym typeface="宋体"/>
              </a:rPr>
              <a:t>实现自定义的深度学习框架</a:t>
            </a: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3.1 </a:t>
            </a:r>
            <a:r>
              <a:rPr lang="zh-CN" altLang="en-US" dirty="0">
                <a:latin typeface="宋体"/>
                <a:ea typeface="宋体"/>
                <a:cs typeface="宋体"/>
                <a:sym typeface="宋体"/>
              </a:rPr>
              <a:t>基于</a:t>
            </a:r>
            <a:r>
              <a:rPr lang="en-US" altLang="zh-CN" dirty="0" err="1">
                <a:latin typeface="宋体"/>
                <a:ea typeface="宋体"/>
                <a:cs typeface="宋体"/>
                <a:sym typeface="宋体"/>
              </a:rPr>
              <a:t>Pytorch</a:t>
            </a:r>
            <a:r>
              <a:rPr lang="zh-CN" altLang="en-US" dirty="0">
                <a:latin typeface="宋体"/>
                <a:ea typeface="宋体"/>
                <a:cs typeface="宋体"/>
                <a:sym typeface="宋体"/>
              </a:rPr>
              <a:t>的</a:t>
            </a:r>
            <a:r>
              <a:rPr lang="en-US" altLang="zh-CN" dirty="0">
                <a:latin typeface="宋体"/>
                <a:ea typeface="宋体"/>
                <a:cs typeface="宋体"/>
                <a:sym typeface="宋体"/>
              </a:rPr>
              <a:t>MNIST</a:t>
            </a:r>
            <a:r>
              <a:rPr lang="zh-CN" altLang="en-US" dirty="0">
                <a:latin typeface="宋体"/>
                <a:ea typeface="宋体"/>
                <a:cs typeface="宋体"/>
                <a:sym typeface="宋体"/>
              </a:rPr>
              <a:t>手写体分类</a:t>
            </a:r>
          </a:p>
          <a:p>
            <a:pPr marL="0" indent="0" defTabSz="740663">
              <a:spcBef>
                <a:spcPts val="600"/>
              </a:spcBef>
              <a:buNone/>
              <a:defRPr sz="2106"/>
            </a:pPr>
            <a:r>
              <a:rPr lang="en-US" altLang="zh-CN" dirty="0">
                <a:latin typeface="宋体"/>
                <a:ea typeface="宋体"/>
                <a:cs typeface="宋体"/>
                <a:sym typeface="宋体"/>
              </a:rPr>
              <a:t>3.2</a:t>
            </a:r>
            <a:r>
              <a:rPr lang="zh-CN" altLang="en-US" dirty="0">
                <a:latin typeface="宋体"/>
                <a:ea typeface="宋体"/>
                <a:cs typeface="宋体"/>
                <a:sym typeface="宋体"/>
              </a:rPr>
              <a:t>自定义的神经网络框架的基本设计（选学内容）</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3.1 </a:t>
            </a:r>
            <a:r>
              <a:rPr lang="zh-CN" altLang="en-US" sz="3200" b="1" dirty="0">
                <a:latin typeface="宋体"/>
                <a:ea typeface="宋体"/>
                <a:cs typeface="宋体"/>
                <a:sym typeface="宋体"/>
              </a:rPr>
              <a:t>基于</a:t>
            </a:r>
            <a:r>
              <a:rPr lang="en-US" altLang="zh-CN" sz="3200" b="1" dirty="0" err="1">
                <a:latin typeface="宋体"/>
                <a:ea typeface="宋体"/>
                <a:cs typeface="宋体"/>
                <a:sym typeface="宋体"/>
              </a:rPr>
              <a:t>Pytorch</a:t>
            </a:r>
            <a:r>
              <a:rPr lang="zh-CN" altLang="en-US" sz="3200" b="1" dirty="0">
                <a:latin typeface="宋体"/>
                <a:ea typeface="宋体"/>
                <a:cs typeface="宋体"/>
                <a:sym typeface="宋体"/>
              </a:rPr>
              <a:t>的</a:t>
            </a:r>
            <a:r>
              <a:rPr lang="en-US" altLang="zh-CN" sz="3200" b="1" dirty="0">
                <a:latin typeface="宋体"/>
                <a:ea typeface="宋体"/>
                <a:cs typeface="宋体"/>
                <a:sym typeface="宋体"/>
              </a:rPr>
              <a:t>MNIST</a:t>
            </a:r>
            <a:r>
              <a:rPr lang="zh-CN" altLang="en-US" sz="3200" b="1" dirty="0">
                <a:latin typeface="宋体"/>
                <a:ea typeface="宋体"/>
                <a:cs typeface="宋体"/>
                <a:sym typeface="宋体"/>
              </a:rPr>
              <a:t>手写体分类</a:t>
            </a:r>
          </a:p>
        </p:txBody>
      </p:sp>
      <p:sp>
        <p:nvSpPr>
          <p:cNvPr id="39" name="Shape 39"/>
          <p:cNvSpPr>
            <a:spLocks noGrp="1"/>
          </p:cNvSpPr>
          <p:nvPr>
            <p:ph type="body" sz="quarter" idx="4294967295"/>
          </p:nvPr>
        </p:nvSpPr>
        <p:spPr>
          <a:xfrm>
            <a:off x="457200" y="1631950"/>
            <a:ext cx="8229600" cy="568326"/>
          </a:xfrm>
          <a:prstGeom prst="rect">
            <a:avLst/>
          </a:prstGeom>
          <a:extLst>
            <a:ext uri="{C572A759-6A51-4108-AA02-DFA0A04FC94B}">
              <ma14:wrappingTextBoxFlag xmlns="" xmlns:ma14="http://schemas.microsoft.com/office/mac/drawingml/2011/main"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3.1.1 </a:t>
            </a:r>
            <a:r>
              <a:rPr lang="zh-CN" altLang="en-US" sz="1800" b="1" kern="100" dirty="0">
                <a:effectLst/>
                <a:latin typeface="等线" panose="02010600030101010101" pitchFamily="2" charset="-122"/>
                <a:ea typeface="等线" panose="02010600030101010101" pitchFamily="2" charset="-122"/>
              </a:rPr>
              <a:t>数据图像的获取与标签的说明</a:t>
            </a:r>
            <a:endParaRPr lang="zh-CN" altLang="en-US" dirty="0"/>
          </a:p>
        </p:txBody>
      </p:sp>
      <p:sp>
        <p:nvSpPr>
          <p:cNvPr id="11" name="文本框 10">
            <a:extLst>
              <a:ext uri="{FF2B5EF4-FFF2-40B4-BE49-F238E27FC236}">
                <a16:creationId xmlns:a16="http://schemas.microsoft.com/office/drawing/2014/main" id="{6ED083A7-88D9-4AC1-94B8-932F20A231D6}"/>
              </a:ext>
            </a:extLst>
          </p:cNvPr>
          <p:cNvSpPr txBox="1"/>
          <p:nvPr/>
        </p:nvSpPr>
        <p:spPr>
          <a:xfrm>
            <a:off x="571500" y="2414589"/>
            <a:ext cx="7829550" cy="12388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我们使用第二章的</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数据集，详细介绍在上一章中已经完成，读者可以使用相同的代码对数据进行获取，代码如下所示：</a:t>
            </a:r>
          </a:p>
          <a:p>
            <a:pPr marL="266700" algn="just">
              <a:lnSpc>
                <a:spcPts val="1300"/>
              </a:lnSpc>
            </a:pPr>
            <a:r>
              <a:rPr lang="en-US" altLang="zh-CN" sz="900" dirty="0">
                <a:solidFill>
                  <a:srgbClr val="000000"/>
                </a:solidFill>
                <a:effectLst/>
                <a:latin typeface="Arial" panose="020B0604020202020204" pitchFamily="34" charset="0"/>
                <a:ea typeface="黑体" panose="02010609060101010101" pitchFamily="49" charset="-122"/>
              </a:rPr>
              <a:t>Import </a:t>
            </a:r>
            <a:r>
              <a:rPr lang="en-US" altLang="zh-CN" sz="900" dirty="0" err="1">
                <a:solidFill>
                  <a:srgbClr val="000000"/>
                </a:solidFill>
                <a:effectLst/>
                <a:latin typeface="Arial" panose="020B0604020202020204" pitchFamily="34" charset="0"/>
                <a:ea typeface="黑体" panose="02010609060101010101" pitchFamily="49" charset="-122"/>
              </a:rPr>
              <a:t>numpy</a:t>
            </a:r>
            <a:r>
              <a:rPr lang="en-US" altLang="zh-CN" sz="900" dirty="0">
                <a:solidFill>
                  <a:srgbClr val="000000"/>
                </a:solidFill>
                <a:effectLst/>
                <a:latin typeface="Arial" panose="020B0604020202020204" pitchFamily="34" charset="0"/>
                <a:ea typeface="黑体" panose="02010609060101010101" pitchFamily="49" charset="-122"/>
              </a:rPr>
              <a:t> as np</a:t>
            </a:r>
            <a:endParaRPr lang="zh-CN" altLang="zh-CN" sz="900" dirty="0">
              <a:effectLst/>
              <a:latin typeface="Arial" panose="020B0604020202020204" pitchFamily="34" charset="0"/>
              <a:ea typeface="黑体" panose="02010609060101010101" pitchFamily="49" charset="-122"/>
            </a:endParaRPr>
          </a:p>
          <a:p>
            <a:pPr marL="266700" algn="just">
              <a:lnSpc>
                <a:spcPts val="1300"/>
              </a:lnSpc>
            </a:pPr>
            <a:r>
              <a:rPr lang="en-US" altLang="zh-CN" sz="900" dirty="0" err="1">
                <a:solidFill>
                  <a:srgbClr val="000000"/>
                </a:solidFill>
                <a:effectLst/>
                <a:latin typeface="Arial" panose="020B0604020202020204" pitchFamily="34" charset="0"/>
                <a:ea typeface="黑体" panose="02010609060101010101" pitchFamily="49" charset="-122"/>
              </a:rPr>
              <a:t>x_train</a:t>
            </a:r>
            <a:r>
              <a:rPr lang="en-US" altLang="zh-CN" sz="900" dirty="0">
                <a:solidFill>
                  <a:srgbClr val="000000"/>
                </a:solidFill>
                <a:effectLst/>
                <a:latin typeface="Arial" panose="020B0604020202020204" pitchFamily="34" charset="0"/>
                <a:ea typeface="黑体" panose="02010609060101010101" pitchFamily="49" charset="-122"/>
              </a:rPr>
              <a:t> = </a:t>
            </a:r>
            <a:r>
              <a:rPr lang="en-US" altLang="zh-CN" sz="900" dirty="0" err="1">
                <a:solidFill>
                  <a:srgbClr val="000000"/>
                </a:solidFill>
                <a:effectLst/>
                <a:latin typeface="Arial" panose="020B0604020202020204" pitchFamily="34" charset="0"/>
                <a:ea typeface="黑体" panose="02010609060101010101" pitchFamily="49" charset="-122"/>
              </a:rPr>
              <a:t>np.load</a:t>
            </a:r>
            <a:r>
              <a:rPr lang="en-US" altLang="zh-CN" sz="900" dirty="0">
                <a:solidFill>
                  <a:srgbClr val="000000"/>
                </a:solidFill>
                <a:effectLst/>
                <a:latin typeface="Arial" panose="020B0604020202020204" pitchFamily="34" charset="0"/>
                <a:ea typeface="黑体" panose="02010609060101010101" pitchFamily="49" charset="-122"/>
              </a:rPr>
              <a:t>("./dataset/</a:t>
            </a:r>
            <a:r>
              <a:rPr lang="en-US" altLang="zh-CN" sz="900" dirty="0" err="1">
                <a:solidFill>
                  <a:srgbClr val="000000"/>
                </a:solidFill>
                <a:effectLst/>
                <a:latin typeface="Arial" panose="020B0604020202020204" pitchFamily="34" charset="0"/>
                <a:ea typeface="黑体" panose="02010609060101010101" pitchFamily="49" charset="-122"/>
              </a:rPr>
              <a:t>mnist</a:t>
            </a:r>
            <a:r>
              <a:rPr lang="en-US" altLang="zh-CN" sz="900" dirty="0">
                <a:solidFill>
                  <a:srgbClr val="000000"/>
                </a:solidFill>
                <a:effectLst/>
                <a:latin typeface="Arial" panose="020B0604020202020204" pitchFamily="34" charset="0"/>
                <a:ea typeface="黑体" panose="02010609060101010101" pitchFamily="49" charset="-122"/>
              </a:rPr>
              <a:t>/</a:t>
            </a:r>
            <a:r>
              <a:rPr lang="en-US" altLang="zh-CN" sz="900" dirty="0" err="1">
                <a:solidFill>
                  <a:srgbClr val="000000"/>
                </a:solidFill>
                <a:effectLst/>
                <a:latin typeface="Arial" panose="020B0604020202020204" pitchFamily="34" charset="0"/>
                <a:ea typeface="黑体" panose="02010609060101010101" pitchFamily="49" charset="-122"/>
              </a:rPr>
              <a:t>x_train.npy</a:t>
            </a:r>
            <a:r>
              <a:rPr lang="en-US" altLang="zh-CN" sz="900" dirty="0">
                <a:solidFill>
                  <a:srgbClr val="000000"/>
                </a:solidFill>
                <a:effectLst/>
                <a:latin typeface="Arial" panose="020B0604020202020204" pitchFamily="34" charset="0"/>
                <a:ea typeface="黑体" panose="02010609060101010101" pitchFamily="49" charset="-122"/>
              </a:rPr>
              <a:t>")</a:t>
            </a:r>
            <a:endParaRPr lang="zh-CN" altLang="zh-CN" sz="900" dirty="0">
              <a:effectLst/>
              <a:latin typeface="Arial" panose="020B0604020202020204" pitchFamily="34" charset="0"/>
              <a:ea typeface="黑体" panose="02010609060101010101" pitchFamily="49" charset="-122"/>
            </a:endParaRPr>
          </a:p>
          <a:p>
            <a:pPr marL="266700" algn="just">
              <a:lnSpc>
                <a:spcPts val="1300"/>
              </a:lnSpc>
            </a:pPr>
            <a:r>
              <a:rPr lang="en-US" altLang="zh-CN" sz="900" dirty="0" err="1">
                <a:solidFill>
                  <a:srgbClr val="000000"/>
                </a:solidFill>
                <a:effectLst/>
                <a:latin typeface="Arial" panose="020B0604020202020204" pitchFamily="34" charset="0"/>
                <a:ea typeface="黑体" panose="02010609060101010101" pitchFamily="49" charset="-122"/>
              </a:rPr>
              <a:t>y_train_label</a:t>
            </a:r>
            <a:r>
              <a:rPr lang="en-US" altLang="zh-CN" sz="900" dirty="0">
                <a:solidFill>
                  <a:srgbClr val="000000"/>
                </a:solidFill>
                <a:effectLst/>
                <a:latin typeface="Arial" panose="020B0604020202020204" pitchFamily="34" charset="0"/>
                <a:ea typeface="黑体" panose="02010609060101010101" pitchFamily="49" charset="-122"/>
              </a:rPr>
              <a:t> = </a:t>
            </a:r>
            <a:r>
              <a:rPr lang="en-US" altLang="zh-CN" sz="900" dirty="0" err="1">
                <a:solidFill>
                  <a:srgbClr val="000000"/>
                </a:solidFill>
                <a:effectLst/>
                <a:latin typeface="Arial" panose="020B0604020202020204" pitchFamily="34" charset="0"/>
                <a:ea typeface="黑体" panose="02010609060101010101" pitchFamily="49" charset="-122"/>
              </a:rPr>
              <a:t>np.load</a:t>
            </a:r>
            <a:r>
              <a:rPr lang="en-US" altLang="zh-CN" sz="900" dirty="0">
                <a:solidFill>
                  <a:srgbClr val="000000"/>
                </a:solidFill>
                <a:effectLst/>
                <a:latin typeface="Arial" panose="020B0604020202020204" pitchFamily="34" charset="0"/>
                <a:ea typeface="黑体" panose="02010609060101010101" pitchFamily="49" charset="-122"/>
              </a:rPr>
              <a:t>("./dataset/</a:t>
            </a:r>
            <a:r>
              <a:rPr lang="en-US" altLang="zh-CN" sz="900" dirty="0" err="1">
                <a:solidFill>
                  <a:srgbClr val="000000"/>
                </a:solidFill>
                <a:effectLst/>
                <a:latin typeface="Arial" panose="020B0604020202020204" pitchFamily="34" charset="0"/>
                <a:ea typeface="黑体" panose="02010609060101010101" pitchFamily="49" charset="-122"/>
              </a:rPr>
              <a:t>mnist</a:t>
            </a:r>
            <a:r>
              <a:rPr lang="en-US" altLang="zh-CN" sz="900" dirty="0">
                <a:solidFill>
                  <a:srgbClr val="000000"/>
                </a:solidFill>
                <a:effectLst/>
                <a:latin typeface="Arial" panose="020B0604020202020204" pitchFamily="34" charset="0"/>
                <a:ea typeface="黑体" panose="02010609060101010101" pitchFamily="49" charset="-122"/>
              </a:rPr>
              <a:t>/</a:t>
            </a:r>
            <a:r>
              <a:rPr lang="en-US" altLang="zh-CN" sz="900" dirty="0" err="1">
                <a:solidFill>
                  <a:srgbClr val="000000"/>
                </a:solidFill>
                <a:effectLst/>
                <a:latin typeface="Arial" panose="020B0604020202020204" pitchFamily="34" charset="0"/>
                <a:ea typeface="黑体" panose="02010609060101010101" pitchFamily="49" charset="-122"/>
              </a:rPr>
              <a:t>y_train_label.npy</a:t>
            </a:r>
            <a:r>
              <a:rPr lang="en-US" altLang="zh-CN" sz="900" dirty="0">
                <a:solidFill>
                  <a:srgbClr val="000000"/>
                </a:solidFill>
                <a:effectLst/>
                <a:latin typeface="Arial" panose="020B0604020202020204" pitchFamily="34" charset="0"/>
                <a:ea typeface="黑体" panose="02010609060101010101" pitchFamily="49" charset="-122"/>
              </a:rPr>
              <a:t>")</a:t>
            </a:r>
            <a:endParaRPr lang="zh-CN" altLang="zh-CN" sz="900" dirty="0">
              <a:effectLst/>
              <a:latin typeface="Arial" panose="020B0604020202020204" pitchFamily="34" charset="0"/>
              <a:ea typeface="黑体" panose="02010609060101010101" pitchFamily="49" charset="-122"/>
            </a:endParaRPr>
          </a:p>
          <a:p>
            <a:pPr indent="266700"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基本数据的获取与上一章类似，这里作者就不再过多阐述，不过需要读者注意的是，我们在上一章进行数据集介绍时，由于只使用了图像数据，而没有对标签进行说明，在这里我们重点对数据标签，也就是</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y_train_labe</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进行介绍。</a:t>
            </a:r>
          </a:p>
          <a:p>
            <a:pPr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下面我们打印出数据集的前</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10</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个标签，可以使用</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print(</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y_train_label</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[:10])</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进行结果打印，结果如下所示：</a:t>
            </a:r>
          </a:p>
        </p:txBody>
      </p:sp>
      <p:pic>
        <p:nvPicPr>
          <p:cNvPr id="12" name="图片 11">
            <a:extLst>
              <a:ext uri="{FF2B5EF4-FFF2-40B4-BE49-F238E27FC236}">
                <a16:creationId xmlns:a16="http://schemas.microsoft.com/office/drawing/2014/main" id="{34BED6CE-48CE-488C-95FF-D2FAD1E63264}"/>
              </a:ext>
            </a:extLst>
          </p:cNvPr>
          <p:cNvPicPr/>
          <p:nvPr/>
        </p:nvPicPr>
        <p:blipFill>
          <a:blip r:embed="rId2"/>
          <a:stretch>
            <a:fillRect/>
          </a:stretch>
        </p:blipFill>
        <p:spPr>
          <a:xfrm>
            <a:off x="3405187" y="4271962"/>
            <a:ext cx="2543175" cy="371475"/>
          </a:xfrm>
          <a:prstGeom prst="rect">
            <a:avLst/>
          </a:prstGeom>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3.1 </a:t>
            </a:r>
            <a:r>
              <a:rPr lang="zh-CN" altLang="en-US" sz="2800" b="1" dirty="0">
                <a:latin typeface="宋体"/>
                <a:ea typeface="宋体"/>
                <a:cs typeface="宋体"/>
                <a:sym typeface="宋体"/>
              </a:rPr>
              <a:t>基于</a:t>
            </a:r>
            <a:r>
              <a:rPr lang="en-US" altLang="zh-CN" sz="2800" b="1" dirty="0" err="1">
                <a:latin typeface="宋体"/>
                <a:ea typeface="宋体"/>
                <a:cs typeface="宋体"/>
                <a:sym typeface="宋体"/>
              </a:rPr>
              <a:t>Pytorch</a:t>
            </a:r>
            <a:r>
              <a:rPr lang="zh-CN" altLang="en-US" sz="2800" b="1" dirty="0">
                <a:latin typeface="宋体"/>
                <a:ea typeface="宋体"/>
                <a:cs typeface="宋体"/>
                <a:sym typeface="宋体"/>
              </a:rPr>
              <a:t>的</a:t>
            </a:r>
            <a:r>
              <a:rPr lang="en-US" altLang="zh-CN" sz="2800" b="1" dirty="0">
                <a:latin typeface="宋体"/>
                <a:ea typeface="宋体"/>
                <a:cs typeface="宋体"/>
                <a:sym typeface="宋体"/>
              </a:rPr>
              <a:t>MNIST</a:t>
            </a:r>
            <a:r>
              <a:rPr lang="zh-CN" altLang="en-US" sz="2800" b="1" dirty="0">
                <a:latin typeface="宋体"/>
                <a:ea typeface="宋体"/>
                <a:cs typeface="宋体"/>
                <a:sym typeface="宋体"/>
              </a:rPr>
              <a:t>手写体分类</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3.1.2 </a:t>
            </a:r>
            <a:r>
              <a:rPr lang="zh-CN" altLang="en-US" sz="1800" b="1" kern="100" dirty="0">
                <a:effectLst/>
                <a:latin typeface="等线" panose="02010600030101010101" pitchFamily="2" charset="-122"/>
                <a:ea typeface="等线" panose="02010600030101010101" pitchFamily="2" charset="-122"/>
              </a:rPr>
              <a:t>模型的准备（多层感知机）</a:t>
            </a:r>
            <a:endParaRPr lang="zh-CN" altLang="en-US" dirty="0"/>
          </a:p>
        </p:txBody>
      </p:sp>
      <p:sp>
        <p:nvSpPr>
          <p:cNvPr id="13" name="文本框 12">
            <a:extLst>
              <a:ext uri="{FF2B5EF4-FFF2-40B4-BE49-F238E27FC236}">
                <a16:creationId xmlns:a16="http://schemas.microsoft.com/office/drawing/2014/main" id="{162616D3-B387-4594-9A1B-3E0F5AD99B6C}"/>
              </a:ext>
            </a:extLst>
          </p:cNvPr>
          <p:cNvSpPr txBox="1"/>
          <p:nvPr/>
        </p:nvSpPr>
        <p:spPr>
          <a:xfrm>
            <a:off x="457200" y="2133601"/>
            <a:ext cx="8089900" cy="12234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在上一章我们已经说了，</a:t>
            </a:r>
            <a:r>
              <a:rPr lang="en-US" altLang="zh-CN" sz="105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最重要的一项内容是模型的准备与设计，而模型的设计最关键的一点就是需要了解输出和输入的数据结构类型。</a:t>
            </a:r>
          </a:p>
          <a:p>
            <a:pPr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相信通过上一章的图像去噪的演示读者已经了解了我们的输入数据格式是一个</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[28,28]</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大小的二维图像。而对数据结构的分析我们可以看到，对于每个图形都有一个确定的分类结果，也就是从</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0</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到</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10</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的一个确定数字。</a:t>
            </a:r>
          </a:p>
          <a:p>
            <a:pPr algn="just"/>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下面作者将将按这个想法去设计模型，从上面对图像的分析来看，对整体图形进去判别的一个最基本想法就是讲将图像作为一个整体直观的去判别，因此基于这种解决问题的思路，我们简单的模型设计就是同时对图像所有参数进行计算，即我们会使用一个多层感知机（</a:t>
            </a:r>
            <a:r>
              <a:rPr lang="en-US" altLang="zh-CN" sz="1050" kern="100" dirty="0">
                <a:effectLst/>
                <a:latin typeface="等线" panose="02010600030101010101" pitchFamily="2" charset="-122"/>
                <a:ea typeface="等线" panose="02010600030101010101" pitchFamily="2" charset="-122"/>
                <a:cs typeface="Times New Roman" panose="02020603050405020304" pitchFamily="18" charset="0"/>
              </a:rPr>
              <a:t>MLP</a:t>
            </a:r>
            <a:r>
              <a:rPr lang="zh-CN" altLang="zh-CN" sz="1050" kern="100" dirty="0">
                <a:effectLst/>
                <a:latin typeface="等线" panose="02010600030101010101" pitchFamily="2" charset="-122"/>
                <a:ea typeface="等线" panose="02010600030101010101" pitchFamily="2" charset="-122"/>
                <a:cs typeface="Times New Roman" panose="02020603050405020304" pitchFamily="18" charset="0"/>
              </a:rPr>
              <a:t>）去对图像进行分类。整体的模型的设计结构如下：</a:t>
            </a:r>
          </a:p>
        </p:txBody>
      </p:sp>
      <p:pic>
        <p:nvPicPr>
          <p:cNvPr id="14" name="图片 13">
            <a:extLst>
              <a:ext uri="{FF2B5EF4-FFF2-40B4-BE49-F238E27FC236}">
                <a16:creationId xmlns:a16="http://schemas.microsoft.com/office/drawing/2014/main" id="{9E501020-062F-4B75-99CA-2FFB065A3CC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502150" y="3500988"/>
            <a:ext cx="3919220" cy="1995805"/>
          </a:xfrm>
          <a:prstGeom prst="rect">
            <a:avLst/>
          </a:prstGeom>
          <a:noFill/>
          <a:ln>
            <a:noFill/>
          </a:ln>
        </p:spPr>
      </p:pic>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3.1 </a:t>
            </a:r>
            <a:r>
              <a:rPr lang="zh-CN" altLang="en-US" sz="2800" b="1" dirty="0">
                <a:latin typeface="宋体"/>
                <a:ea typeface="宋体"/>
                <a:cs typeface="宋体"/>
                <a:sym typeface="宋体"/>
              </a:rPr>
              <a:t>基于</a:t>
            </a:r>
            <a:r>
              <a:rPr lang="en-US" altLang="zh-CN" sz="2800" b="1" dirty="0" err="1">
                <a:latin typeface="宋体"/>
                <a:ea typeface="宋体"/>
                <a:cs typeface="宋体"/>
                <a:sym typeface="宋体"/>
              </a:rPr>
              <a:t>Pytorch</a:t>
            </a:r>
            <a:r>
              <a:rPr lang="zh-CN" altLang="en-US" sz="2800" b="1" dirty="0">
                <a:latin typeface="宋体"/>
                <a:ea typeface="宋体"/>
                <a:cs typeface="宋体"/>
                <a:sym typeface="宋体"/>
              </a:rPr>
              <a:t>的</a:t>
            </a:r>
            <a:r>
              <a:rPr lang="en-US" altLang="zh-CN" sz="2800" b="1" dirty="0">
                <a:latin typeface="宋体"/>
                <a:ea typeface="宋体"/>
                <a:cs typeface="宋体"/>
                <a:sym typeface="宋体"/>
              </a:rPr>
              <a:t>MNIST</a:t>
            </a:r>
            <a:r>
              <a:rPr lang="zh-CN" altLang="en-US" sz="2800" b="1" dirty="0">
                <a:latin typeface="宋体"/>
                <a:ea typeface="宋体"/>
                <a:cs typeface="宋体"/>
                <a:sym typeface="宋体"/>
              </a:rPr>
              <a:t>手写体分类</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3023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3.1.3 </a:t>
            </a:r>
            <a:r>
              <a:rPr lang="zh-CN" altLang="en-US" sz="1800" b="1" kern="100" dirty="0">
                <a:effectLst/>
                <a:latin typeface="等线" panose="02010600030101010101" pitchFamily="2" charset="-122"/>
                <a:ea typeface="等线" panose="02010600030101010101" pitchFamily="2" charset="-122"/>
              </a:rPr>
              <a:t>补充章节：基于</a:t>
            </a:r>
            <a:r>
              <a:rPr lang="en-US" altLang="zh-CN" sz="1800" b="1" kern="100" dirty="0" err="1">
                <a:effectLst/>
                <a:latin typeface="等线" panose="02010600030101010101" pitchFamily="2" charset="-122"/>
                <a:ea typeface="等线" panose="02010600030101010101" pitchFamily="2" charset="-122"/>
              </a:rPr>
              <a:t>netron</a:t>
            </a:r>
            <a:r>
              <a:rPr lang="zh-CN" altLang="en-US" sz="1800" b="1" kern="100" dirty="0">
                <a:effectLst/>
                <a:latin typeface="等线" panose="02010600030101010101" pitchFamily="2" charset="-122"/>
                <a:ea typeface="等线" panose="02010600030101010101" pitchFamily="2" charset="-122"/>
              </a:rPr>
              <a:t>的</a:t>
            </a:r>
            <a:r>
              <a:rPr lang="en-US" altLang="zh-CN" sz="1800" b="1" kern="100" dirty="0">
                <a:effectLst/>
                <a:latin typeface="等线" panose="02010600030101010101" pitchFamily="2" charset="-122"/>
                <a:ea typeface="等线" panose="02010600030101010101" pitchFamily="2" charset="-122"/>
              </a:rPr>
              <a:t>pytorch2.0</a:t>
            </a:r>
            <a:r>
              <a:rPr lang="zh-CN" altLang="en-US" sz="1800" b="1" kern="100" dirty="0">
                <a:effectLst/>
                <a:latin typeface="等线" panose="02010600030101010101" pitchFamily="2" charset="-122"/>
                <a:ea typeface="等线" panose="02010600030101010101" pitchFamily="2" charset="-122"/>
              </a:rPr>
              <a:t>的模型可视化</a:t>
            </a:r>
            <a:endParaRPr lang="zh-CN" altLang="en-US" dirty="0"/>
          </a:p>
        </p:txBody>
      </p:sp>
      <p:sp>
        <p:nvSpPr>
          <p:cNvPr id="13" name="文本框 12">
            <a:extLst>
              <a:ext uri="{FF2B5EF4-FFF2-40B4-BE49-F238E27FC236}">
                <a16:creationId xmlns:a16="http://schemas.microsoft.com/office/drawing/2014/main" id="{3D14EFC6-4C68-4087-9269-4A2026F9AB64}"/>
              </a:ext>
            </a:extLst>
          </p:cNvPr>
          <p:cNvSpPr txBox="1"/>
          <p:nvPr/>
        </p:nvSpPr>
        <p:spPr>
          <a:xfrm>
            <a:off x="457199" y="1914524"/>
            <a:ext cx="8229599"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上面章节中作者带领读者完成了基于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模型的设计，并基于此完成了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手写体的识别。此时可能有读者对我们自己设计的模型结构会感到好奇，如果有一种能够可视化完成模型的查阅就更好了。</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读者可以自行百度</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netron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下载地址，</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netron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是一个深度学习模型可视化库，支持可视化的表示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Pytorch2.0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的模型存档文件。因此我们可以将上一节中</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的模型结构进行保存并通过</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netron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进行可视化展示。模型保存的代码如下所示：</a:t>
            </a:r>
          </a:p>
        </p:txBody>
      </p:sp>
      <p:pic>
        <p:nvPicPr>
          <p:cNvPr id="9" name="图片 8">
            <a:extLst>
              <a:ext uri="{FF2B5EF4-FFF2-40B4-BE49-F238E27FC236}">
                <a16:creationId xmlns:a16="http://schemas.microsoft.com/office/drawing/2014/main" id="{E6A8615E-7FB2-4711-B61B-7D59D07FEFD1}"/>
              </a:ext>
            </a:extLst>
          </p:cNvPr>
          <p:cNvPicPr>
            <a:picLocks noChangeAspect="1"/>
          </p:cNvPicPr>
          <p:nvPr/>
        </p:nvPicPr>
        <p:blipFill>
          <a:blip r:embed="rId2"/>
          <a:stretch>
            <a:fillRect/>
          </a:stretch>
        </p:blipFill>
        <p:spPr>
          <a:xfrm>
            <a:off x="3747516" y="3190876"/>
            <a:ext cx="5306568" cy="2808732"/>
          </a:xfrm>
          <a:prstGeom prst="rect">
            <a:avLst/>
          </a:prstGeom>
        </p:spPr>
      </p:pic>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fontScale="90000"/>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3.2</a:t>
            </a:r>
            <a:r>
              <a:rPr lang="zh-CN" altLang="en-US" sz="3600" b="1" dirty="0">
                <a:latin typeface="宋体"/>
                <a:ea typeface="宋体"/>
                <a:cs typeface="宋体"/>
                <a:sym typeface="宋体"/>
              </a:rPr>
              <a:t>自定义的神经网络框架的基本设计（选学内容）</a:t>
            </a:r>
          </a:p>
        </p:txBody>
      </p:sp>
      <p:sp>
        <p:nvSpPr>
          <p:cNvPr id="6" name="文本框 5">
            <a:extLst>
              <a:ext uri="{FF2B5EF4-FFF2-40B4-BE49-F238E27FC236}">
                <a16:creationId xmlns:a16="http://schemas.microsoft.com/office/drawing/2014/main" id="{77E74240-1CEE-4E1E-B360-53A2BD352F78}"/>
              </a:ext>
            </a:extLst>
          </p:cNvPr>
          <p:cNvSpPr txBox="1"/>
          <p:nvPr/>
        </p:nvSpPr>
        <p:spPr>
          <a:xfrm>
            <a:off x="200025" y="1562100"/>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3.2.1 </a:t>
            </a:r>
            <a:r>
              <a:rPr lang="zh-CN" altLang="zh-CN" sz="1800" b="1" kern="100" dirty="0">
                <a:effectLst/>
                <a:latin typeface="等线" panose="02010600030101010101" pitchFamily="2" charset="-122"/>
                <a:ea typeface="等线" panose="02010600030101010101" pitchFamily="2" charset="-122"/>
              </a:rPr>
              <a:t>神经网络框架的抽象实现</a:t>
            </a:r>
          </a:p>
        </p:txBody>
      </p:sp>
      <p:sp>
        <p:nvSpPr>
          <p:cNvPr id="8" name="文本框 7">
            <a:extLst>
              <a:ext uri="{FF2B5EF4-FFF2-40B4-BE49-F238E27FC236}">
                <a16:creationId xmlns:a16="http://schemas.microsoft.com/office/drawing/2014/main" id="{933FD8AC-9C44-488E-A07A-0C888EFAD5C6}"/>
              </a:ext>
            </a:extLst>
          </p:cNvPr>
          <p:cNvSpPr txBox="1"/>
          <p:nvPr/>
        </p:nvSpPr>
        <p:spPr>
          <a:xfrm>
            <a:off x="457199" y="2324100"/>
            <a:ext cx="8229599"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可以看到神经网络的预测就是训练过程的一部分，因此基于训练的过程我们可以对神经网络中的基本组件做出一个抽象：</a:t>
            </a:r>
          </a:p>
        </p:txBody>
      </p:sp>
      <p:pic>
        <p:nvPicPr>
          <p:cNvPr id="10" name="图片 9">
            <a:extLst>
              <a:ext uri="{FF2B5EF4-FFF2-40B4-BE49-F238E27FC236}">
                <a16:creationId xmlns:a16="http://schemas.microsoft.com/office/drawing/2014/main" id="{791E9E7E-08C7-45D4-B2D0-FCAF69BC53C6}"/>
              </a:ext>
            </a:extLst>
          </p:cNvPr>
          <p:cNvPicPr/>
          <p:nvPr/>
        </p:nvPicPr>
        <p:blipFill>
          <a:blip r:embed="rId2"/>
          <a:stretch>
            <a:fillRect/>
          </a:stretch>
        </p:blipFill>
        <p:spPr>
          <a:xfrm>
            <a:off x="5909310" y="2220036"/>
            <a:ext cx="2621280" cy="3442335"/>
          </a:xfrm>
          <a:prstGeom prst="rect">
            <a:avLst/>
          </a:prstGeom>
        </p:spPr>
      </p:pic>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3.2</a:t>
            </a:r>
            <a:r>
              <a:rPr lang="zh-CN" altLang="en-US" sz="2800" b="1" dirty="0">
                <a:latin typeface="宋体"/>
                <a:ea typeface="宋体"/>
                <a:cs typeface="宋体"/>
                <a:sym typeface="宋体"/>
              </a:rPr>
              <a:t>自定义的神经网络框架的基本设计（选学内容）</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3.2.2 </a:t>
            </a:r>
            <a:r>
              <a:rPr lang="zh-CN" altLang="zh-CN" sz="1800" b="1" kern="100" dirty="0">
                <a:effectLst/>
                <a:latin typeface="等线" panose="02010600030101010101" pitchFamily="2" charset="-122"/>
                <a:ea typeface="等线" panose="02010600030101010101" pitchFamily="2" charset="-122"/>
              </a:rPr>
              <a:t>自定义神经网络框架的具体实现</a:t>
            </a:r>
          </a:p>
        </p:txBody>
      </p:sp>
      <p:sp>
        <p:nvSpPr>
          <p:cNvPr id="12" name="文本框 11">
            <a:extLst>
              <a:ext uri="{FF2B5EF4-FFF2-40B4-BE49-F238E27FC236}">
                <a16:creationId xmlns:a16="http://schemas.microsoft.com/office/drawing/2014/main" id="{C1F7676E-D47F-425D-B29B-D625ECF06481}"/>
              </a:ext>
            </a:extLst>
          </p:cNvPr>
          <p:cNvSpPr txBox="1"/>
          <p:nvPr/>
        </p:nvSpPr>
        <p:spPr>
          <a:xfrm>
            <a:off x="771525" y="2457451"/>
            <a:ext cx="7686675"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本节开始作者将向读者演示自定义神经网络框架的具体实现内容，需要读者注意的是，这部分内容实现较为困难，请读者结合本章源码包中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train.py</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文件按步骤依次学习。</a:t>
            </a:r>
          </a:p>
        </p:txBody>
      </p:sp>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3.2.2 </a:t>
            </a:r>
            <a:r>
              <a:rPr lang="zh-CN" altLang="en-US" sz="2800" b="1" dirty="0">
                <a:latin typeface="宋体"/>
                <a:ea typeface="宋体"/>
                <a:cs typeface="宋体"/>
                <a:sym typeface="宋体"/>
              </a:rPr>
              <a:t>自定义神经网络框架的具体实现</a:t>
            </a: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3.2.2.1 tensor</a:t>
            </a:r>
            <a:r>
              <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数据包装</a:t>
            </a:r>
          </a:p>
        </p:txBody>
      </p:sp>
      <p:sp>
        <p:nvSpPr>
          <p:cNvPr id="5" name="文本框 4">
            <a:extLst>
              <a:ext uri="{FF2B5EF4-FFF2-40B4-BE49-F238E27FC236}">
                <a16:creationId xmlns:a16="http://schemas.microsoft.com/office/drawing/2014/main" id="{C01755D1-B807-4671-BDAE-33E4036B73F0}"/>
              </a:ext>
            </a:extLst>
          </p:cNvPr>
          <p:cNvSpPr txBox="1"/>
          <p:nvPr/>
        </p:nvSpPr>
        <p:spPr>
          <a:xfrm>
            <a:off x="809625" y="2276476"/>
            <a:ext cx="7677150" cy="15337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根据上面的分析，我们首先需要实现数据的输入输出定义，即</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tensor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的定义类型。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tensor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张量是神经网络中基本的数据单位，为了简单起见，我们这里直接使用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numpy.ndarray</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类作为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tensor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类的实现。</a:t>
            </a:r>
          </a:p>
          <a:p>
            <a:pPr indent="266700">
              <a:lnSpc>
                <a:spcPts val="1340"/>
              </a:lnSpc>
            </a:pPr>
            <a:r>
              <a:rPr lang="x-none" altLang="zh-CN" sz="14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import numpy as np</a:t>
            </a:r>
            <a:endParaRPr lang="zh-CN" altLang="zh-CN" sz="1400" dirty="0">
              <a:effectLst/>
              <a:latin typeface="Courier New" panose="02070309020205020404" pitchFamily="49" charset="0"/>
              <a:ea typeface="宋体" panose="02010600030101010101" pitchFamily="2" charset="-122"/>
              <a:cs typeface="Times New Roman" panose="02020603050405020304" pitchFamily="18" charset="0"/>
            </a:endParaRPr>
          </a:p>
          <a:p>
            <a:pPr indent="266700">
              <a:lnSpc>
                <a:spcPts val="1340"/>
              </a:lnSpc>
            </a:pPr>
            <a:r>
              <a:rPr lang="x-none" altLang="zh-CN" sz="1400" dirty="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tensor = np.random.random(size=(10,28,28,1))</a:t>
            </a:r>
            <a:endParaRPr lang="zh-CN" altLang="zh-CN" sz="1400" dirty="0">
              <a:effectLst/>
              <a:latin typeface="Courier New" panose="02070309020205020404" pitchFamily="49" charset="0"/>
              <a:ea typeface="宋体"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在这里我们使用了</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numpy</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包中的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random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函数对数据进行生成。</a:t>
            </a:r>
          </a:p>
        </p:txBody>
      </p:sp>
    </p:spTree>
    <p:extLst>
      <p:ext uri="{BB962C8B-B14F-4D97-AF65-F5344CB8AC3E}">
        <p14:creationId xmlns:p14="http://schemas.microsoft.com/office/powerpoint/2010/main" val="1397154366"/>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3.2.2 </a:t>
            </a:r>
            <a:r>
              <a:rPr lang="zh-CN" altLang="en-US" sz="2800" b="1" dirty="0">
                <a:latin typeface="宋体"/>
                <a:ea typeface="宋体"/>
                <a:cs typeface="宋体"/>
                <a:sym typeface="宋体"/>
              </a:rPr>
              <a:t>自定义神经网络框架的具体实现</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3.2.2.2 layer</a:t>
            </a:r>
            <a:r>
              <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计算层的基类与实现</a:t>
            </a:r>
          </a:p>
        </p:txBody>
      </p:sp>
      <p:sp>
        <p:nvSpPr>
          <p:cNvPr id="5" name="文本框 4">
            <a:extLst>
              <a:ext uri="{FF2B5EF4-FFF2-40B4-BE49-F238E27FC236}">
                <a16:creationId xmlns:a16="http://schemas.microsoft.com/office/drawing/2014/main" id="{C96D0D81-2363-48A7-835D-695FB28CA2F4}"/>
              </a:ext>
            </a:extLst>
          </p:cNvPr>
          <p:cNvSpPr txBox="1"/>
          <p:nvPr/>
        </p:nvSpPr>
        <p:spPr>
          <a:xfrm>
            <a:off x="457200" y="2009775"/>
            <a:ext cx="832485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计算层的作用是对输入的数据进行计算，在这里输入数据的前向计算在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过程中完成，而相对于普通的计算层来说，除了需要计算的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过程，还需要实现一个参数更新的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backward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进行计算。因此一个最基本的计算层的基类如下所示：</a:t>
            </a:r>
          </a:p>
        </p:txBody>
      </p:sp>
      <p:pic>
        <p:nvPicPr>
          <p:cNvPr id="4" name="图片 3">
            <a:extLst>
              <a:ext uri="{FF2B5EF4-FFF2-40B4-BE49-F238E27FC236}">
                <a16:creationId xmlns:a16="http://schemas.microsoft.com/office/drawing/2014/main" id="{506B29F7-E841-4FDA-B0BA-A4A726AA0210}"/>
              </a:ext>
            </a:extLst>
          </p:cNvPr>
          <p:cNvPicPr>
            <a:picLocks noChangeAspect="1"/>
          </p:cNvPicPr>
          <p:nvPr/>
        </p:nvPicPr>
        <p:blipFill>
          <a:blip r:embed="rId2"/>
          <a:stretch>
            <a:fillRect/>
          </a:stretch>
        </p:blipFill>
        <p:spPr>
          <a:xfrm>
            <a:off x="2328291" y="3300984"/>
            <a:ext cx="5306568" cy="1703832"/>
          </a:xfrm>
          <a:prstGeom prst="rect">
            <a:avLst/>
          </a:prstGeom>
        </p:spPr>
      </p:pic>
    </p:spTree>
    <p:extLst>
      <p:ext uri="{BB962C8B-B14F-4D97-AF65-F5344CB8AC3E}">
        <p14:creationId xmlns:p14="http://schemas.microsoft.com/office/powerpoint/2010/main" val="3179334609"/>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3.2.2 </a:t>
            </a:r>
            <a:r>
              <a:rPr lang="zh-CN" altLang="en-US" sz="2800" b="1" dirty="0">
                <a:latin typeface="宋体"/>
                <a:ea typeface="宋体"/>
                <a:cs typeface="宋体"/>
                <a:sym typeface="宋体"/>
              </a:rPr>
              <a:t>自定义神经网络框架的具体实现</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3.2.2.3 </a:t>
            </a:r>
            <a:r>
              <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激活层的基类与实现</a:t>
            </a:r>
          </a:p>
        </p:txBody>
      </p:sp>
      <p:sp>
        <p:nvSpPr>
          <p:cNvPr id="5" name="文本框 4">
            <a:extLst>
              <a:ext uri="{FF2B5EF4-FFF2-40B4-BE49-F238E27FC236}">
                <a16:creationId xmlns:a16="http://schemas.microsoft.com/office/drawing/2014/main" id="{90F7D220-3BB7-4426-A07F-FA1D3847DD51}"/>
              </a:ext>
            </a:extLst>
          </p:cNvPr>
          <p:cNvSpPr txBox="1"/>
          <p:nvPr/>
        </p:nvSpPr>
        <p:spPr>
          <a:xfrm>
            <a:off x="457200" y="1990725"/>
            <a:ext cx="822960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神经网络框架中的另一个重要的部分是激活函数。激活函数可以看做是一种网络层，同样需要实现</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forward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backward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方法。我们通过继承</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Layer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基类实现激活函数类，这里实现了最常用的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ReLU</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激活函数。</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forwar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backward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方法分别实现对应激活函数的正向计算和梯度计算。代码如下所示：</a:t>
            </a:r>
          </a:p>
        </p:txBody>
      </p:sp>
      <p:pic>
        <p:nvPicPr>
          <p:cNvPr id="4" name="图片 3">
            <a:extLst>
              <a:ext uri="{FF2B5EF4-FFF2-40B4-BE49-F238E27FC236}">
                <a16:creationId xmlns:a16="http://schemas.microsoft.com/office/drawing/2014/main" id="{7888D995-922B-4F37-B52A-F5507EBAD73C}"/>
              </a:ext>
            </a:extLst>
          </p:cNvPr>
          <p:cNvPicPr>
            <a:picLocks noChangeAspect="1"/>
          </p:cNvPicPr>
          <p:nvPr/>
        </p:nvPicPr>
        <p:blipFill>
          <a:blip r:embed="rId2"/>
          <a:stretch>
            <a:fillRect/>
          </a:stretch>
        </p:blipFill>
        <p:spPr>
          <a:xfrm>
            <a:off x="2775966" y="3479494"/>
            <a:ext cx="5306568" cy="1872996"/>
          </a:xfrm>
          <a:prstGeom prst="rect">
            <a:avLst/>
          </a:prstGeom>
        </p:spPr>
      </p:pic>
    </p:spTree>
    <p:extLst>
      <p:ext uri="{BB962C8B-B14F-4D97-AF65-F5344CB8AC3E}">
        <p14:creationId xmlns:p14="http://schemas.microsoft.com/office/powerpoint/2010/main" val="1081935174"/>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3.2.2 </a:t>
            </a:r>
            <a:r>
              <a:rPr lang="zh-CN" altLang="en-US" sz="2800" b="1" dirty="0">
                <a:latin typeface="宋体"/>
                <a:ea typeface="宋体"/>
                <a:cs typeface="宋体"/>
                <a:sym typeface="宋体"/>
              </a:rPr>
              <a:t>自定义神经网络框架的具体实现</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3.2.2.4 </a:t>
            </a:r>
            <a:r>
              <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辅助网络更新的基类</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-Net</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457200" y="1990725"/>
            <a:ext cx="8229600"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对于神经网络来说，误差需要在整个模型中传播，即正向（</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）和反向（</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backward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）传播。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的实现方法很简单，按顺序遍历所有层，每层计算的输出作为下一层的输入；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backward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则逆序遍历所有层，将每层的梯度作为下一层的输入。</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而这一部分的具体实现需要建立一个辅助网络参数更新的网络基类，其作用是对每一层进行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backward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计算，并更新各个层中的参数，因此为了达成这个目的我们建立了一个</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model</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基类，其作用是将每个网络层参数以及梯度保存下来。具体实现的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model</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类如下所示：</a:t>
            </a:r>
          </a:p>
        </p:txBody>
      </p:sp>
      <p:pic>
        <p:nvPicPr>
          <p:cNvPr id="3" name="图片 2">
            <a:extLst>
              <a:ext uri="{FF2B5EF4-FFF2-40B4-BE49-F238E27FC236}">
                <a16:creationId xmlns:a16="http://schemas.microsoft.com/office/drawing/2014/main" id="{799C75CB-3DE2-4F92-BCB9-69CD1E20E516}"/>
              </a:ext>
            </a:extLst>
          </p:cNvPr>
          <p:cNvPicPr>
            <a:picLocks noChangeAspect="1"/>
          </p:cNvPicPr>
          <p:nvPr/>
        </p:nvPicPr>
        <p:blipFill>
          <a:blip r:embed="rId2"/>
          <a:stretch>
            <a:fillRect/>
          </a:stretch>
        </p:blipFill>
        <p:spPr>
          <a:xfrm>
            <a:off x="3380232" y="4299049"/>
            <a:ext cx="5306568" cy="1533144"/>
          </a:xfrm>
          <a:prstGeom prst="rect">
            <a:avLst/>
          </a:prstGeom>
        </p:spPr>
      </p:pic>
    </p:spTree>
    <p:extLst>
      <p:ext uri="{BB962C8B-B14F-4D97-AF65-F5344CB8AC3E}">
        <p14:creationId xmlns:p14="http://schemas.microsoft.com/office/powerpoint/2010/main" val="235109314"/>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3.2.2 </a:t>
            </a:r>
            <a:r>
              <a:rPr lang="zh-CN" altLang="en-US" sz="2800" b="1" dirty="0">
                <a:latin typeface="宋体"/>
                <a:ea typeface="宋体"/>
                <a:cs typeface="宋体"/>
                <a:sym typeface="宋体"/>
              </a:rPr>
              <a:t>自定义神经网络框架的具体实现</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3.2.2.5 </a:t>
            </a:r>
            <a:r>
              <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损失函数计算组件与优化器</a:t>
            </a:r>
          </a:p>
        </p:txBody>
      </p:sp>
      <p:sp>
        <p:nvSpPr>
          <p:cNvPr id="5" name="文本框 4">
            <a:extLst>
              <a:ext uri="{FF2B5EF4-FFF2-40B4-BE49-F238E27FC236}">
                <a16:creationId xmlns:a16="http://schemas.microsoft.com/office/drawing/2014/main" id="{90F7D220-3BB7-4426-A07F-FA1D3847DD51}"/>
              </a:ext>
            </a:extLst>
          </p:cNvPr>
          <p:cNvSpPr txBox="1"/>
          <p:nvPr/>
        </p:nvSpPr>
        <p:spPr>
          <a:xfrm>
            <a:off x="457200" y="1990725"/>
            <a:ext cx="8229600"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对于神经网络的训练来说，损失的计算与参数优化是必不可少的内容。首先对于损失函数组件来说给定了预测值和真实值，需要计算损失值和关于预测值的梯度。我们分别实现为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loss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grad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两个方法。</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具体而言，我们需要实现基类的损失（</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loss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）函数与优化器（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ptimizer</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）函数，分别如下所示：</a:t>
            </a:r>
          </a:p>
        </p:txBody>
      </p:sp>
      <p:pic>
        <p:nvPicPr>
          <p:cNvPr id="8" name="图片 7">
            <a:extLst>
              <a:ext uri="{FF2B5EF4-FFF2-40B4-BE49-F238E27FC236}">
                <a16:creationId xmlns:a16="http://schemas.microsoft.com/office/drawing/2014/main" id="{EB10D98F-136C-4292-B766-5F1AF5001570}"/>
              </a:ext>
            </a:extLst>
          </p:cNvPr>
          <p:cNvPicPr>
            <a:picLocks noChangeAspect="1"/>
          </p:cNvPicPr>
          <p:nvPr/>
        </p:nvPicPr>
        <p:blipFill>
          <a:blip r:embed="rId2"/>
          <a:stretch>
            <a:fillRect/>
          </a:stretch>
        </p:blipFill>
        <p:spPr>
          <a:xfrm>
            <a:off x="2356866" y="3832479"/>
            <a:ext cx="5306568" cy="1193292"/>
          </a:xfrm>
          <a:prstGeom prst="rect">
            <a:avLst/>
          </a:prstGeom>
        </p:spPr>
      </p:pic>
    </p:spTree>
    <p:extLst>
      <p:ext uri="{BB962C8B-B14F-4D97-AF65-F5344CB8AC3E}">
        <p14:creationId xmlns:p14="http://schemas.microsoft.com/office/powerpoint/2010/main" val="1662659725"/>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3.2.2 </a:t>
            </a:r>
            <a:r>
              <a:rPr lang="zh-CN" altLang="en-US" sz="2800" b="1" dirty="0">
                <a:latin typeface="宋体"/>
                <a:ea typeface="宋体"/>
                <a:cs typeface="宋体"/>
                <a:sym typeface="宋体"/>
              </a:rPr>
              <a:t>自定义神经网络框架的具体实现</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3.2.2.6 </a:t>
            </a:r>
            <a:r>
              <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整体</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model</a:t>
            </a:r>
            <a:r>
              <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类的实现</a:t>
            </a:r>
          </a:p>
        </p:txBody>
      </p:sp>
      <p:sp>
        <p:nvSpPr>
          <p:cNvPr id="5" name="文本框 4">
            <a:extLst>
              <a:ext uri="{FF2B5EF4-FFF2-40B4-BE49-F238E27FC236}">
                <a16:creationId xmlns:a16="http://schemas.microsoft.com/office/drawing/2014/main" id="{90F7D220-3BB7-4426-A07F-FA1D3847DD51}"/>
              </a:ext>
            </a:extLst>
          </p:cNvPr>
          <p:cNvSpPr txBox="1"/>
          <p:nvPr/>
        </p:nvSpPr>
        <p:spPr>
          <a:xfrm>
            <a:off x="457200" y="1990725"/>
            <a:ext cx="822960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最后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model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类实现了我们一开始设计的三个接口</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forward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backward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apply_grad</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forward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直接调用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net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forward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backward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中把</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net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loss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optimizer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串起来，先计算损失</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loss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，然后反向传播得到梯度，然后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optimizer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计算步长，最后由</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apply_grad</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对参数进行更新，代码如下所示：</a:t>
            </a:r>
          </a:p>
        </p:txBody>
      </p:sp>
      <p:pic>
        <p:nvPicPr>
          <p:cNvPr id="3" name="图片 2">
            <a:extLst>
              <a:ext uri="{FF2B5EF4-FFF2-40B4-BE49-F238E27FC236}">
                <a16:creationId xmlns:a16="http://schemas.microsoft.com/office/drawing/2014/main" id="{4DE457C4-4E71-408D-98DB-B8D6C264A1C4}"/>
              </a:ext>
            </a:extLst>
          </p:cNvPr>
          <p:cNvPicPr>
            <a:picLocks noChangeAspect="1"/>
          </p:cNvPicPr>
          <p:nvPr/>
        </p:nvPicPr>
        <p:blipFill>
          <a:blip r:embed="rId2"/>
          <a:stretch>
            <a:fillRect/>
          </a:stretch>
        </p:blipFill>
        <p:spPr>
          <a:xfrm>
            <a:off x="2747391" y="3429000"/>
            <a:ext cx="5306568" cy="1703832"/>
          </a:xfrm>
          <a:prstGeom prst="rect">
            <a:avLst/>
          </a:prstGeom>
        </p:spPr>
      </p:pic>
    </p:spTree>
    <p:extLst>
      <p:ext uri="{BB962C8B-B14F-4D97-AF65-F5344CB8AC3E}">
        <p14:creationId xmlns:p14="http://schemas.microsoft.com/office/powerpoint/2010/main" val="3364728275"/>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3.2.2 </a:t>
            </a:r>
            <a:r>
              <a:rPr lang="zh-CN" altLang="en-US" sz="2800" b="1" dirty="0">
                <a:latin typeface="宋体"/>
                <a:ea typeface="宋体"/>
                <a:cs typeface="宋体"/>
                <a:sym typeface="宋体"/>
              </a:rPr>
              <a:t>自定义神经网络框架的具体实现</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3.2.2.7 </a:t>
            </a:r>
            <a:r>
              <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基于自定义框架的神经网络框架的训练</a:t>
            </a:r>
          </a:p>
        </p:txBody>
      </p:sp>
      <p:sp>
        <p:nvSpPr>
          <p:cNvPr id="5" name="文本框 4">
            <a:extLst>
              <a:ext uri="{FF2B5EF4-FFF2-40B4-BE49-F238E27FC236}">
                <a16:creationId xmlns:a16="http://schemas.microsoft.com/office/drawing/2014/main" id="{90F7D220-3BB7-4426-A07F-FA1D3847DD51}"/>
              </a:ext>
            </a:extLst>
          </p:cNvPr>
          <p:cNvSpPr txBox="1"/>
          <p:nvPr/>
        </p:nvSpPr>
        <p:spPr>
          <a:xfrm>
            <a:off x="457200" y="1990725"/>
            <a:ext cx="822960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恭喜读者，下面到我们最后一步，基于我们自定义框架的神经网络模型的训练。如果您是遵循作者的提示在一开始对应着</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train.py</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方法对模型的各个组件进行学习，那么相信在这里也会能够轻易的完成本节的最后一步。完整的自定义神经网络框架训练如下所示：</a:t>
            </a:r>
          </a:p>
        </p:txBody>
      </p:sp>
      <p:pic>
        <p:nvPicPr>
          <p:cNvPr id="4" name="图片 3">
            <a:extLst>
              <a:ext uri="{FF2B5EF4-FFF2-40B4-BE49-F238E27FC236}">
                <a16:creationId xmlns:a16="http://schemas.microsoft.com/office/drawing/2014/main" id="{68C02452-F6EA-41D6-8E69-A98B49EE9AB0}"/>
              </a:ext>
            </a:extLst>
          </p:cNvPr>
          <p:cNvPicPr>
            <a:picLocks noChangeAspect="1"/>
          </p:cNvPicPr>
          <p:nvPr/>
        </p:nvPicPr>
        <p:blipFill>
          <a:blip r:embed="rId2"/>
          <a:stretch>
            <a:fillRect/>
          </a:stretch>
        </p:blipFill>
        <p:spPr>
          <a:xfrm>
            <a:off x="2890266" y="3499866"/>
            <a:ext cx="5306568" cy="2043684"/>
          </a:xfrm>
          <a:prstGeom prst="rect">
            <a:avLst/>
          </a:prstGeom>
        </p:spPr>
      </p:pic>
    </p:spTree>
    <p:extLst>
      <p:ext uri="{BB962C8B-B14F-4D97-AF65-F5344CB8AC3E}">
        <p14:creationId xmlns:p14="http://schemas.microsoft.com/office/powerpoint/2010/main" val="2745690385"/>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dirty="0" err="1">
                <a:latin typeface="宋体"/>
                <a:ea typeface="宋体"/>
                <a:cs typeface="宋体"/>
                <a:sym typeface="宋体"/>
              </a:rPr>
              <a:t>本章小结</a:t>
            </a:r>
            <a:endParaRPr dirty="0">
              <a:latin typeface="宋体"/>
              <a:ea typeface="宋体"/>
              <a:cs typeface="宋体"/>
              <a:sym typeface="宋体"/>
            </a:endParaRPr>
          </a:p>
        </p:txBody>
      </p:sp>
      <p:sp>
        <p:nvSpPr>
          <p:cNvPr id="95" name="Shape 95"/>
          <p:cNvSpPr/>
          <p:nvPr/>
        </p:nvSpPr>
        <p:spPr>
          <a:xfrm>
            <a:off x="457200" y="2264144"/>
            <a:ext cx="7970243" cy="2585323"/>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在本章中作者向读者演示了使用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Pytorch</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框架进行手写体识别的完整例子，在这一部分内容中我们完整的对</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MNIST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手写体项目进行分类，同时讲解了模型的标签问题以及我们在后期常用的损失函数计算方面的内容，可以说在后面的过程中</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crossentropy</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损失函数将会是深度学习方面最重要的一个损失函数，这点请读者认真学习。</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对于学有余力的读者，作者也通过自定义一个深度学习框架向读者完整演示了深度学习框架的完整设计内容，讲解了各部分的工作原理和最终组合在一起运行的流程，这主要是供读者熟悉深度学习框架。</a:t>
            </a:r>
          </a:p>
          <a:p>
            <a:endParaRPr dirty="0"/>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96</TotalTime>
  <Words>1496</Words>
  <Application>Microsoft Office PowerPoint</Application>
  <PresentationFormat>全屏显示(4:3)</PresentationFormat>
  <Paragraphs>55</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Songti SC Bold</vt:lpstr>
      <vt:lpstr>等线</vt:lpstr>
      <vt:lpstr>等线 Light</vt:lpstr>
      <vt:lpstr>宋体</vt:lpstr>
      <vt:lpstr>Arial</vt:lpstr>
      <vt:lpstr>Calibri</vt:lpstr>
      <vt:lpstr>Courier New</vt:lpstr>
      <vt:lpstr>Tema de Office</vt:lpstr>
      <vt:lpstr>第3章 使用Python实现自定义的深度学习框架</vt:lpstr>
      <vt:lpstr>3.1 基于Pytorch的MNIST手写体分类</vt:lpstr>
      <vt:lpstr>3.1 基于Pytorch的MNIST手写体分类</vt:lpstr>
      <vt:lpstr>3.1 基于Pytorch的MNIST手写体分类</vt:lpstr>
      <vt:lpstr>3.2自定义的神经网络框架的基本设计（选学内容）</vt:lpstr>
      <vt:lpstr>3.2自定义的神经网络框架的基本设计（选学内容）</vt:lpstr>
      <vt:lpstr>3.2.2 自定义神经网络框架的具体实现</vt:lpstr>
      <vt:lpstr>3.2.2 自定义神经网络框架的具体实现</vt:lpstr>
      <vt:lpstr>3.2.2 自定义神经网络框架的具体实现</vt:lpstr>
      <vt:lpstr>3.2.2 自定义神经网络框架的具体实现</vt:lpstr>
      <vt:lpstr>3.2.2 自定义神经网络框架的具体实现</vt:lpstr>
      <vt:lpstr>3.2.2 自定义神经网络框架的具体实现</vt:lpstr>
      <vt:lpstr>3.2.2 自定义神经网络框架的具体实现</vt:lpstr>
      <vt:lpstr>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6</cp:revision>
  <dcterms:modified xsi:type="dcterms:W3CDTF">2023-07-24T08:48:08Z</dcterms:modified>
</cp:coreProperties>
</file>