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5" r:id="rId2"/>
    <p:sldId id="296" r:id="rId3"/>
    <p:sldId id="297" r:id="rId4"/>
    <p:sldId id="298" r:id="rId5"/>
    <p:sldId id="299" r:id="rId6"/>
    <p:sldId id="300" r:id="rId7"/>
    <p:sldId id="308" r:id="rId8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2B3"/>
    <a:srgbClr val="5AD00A"/>
    <a:srgbClr val="0099FF"/>
    <a:srgbClr val="0EB1E7"/>
    <a:srgbClr val="FFD347"/>
    <a:srgbClr val="B88C00"/>
    <a:srgbClr val="99EA08"/>
    <a:srgbClr val="8382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9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381E594-34E0-48A4-A6F1-4EF1B9A98F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41D69A-17A6-47B0-9A33-26F0AC5BAF2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D3AAEDB-7AB8-4C44-B047-DD2E41F2222D}" type="datetimeFigureOut">
              <a:rPr lang="zh-CN" altLang="en-US"/>
              <a:pPr>
                <a:defRPr/>
              </a:pPr>
              <a:t>2023/7/26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96A3E6A-8805-41B9-B661-4EBEA065A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A96D61F-B798-435A-926F-9E4410811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9405C0-E0D9-4C53-85A6-735731B2C9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1F842-CD53-466F-A5F2-51481B727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838DFC2-96AD-4001-B847-30759E8E9A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7614B32B-DA36-49C8-BC9D-2D1973A4CC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D1BBC2-E78E-4A26-8C36-F11F9F4AF79B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D23087E1-517F-451B-84E5-E473A05C31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EAA27C8A-8E62-4246-8553-D3D2ADA338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89A9C-18FC-4525-A6D3-73FA4513846D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5221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157494EC-88A3-4672-A00E-6D5648D15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D2FE1-3495-4562-8210-CF1352B6E12B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06FB3D9F-3B5D-4738-928D-7F00378DE7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09040E28-8BD5-4182-8AB5-27D41AF468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FAF02-F389-4EF1-BC4C-F06649C446A3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1858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D59303EE-F4FE-42F8-8F35-F495EE8951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14612-E696-490C-87AD-23907364A10E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56E8DD98-8728-4C2E-92CD-42677ACF75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70082715-6CE9-47CB-BAD0-895483A239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C6958-D164-4354-9E71-B4E49CD357EF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4197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6E2D3D00-A67F-48AD-AF1D-090C6891E8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9F4EE3-5847-43DC-9915-5B5D189C4675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DDC75780-5AE4-4AF0-9EF9-61E016D14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5CFD295C-7CBA-49DA-96DF-26A5B0743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9D1DE-5E37-4020-9F87-364E0B32593D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87068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3 Marcador de fecha">
            <a:extLst>
              <a:ext uri="{FF2B5EF4-FFF2-40B4-BE49-F238E27FC236}">
                <a16:creationId xmlns:a16="http://schemas.microsoft.com/office/drawing/2014/main" id="{0B215AC2-3438-4798-A4D9-B4BA61C9ED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3C1FC-679D-4C70-B14C-2EA42877C7D3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8" name="4 Marcador de pie de página">
            <a:extLst>
              <a:ext uri="{FF2B5EF4-FFF2-40B4-BE49-F238E27FC236}">
                <a16:creationId xmlns:a16="http://schemas.microsoft.com/office/drawing/2014/main" id="{79822A5C-35AB-4E68-AF14-4C36E551BA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5 Marcador de número de diapositiva">
            <a:extLst>
              <a:ext uri="{FF2B5EF4-FFF2-40B4-BE49-F238E27FC236}">
                <a16:creationId xmlns:a16="http://schemas.microsoft.com/office/drawing/2014/main" id="{2A957466-1E74-42A6-843D-B8338F4FB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3C5B9-99A9-449B-A8A5-2F25AAD6FD81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5350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3 Marcador de fecha">
            <a:extLst>
              <a:ext uri="{FF2B5EF4-FFF2-40B4-BE49-F238E27FC236}">
                <a16:creationId xmlns:a16="http://schemas.microsoft.com/office/drawing/2014/main" id="{9C8C3601-943B-4B75-969A-19CDD761E0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DD854-5AF8-4989-8988-6193C4EA1419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D7A61ED2-7642-4661-9CDE-D9458641DD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5B2235F3-CE11-429E-8482-4A145E75BE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33840-103F-4F5F-8B89-0C4D25D74697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2780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D11AF5-8F12-474E-A7BF-C4CF616FB7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92150"/>
            <a:ext cx="9144000" cy="46038"/>
          </a:xfrm>
          <a:prstGeom prst="rect">
            <a:avLst/>
          </a:prstGeom>
          <a:gradFill rotWithShape="1">
            <a:gsLst>
              <a:gs pos="0">
                <a:srgbClr val="D8D8D8"/>
              </a:gs>
              <a:gs pos="17998">
                <a:srgbClr val="A5A5A5"/>
              </a:gs>
              <a:gs pos="51999">
                <a:srgbClr val="595959"/>
              </a:gs>
              <a:gs pos="82001">
                <a:srgbClr val="BFBFBF"/>
              </a:gs>
              <a:gs pos="100000">
                <a:srgbClr val="CCCCFF"/>
              </a:gs>
            </a:gsLst>
            <a:lin ang="0" scaled="1"/>
          </a:gra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3 Marcador de fecha">
            <a:extLst>
              <a:ext uri="{FF2B5EF4-FFF2-40B4-BE49-F238E27FC236}">
                <a16:creationId xmlns:a16="http://schemas.microsoft.com/office/drawing/2014/main" id="{95DE3140-4B55-47D5-ADF2-8886DF893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12CA3-2C9D-4EF7-8431-947C872B9881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5BFDDF23-9A3A-4C8E-AC5D-9BC5CCE24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8162F582-48A9-41A4-9BE1-0379B77059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6AD399B-2BFF-42D3-99F5-B495B3F3EF09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85616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39B4A3B3-EFFD-43E3-B49B-51DFFD372F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17798-F4B3-42EE-B574-1FB8B7B7CC7E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0EB5D1F3-67DB-4F73-9E44-CD57C6C0BD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ACD52745-C9A0-4FF3-B107-5B9BBAFE9E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3C836-306E-433C-AB07-E12D0AEB2DB3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041082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B7F09361-E9EA-45AA-9EC4-0796E794A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46FD8-E13C-4B1A-90EF-B7DF944E07F9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168E2DB1-1CAB-4C71-BFA6-64FE9B0D74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9BEEFB8D-8930-4959-B56A-35BA0E923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2E610-9008-4A6C-9A5D-7173955C9E62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09958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2B37CEB6-87EA-40E2-9D7C-084EE665C8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8E3BF-6CB8-4783-B159-D54EF8C543D1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2BDFB1EC-156A-4FD5-AFEE-28A0C521C5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3F15840B-3D04-4581-9F19-36A4F72C5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BB67C-0C23-4FBE-B00E-F49D6363D650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74808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462FA359-0BA4-4C7C-998E-90C0C07FE2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F8D3E-2B10-411D-9264-335AF5AB55E5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570ABB7E-4684-4170-93B2-7296A47205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73747833-30B1-4C8C-BBB5-A892186A1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48F309-D6A1-467F-9BF8-9A2E51B660A4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62650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91247BBC-C63C-4FB4-A88A-D7A789CE7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título del patrón</a:t>
            </a:r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39FADFA2-F5F4-45CE-9E3F-BA965A42C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3 Marcador de fecha">
            <a:extLst>
              <a:ext uri="{FF2B5EF4-FFF2-40B4-BE49-F238E27FC236}">
                <a16:creationId xmlns:a16="http://schemas.microsoft.com/office/drawing/2014/main" id="{974DB53C-2043-48A4-80AD-62333D57C1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0C5D086-FA4E-491C-A29E-F7F559DB5343}" type="datetimeFigureOut">
              <a:rPr lang="zh-CN" altLang="en-US"/>
              <a:pPr>
                <a:defRPr/>
              </a:pPr>
              <a:t>2023/7/26</a:t>
            </a:fld>
            <a:endParaRPr lang="es-ES" altLang="en-US"/>
          </a:p>
        </p:txBody>
      </p:sp>
      <p:sp>
        <p:nvSpPr>
          <p:cNvPr id="1029" name="4 Marcador de pie de página">
            <a:extLst>
              <a:ext uri="{FF2B5EF4-FFF2-40B4-BE49-F238E27FC236}">
                <a16:creationId xmlns:a16="http://schemas.microsoft.com/office/drawing/2014/main" id="{C6B33EEA-6103-40CE-8CED-FD6429B49AE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5 Marcador de número de diapositiva">
            <a:extLst>
              <a:ext uri="{FF2B5EF4-FFF2-40B4-BE49-F238E27FC236}">
                <a16:creationId xmlns:a16="http://schemas.microsoft.com/office/drawing/2014/main" id="{F064986C-5270-4757-99A3-7C3222DA77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7EB0D-2BC0-4235-9AD4-6A0464E9E284}" type="slidenum">
              <a:rPr lang="zh-CN" altLang="en-US"/>
              <a:pPr>
                <a:defRPr/>
              </a:pPr>
              <a:t>‹#›</a:t>
            </a:fld>
            <a:endParaRPr lang="es-E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4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0E696708-E3F7-4955-9FAB-D6EF3F61E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ea typeface="宋体" panose="02010600030101010101" pitchFamily="2" charset="-122"/>
              </a:rPr>
              <a:t>第</a:t>
            </a:r>
            <a:r>
              <a:rPr lang="en-US" altLang="zh-CN" sz="2800" b="1" dirty="0">
                <a:ea typeface="宋体" panose="02010600030101010101" pitchFamily="2" charset="-122"/>
              </a:rPr>
              <a:t>11</a:t>
            </a:r>
            <a:r>
              <a:rPr lang="zh-CN" altLang="en-US" sz="2800" b="1" dirty="0">
                <a:ea typeface="宋体" panose="02010600030101010101" pitchFamily="2" charset="-122"/>
              </a:rPr>
              <a:t>章  站在巨人肩膀上的预训练模型</a:t>
            </a:r>
            <a:r>
              <a:rPr lang="en-US" altLang="zh-CN" sz="2800" b="1" dirty="0">
                <a:ea typeface="宋体" panose="02010600030101010101" pitchFamily="2" charset="-122"/>
              </a:rPr>
              <a:t>-Bert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4099" name="内容占位符 2">
            <a:extLst>
              <a:ext uri="{FF2B5EF4-FFF2-40B4-BE49-F238E27FC236}">
                <a16:creationId xmlns:a16="http://schemas.microsoft.com/office/drawing/2014/main" id="{A0AF8FF0-1AF0-4B34-B2AC-70FE2E9B2F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11.1  </a:t>
            </a:r>
            <a:r>
              <a:rPr lang="zh-CN" altLang="en-US" dirty="0">
                <a:ea typeface="宋体" panose="02010600030101010101" pitchFamily="2" charset="-122"/>
              </a:rPr>
              <a:t>预训练模型</a:t>
            </a:r>
            <a:r>
              <a:rPr lang="en-US" altLang="zh-CN" dirty="0">
                <a:ea typeface="宋体" panose="02010600030101010101" pitchFamily="2" charset="-122"/>
              </a:rPr>
              <a:t>BERT</a:t>
            </a: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11.2  </a:t>
            </a:r>
            <a:r>
              <a:rPr lang="zh-CN" altLang="en-US" dirty="0">
                <a:ea typeface="宋体" panose="02010600030101010101" pitchFamily="2" charset="-122"/>
              </a:rPr>
              <a:t>实战</a:t>
            </a:r>
            <a:r>
              <a:rPr lang="en-US" altLang="zh-CN" dirty="0">
                <a:ea typeface="宋体" panose="02010600030101010101" pitchFamily="2" charset="-122"/>
              </a:rPr>
              <a:t>BERT</a:t>
            </a:r>
            <a:r>
              <a:rPr lang="zh-CN" altLang="en-US" dirty="0">
                <a:ea typeface="宋体" panose="02010600030101010101" pitchFamily="2" charset="-122"/>
              </a:rPr>
              <a:t>：中文文本分类</a:t>
            </a: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11.3  </a:t>
            </a:r>
            <a:r>
              <a:rPr lang="zh-CN" altLang="en-US" dirty="0">
                <a:ea typeface="宋体" panose="02010600030101010101" pitchFamily="2" charset="-122"/>
              </a:rPr>
              <a:t>更多的预训练模型</a:t>
            </a: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11.4  </a:t>
            </a:r>
            <a:r>
              <a:rPr lang="zh-CN" altLang="en-US" dirty="0">
                <a:ea typeface="宋体" panose="02010600030101010101" pitchFamily="2" charset="-122"/>
              </a:rPr>
              <a:t>本章小结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AD62EE69-FF52-40F2-9FC5-5C504E966D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11.1  </a:t>
            </a:r>
            <a:r>
              <a:rPr lang="zh-CN" altLang="en-US" dirty="0">
                <a:ea typeface="宋体" panose="02010600030101010101" pitchFamily="2" charset="-122"/>
              </a:rPr>
              <a:t>预训练模型</a:t>
            </a:r>
            <a:r>
              <a:rPr lang="en-US" altLang="zh-CN" dirty="0">
                <a:ea typeface="宋体" panose="02010600030101010101" pitchFamily="2" charset="-122"/>
              </a:rPr>
              <a:t>BERT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AD336B-A3E8-4F38-89F3-F5B422D6A3D2}"/>
              </a:ext>
            </a:extLst>
          </p:cNvPr>
          <p:cNvSpPr txBox="1"/>
          <p:nvPr/>
        </p:nvSpPr>
        <p:spPr>
          <a:xfrm>
            <a:off x="179512" y="16288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11.1.1  BERT</a:t>
            </a:r>
            <a:r>
              <a:rPr lang="zh-CN" altLang="en-US" dirty="0"/>
              <a:t>基本架构与应用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A3295B-0DE4-4F83-AE18-7827D0B2ACD8}"/>
              </a:ext>
            </a:extLst>
          </p:cNvPr>
          <p:cNvSpPr txBox="1"/>
          <p:nvPr/>
        </p:nvSpPr>
        <p:spPr>
          <a:xfrm>
            <a:off x="323528" y="2209295"/>
            <a:ext cx="8424936" cy="1504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9875" algn="just">
              <a:lnSpc>
                <a:spcPts val="156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的模型架构是一个多层的双向注意力结构的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encoder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部分。本节先来看看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输入再复习前面介绍的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模型架构。</a:t>
            </a:r>
          </a:p>
          <a:p>
            <a:pPr indent="269875" algn="just">
              <a:lnSpc>
                <a:spcPts val="156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．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BERT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的输入</a:t>
            </a:r>
            <a:endParaRPr lang="en-US" altLang="zh-CN" sz="1800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269875" algn="just">
              <a:lnSpc>
                <a:spcPts val="156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．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BERT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的模型架构</a:t>
            </a:r>
          </a:p>
          <a:p>
            <a:pPr indent="269875" algn="just">
              <a:lnSpc>
                <a:spcPts val="1560"/>
              </a:lnSpc>
              <a:spcBef>
                <a:spcPts val="600"/>
              </a:spcBef>
              <a:spcAft>
                <a:spcPts val="600"/>
              </a:spcAft>
            </a:pPr>
            <a:endParaRPr lang="zh-CN" altLang="zh-CN" sz="1800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815C580A-7EDA-45BC-B1B0-8681ED37B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11.1  </a:t>
            </a:r>
            <a:r>
              <a:rPr lang="zh-CN" altLang="en-US" dirty="0">
                <a:ea typeface="宋体" panose="02010600030101010101" pitchFamily="2" charset="-122"/>
              </a:rPr>
              <a:t>预训练模型</a:t>
            </a:r>
            <a:r>
              <a:rPr lang="en-US" altLang="zh-CN" dirty="0">
                <a:ea typeface="宋体" panose="02010600030101010101" pitchFamily="2" charset="-122"/>
              </a:rPr>
              <a:t>BERT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5B4A23E8-D5C7-4698-A477-7F0D620FC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964704"/>
          </a:xfrm>
        </p:spPr>
        <p:txBody>
          <a:bodyPr/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11.1.2  BERT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预训练任务与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Fine-Tuning</a:t>
            </a:r>
            <a:endParaRPr lang="zh-CN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E6C839-1E47-4C82-AE00-D41CCE1AE7DC}"/>
              </a:ext>
            </a:extLst>
          </p:cNvPr>
          <p:cNvSpPr txBox="1"/>
          <p:nvPr/>
        </p:nvSpPr>
        <p:spPr>
          <a:xfrm>
            <a:off x="457200" y="2411921"/>
            <a:ext cx="8435280" cy="1504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9875" algn="just">
              <a:lnSpc>
                <a:spcPts val="1560"/>
              </a:lnSpc>
            </a:pP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在介绍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的预训练任务方案时，首先介绍一下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在使用时的思路，即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在训练过程中将自己的训练任务和可替换的微调系统（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Fine-Tuning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）分离。</a:t>
            </a:r>
          </a:p>
          <a:p>
            <a:pPr indent="269875" algn="just">
              <a:lnSpc>
                <a:spcPts val="156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．开创性的预训练任务方案</a:t>
            </a:r>
            <a:endParaRPr lang="en-US" altLang="zh-CN" sz="1800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269875" algn="just">
              <a:lnSpc>
                <a:spcPts val="156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．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BERT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用于具体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NLP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任务（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Fine-Tuning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rPr>
              <a:t>）</a:t>
            </a:r>
          </a:p>
          <a:p>
            <a:pPr indent="269875" algn="just">
              <a:lnSpc>
                <a:spcPts val="1560"/>
              </a:lnSpc>
              <a:spcBef>
                <a:spcPts val="600"/>
              </a:spcBef>
              <a:spcAft>
                <a:spcPts val="600"/>
              </a:spcAft>
            </a:pPr>
            <a:endParaRPr lang="zh-CN" altLang="zh-CN" sz="1800" kern="100" dirty="0">
              <a:effectLst/>
              <a:latin typeface="Arial" panose="020B0604020202020204" pitchFamily="34" charset="0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91D1B3F1-820A-4856-80E7-28F638330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11.2  </a:t>
            </a:r>
            <a:r>
              <a:rPr lang="zh-CN" altLang="en-US" dirty="0">
                <a:ea typeface="宋体" panose="02010600030101010101" pitchFamily="2" charset="-122"/>
              </a:rPr>
              <a:t>实战</a:t>
            </a:r>
            <a:r>
              <a:rPr lang="en-US" altLang="zh-CN" dirty="0">
                <a:ea typeface="宋体" panose="02010600030101010101" pitchFamily="2" charset="-122"/>
              </a:rPr>
              <a:t>BERT</a:t>
            </a:r>
            <a:r>
              <a:rPr lang="zh-CN" altLang="en-US" dirty="0">
                <a:ea typeface="宋体" panose="02010600030101010101" pitchFamily="2" charset="-122"/>
              </a:rPr>
              <a:t>：中文文本分类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10A1BC15-4D37-4BB5-92C0-EB32892AD6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748680"/>
          </a:xfrm>
        </p:spPr>
        <p:txBody>
          <a:bodyPr/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11.2.1  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使用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Hugging face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获取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BERT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预训练模型</a:t>
            </a:r>
            <a:endParaRPr lang="zh-CN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4E0AD6-63A4-40B8-B298-518930558CA1}"/>
              </a:ext>
            </a:extLst>
          </p:cNvPr>
          <p:cNvSpPr txBox="1"/>
          <p:nvPr/>
        </p:nvSpPr>
        <p:spPr>
          <a:xfrm>
            <a:off x="683568" y="2531442"/>
            <a:ext cx="7776864" cy="20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9875" algn="just">
              <a:lnSpc>
                <a:spcPts val="156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是一个预训练模型，其基本架构和存档都有相应的服务公司提供下载服务，而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Hugging face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是一家目前专门免费提供自然语言处理预训练模型的公司。</a:t>
            </a:r>
          </a:p>
          <a:p>
            <a:pPr indent="269875" algn="just">
              <a:lnSpc>
                <a:spcPts val="1560"/>
              </a:lnSpc>
              <a:spcAft>
                <a:spcPts val="600"/>
              </a:spcAft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Hugging face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是一家总部位于纽约的聊天机器人初创服务商，开发的应用在青少年中颇受欢迎，相比于其他公司，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Hugging face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更加注重产品带来的情感以及环境因素。在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Github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上开源的自然语言处理、预训练模型库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Transformers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提供了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NLP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领域大量优秀的预训练语言模型结构的模型和调用框架。</a:t>
            </a:r>
          </a:p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45A5155-4C0E-4875-A83C-1A8E06F7A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11.2  </a:t>
            </a:r>
            <a:r>
              <a:rPr lang="zh-CN" altLang="en-US" dirty="0">
                <a:ea typeface="宋体" panose="02010600030101010101" pitchFamily="2" charset="-122"/>
              </a:rPr>
              <a:t>实战</a:t>
            </a:r>
            <a:r>
              <a:rPr lang="en-US" altLang="zh-CN" dirty="0">
                <a:ea typeface="宋体" panose="02010600030101010101" pitchFamily="2" charset="-122"/>
              </a:rPr>
              <a:t>BERT</a:t>
            </a:r>
            <a:r>
              <a:rPr lang="zh-CN" altLang="en-US" dirty="0">
                <a:ea typeface="宋体" panose="02010600030101010101" pitchFamily="2" charset="-122"/>
              </a:rPr>
              <a:t>：中文文本分类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B5E2DA13-F23F-4CBA-9201-5E0C984D44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7486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11.2.2  BERT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实战文本分类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E00286-4A4F-4337-943D-56C56F40D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46" y="2151961"/>
            <a:ext cx="8219653" cy="23571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75A920-47F4-40BC-B9FC-B05BDE7DB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4509121"/>
            <a:ext cx="5306568" cy="1085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51746900-0E63-4A5B-8B44-0FB00DB18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11.3  </a:t>
            </a:r>
            <a:r>
              <a:rPr lang="zh-CN" altLang="en-US" dirty="0">
                <a:ea typeface="宋体" panose="02010600030101010101" pitchFamily="2" charset="-122"/>
              </a:rPr>
              <a:t>更多的预训练模型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AE4F2A-24EE-4FB0-B9E3-7A862EF2E920}"/>
              </a:ext>
            </a:extLst>
          </p:cNvPr>
          <p:cNvSpPr txBox="1"/>
          <p:nvPr/>
        </p:nvSpPr>
        <p:spPr>
          <a:xfrm>
            <a:off x="251520" y="1417638"/>
            <a:ext cx="871296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9875" algn="just">
              <a:lnSpc>
                <a:spcPts val="156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Hugging face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在提供了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预训练模型下载之外还提供了更多的预训练模型下载，打开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Hugging face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主页，如图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11.12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93A467-443D-4422-8CA1-2379F5390F7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631222"/>
            <a:ext cx="5274310" cy="2600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FB95364B-5624-4BF4-8322-518CE0267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11.4  </a:t>
            </a:r>
            <a:r>
              <a:rPr lang="zh-CN" altLang="en-US" dirty="0">
                <a:ea typeface="宋体" panose="02010600030101010101" pitchFamily="2" charset="-122"/>
              </a:rPr>
              <a:t>本章小结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208D6A-6153-4DDE-97A9-A278C4007288}"/>
              </a:ext>
            </a:extLst>
          </p:cNvPr>
          <p:cNvSpPr txBox="1"/>
          <p:nvPr/>
        </p:nvSpPr>
        <p:spPr>
          <a:xfrm>
            <a:off x="755576" y="1844824"/>
            <a:ext cx="78488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9875" algn="just">
              <a:lnSpc>
                <a:spcPts val="1560"/>
              </a:lnSpc>
            </a:pP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本章向读者介绍了预训练模型的使用，以最经典的预训练模型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为例向读者演示了使用预训练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进行文本分类的方法。</a:t>
            </a:r>
          </a:p>
          <a:p>
            <a:pPr indent="269875" algn="just">
              <a:lnSpc>
                <a:spcPts val="1560"/>
              </a:lnSpc>
            </a:pP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除此之外，对于使用的预训练模型来说，使用每个序列中的第一个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可以较好地达到表示完整序列的功能，这在某些任务中有较好的作用。</a:t>
            </a:r>
          </a:p>
          <a:p>
            <a:pPr indent="269875" algn="just">
              <a:lnSpc>
                <a:spcPts val="156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Hugging face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提供了很多预训练模型下载，这里也介绍了很多使用预训练模型的方法，欢迎有兴趣的读者自行学习和比较。</a:t>
            </a:r>
          </a:p>
        </p:txBody>
      </p:sp>
    </p:spTree>
    <p:extLst>
      <p:ext uri="{BB962C8B-B14F-4D97-AF65-F5344CB8AC3E}">
        <p14:creationId xmlns:p14="http://schemas.microsoft.com/office/powerpoint/2010/main" val="3142348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Tema de 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Tema de Offic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157255441</TotalTime>
  <Pages>0</Pages>
  <Words>439</Words>
  <Characters>0</Characters>
  <Application>Microsoft Office PowerPoint</Application>
  <DocSecurity>0</DocSecurity>
  <PresentationFormat>全屏显示(4:3)</PresentationFormat>
  <Lines>0</Lines>
  <Paragraphs>27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宋体</vt:lpstr>
      <vt:lpstr>Arial</vt:lpstr>
      <vt:lpstr>Calibri</vt:lpstr>
      <vt:lpstr>Times New Roman</vt:lpstr>
      <vt:lpstr>Tema de Office</vt:lpstr>
      <vt:lpstr>第11章  站在巨人肩膀上的预训练模型-Bert</vt:lpstr>
      <vt:lpstr>11.1  预训练模型BERT</vt:lpstr>
      <vt:lpstr>11.1  预训练模型BERT</vt:lpstr>
      <vt:lpstr>11.2  实战BERT：中文文本分类</vt:lpstr>
      <vt:lpstr>11.2  实战BERT：中文文本分类</vt:lpstr>
      <vt:lpstr>11.3  更多的预训练模型</vt:lpstr>
      <vt:lpstr>11.4  本章小结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Design</dc:creator>
  <cp:keywords/>
  <dc:description/>
  <cp:lastModifiedBy>lenovo</cp:lastModifiedBy>
  <cp:revision>59</cp:revision>
  <cp:lastPrinted>1899-12-30T00:00:00Z</cp:lastPrinted>
  <dcterms:created xsi:type="dcterms:W3CDTF">2010-05-18T15:49:44Z</dcterms:created>
  <dcterms:modified xsi:type="dcterms:W3CDTF">2023-07-26T06:13:29Z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2052-8.1.0.2988</vt:lpwstr>
  </property>
</Properties>
</file>