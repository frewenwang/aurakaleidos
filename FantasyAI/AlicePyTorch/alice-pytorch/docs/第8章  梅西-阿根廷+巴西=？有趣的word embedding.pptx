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8" r:id="rId3"/>
    <p:sldId id="270" r:id="rId4"/>
    <p:sldId id="271" r:id="rId5"/>
    <p:sldId id="272" r:id="rId6"/>
    <p:sldId id="273" r:id="rId7"/>
    <p:sldId id="278" r:id="rId8"/>
    <p:sldId id="274" r:id="rId9"/>
    <p:sldId id="275" r:id="rId10"/>
    <p:sldId id="276" r:id="rId11"/>
    <p:sldId id="277" r:id="rId12"/>
    <p:sldId id="281" r:id="rId13"/>
    <p:sldId id="282" r:id="rId14"/>
    <p:sldId id="280" r:id="rId15"/>
    <p:sldId id="283" r:id="rId16"/>
    <p:sldId id="284" r:id="rId17"/>
    <p:sldId id="279" r:id="rId18"/>
    <p:sldId id="285" r:id="rId19"/>
    <p:sldId id="269" r:id="rId20"/>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5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1143000" y="685800"/>
            <a:ext cx="4572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Calibri"/>
      </a:defRPr>
    </a:lvl1pPr>
    <a:lvl2pPr indent="228600" latinLnBrk="0">
      <a:spcBef>
        <a:spcPts val="400"/>
      </a:spcBef>
      <a:defRPr sz="1200">
        <a:latin typeface="+mj-lt"/>
        <a:ea typeface="+mj-ea"/>
        <a:cs typeface="+mj-cs"/>
        <a:sym typeface="Calibri"/>
      </a:defRPr>
    </a:lvl2pPr>
    <a:lvl3pPr indent="457200" latinLnBrk="0">
      <a:spcBef>
        <a:spcPts val="400"/>
      </a:spcBef>
      <a:defRPr sz="1200">
        <a:latin typeface="+mj-lt"/>
        <a:ea typeface="+mj-ea"/>
        <a:cs typeface="+mj-cs"/>
        <a:sym typeface="Calibri"/>
      </a:defRPr>
    </a:lvl3pPr>
    <a:lvl4pPr indent="685800" latinLnBrk="0">
      <a:spcBef>
        <a:spcPts val="400"/>
      </a:spcBef>
      <a:defRPr sz="1200">
        <a:latin typeface="+mj-lt"/>
        <a:ea typeface="+mj-ea"/>
        <a:cs typeface="+mj-cs"/>
        <a:sym typeface="Calibri"/>
      </a:defRPr>
    </a:lvl4pPr>
    <a:lvl5pPr indent="914400" latinLnBrk="0">
      <a:spcBef>
        <a:spcPts val="400"/>
      </a:spcBef>
      <a:defRPr sz="1200">
        <a:latin typeface="+mj-lt"/>
        <a:ea typeface="+mj-ea"/>
        <a:cs typeface="+mj-cs"/>
        <a:sym typeface="Calibri"/>
      </a:defRPr>
    </a:lvl5pPr>
    <a:lvl6pPr indent="1143000" latinLnBrk="0">
      <a:spcBef>
        <a:spcPts val="400"/>
      </a:spcBef>
      <a:defRPr sz="1200">
        <a:latin typeface="+mj-lt"/>
        <a:ea typeface="+mj-ea"/>
        <a:cs typeface="+mj-cs"/>
        <a:sym typeface="Calibri"/>
      </a:defRPr>
    </a:lvl6pPr>
    <a:lvl7pPr indent="1371600" latinLnBrk="0">
      <a:spcBef>
        <a:spcPts val="400"/>
      </a:spcBef>
      <a:defRPr sz="1200">
        <a:latin typeface="+mj-lt"/>
        <a:ea typeface="+mj-ea"/>
        <a:cs typeface="+mj-cs"/>
        <a:sym typeface="Calibri"/>
      </a:defRPr>
    </a:lvl7pPr>
    <a:lvl8pPr indent="1600200" latinLnBrk="0">
      <a:spcBef>
        <a:spcPts val="400"/>
      </a:spcBef>
      <a:defRPr sz="1200">
        <a:latin typeface="+mj-lt"/>
        <a:ea typeface="+mj-ea"/>
        <a:cs typeface="+mj-cs"/>
        <a:sym typeface="Calibri"/>
      </a:defRPr>
    </a:lvl8pPr>
    <a:lvl9pPr indent="1828800" latinLnBrk="0">
      <a:spcBef>
        <a:spcPts val="400"/>
      </a:spcBef>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 name="Shape 1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8" name="Shape 18"/>
          <p:cNvSpPr/>
          <p:nvPr/>
        </p:nvSpPr>
        <p:spPr>
          <a:xfrm>
            <a:off x="-1" y="692149"/>
            <a:ext cx="9144002" cy="46039"/>
          </a:xfrm>
          <a:prstGeom prst="rect">
            <a:avLst/>
          </a:prstGeom>
          <a:gradFill>
            <a:gsLst>
              <a:gs pos="0">
                <a:srgbClr val="CCCCFF"/>
              </a:gs>
              <a:gs pos="17999">
                <a:srgbClr val="BFBFBF"/>
              </a:gs>
              <a:gs pos="48001">
                <a:srgbClr val="595959"/>
              </a:gs>
              <a:gs pos="82002">
                <a:srgbClr val="A5A5A5"/>
              </a:gs>
              <a:gs pos="100000">
                <a:srgbClr val="D8D8D8"/>
              </a:gs>
            </a:gsLst>
            <a:lin ang="10800000"/>
          </a:gradFill>
          <a:ln w="12700">
            <a:miter lim="400000"/>
          </a:ln>
        </p:spPr>
        <p:txBody>
          <a:bodyPr lIns="45719" rIns="45719" anchor="ctr"/>
          <a:lstStyle/>
          <a:p>
            <a:pPr>
              <a:defRPr>
                <a:solidFill>
                  <a:srgbClr val="FFFFFF"/>
                </a:solidFill>
                <a:latin typeface="宋体"/>
                <a:ea typeface="宋体"/>
                <a:cs typeface="宋体"/>
                <a:sym typeface="宋体"/>
              </a:defRPr>
            </a:pPr>
            <a:endParaRPr/>
          </a:p>
        </p:txBody>
      </p:sp>
      <p:sp>
        <p:nvSpPr>
          <p:cNvPr id="19" name="Shape 19"/>
          <p:cNvSpPr>
            <a:spLocks noGrp="1"/>
          </p:cNvSpPr>
          <p:nvPr>
            <p:ph type="title"/>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título del patrón</a:t>
            </a:r>
          </a:p>
        </p:txBody>
      </p:sp>
      <p:sp>
        <p:nvSpPr>
          <p:cNvPr id="20" name="Shape 20"/>
          <p:cNvSpPr>
            <a:spLocks noGrp="1"/>
          </p:cNvSpPr>
          <p:nvPr>
            <p:ph type="body" idx="1"/>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r>
              <a:t>Haga clic para modificar el estilo de texto del patrón</a:t>
            </a:r>
          </a:p>
          <a:p>
            <a:pPr lvl="1"/>
            <a:r>
              <a:t>Segundo nivel</a:t>
            </a:r>
          </a:p>
          <a:p>
            <a:pPr lvl="2"/>
            <a:r>
              <a:t>Tercer nivel</a:t>
            </a:r>
          </a:p>
          <a:p>
            <a:pPr lvl="3"/>
            <a:r>
              <a:t>Cuarto nivel</a:t>
            </a:r>
          </a:p>
          <a:p>
            <a:pPr lvl="4"/>
            <a:r>
              <a:t>Quinto nivel</a:t>
            </a:r>
          </a:p>
        </p:txBody>
      </p:sp>
      <p:sp>
        <p:nvSpPr>
          <p:cNvPr id="21" name="Shape 21"/>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4"/>
          <a:srcRect/>
          <a:stretch>
            <a:fillRect/>
          </a:stretch>
        </a:blip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57200" y="92074"/>
            <a:ext cx="8229600" cy="1508127"/>
          </a:xfrm>
          <a:prstGeom prst="rect">
            <a:avLst/>
          </a:prstGeom>
          <a:ln w="12700">
            <a:miter lim="400000"/>
          </a:ln>
        </p:spPr>
        <p:txBody>
          <a:bodyPr lIns="45719" rIns="45719" anchor="ctr"/>
          <a:lstStyle/>
          <a:p>
            <a:endParaRPr/>
          </a:p>
        </p:txBody>
      </p:sp>
      <p:sp>
        <p:nvSpPr>
          <p:cNvPr id="3" name="Shape 3"/>
          <p:cNvSpPr>
            <a:spLocks noGrp="1"/>
          </p:cNvSpPr>
          <p:nvPr>
            <p:ph type="body" idx="1"/>
          </p:nvPr>
        </p:nvSpPr>
        <p:spPr>
          <a:xfrm>
            <a:off x="457200" y="1600200"/>
            <a:ext cx="8229600" cy="5257800"/>
          </a:xfrm>
          <a:prstGeom prst="rect">
            <a:avLst/>
          </a:prstGeom>
          <a:ln w="12700">
            <a:miter lim="400000"/>
          </a:ln>
        </p:spPr>
        <p:txBody>
          <a:bodyPr lIns="45719" rIns="45719"/>
          <a:lstStyle/>
          <a:p>
            <a:endParaRPr/>
          </a:p>
        </p:txBody>
      </p:sp>
      <p:sp>
        <p:nvSpPr>
          <p:cNvPr id="4" name="Shape 4"/>
          <p:cNvSpPr>
            <a:spLocks noGrp="1"/>
          </p:cNvSpPr>
          <p:nvPr>
            <p:ph type="sldNum" sz="quarter" idx="2"/>
          </p:nvPr>
        </p:nvSpPr>
        <p:spPr>
          <a:xfrm>
            <a:off x="8422818" y="6404292"/>
            <a:ext cx="263983" cy="269241"/>
          </a:xfrm>
          <a:prstGeom prst="rect">
            <a:avLst/>
          </a:prstGeom>
          <a:ln w="12700">
            <a:miter lim="400000"/>
          </a:ln>
        </p:spPr>
        <p:txBody>
          <a:bodyPr wrap="none" lIns="45719" rIns="45719" anchor="ctr">
            <a:spAutoFit/>
          </a:bodyPr>
          <a:lstStyle>
            <a:lvl1pPr algn="r">
              <a:defRPr sz="1200">
                <a:solidFill>
                  <a:srgbClr val="89898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5pPr>
      <a:lvl6pPr marL="0" marR="0" indent="4572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6pPr>
      <a:lvl7pPr marL="0" marR="0" indent="9144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7pPr>
      <a:lvl8pPr marL="0" marR="0" indent="13716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8pPr>
      <a:lvl9pPr marL="0" marR="0" indent="1828800" algn="ctr" defTabSz="914400" rtl="0" latinLnBrk="0">
        <a:lnSpc>
          <a:spcPct val="100000"/>
        </a:lnSpc>
        <a:spcBef>
          <a:spcPts val="0"/>
        </a:spcBef>
        <a:spcAft>
          <a:spcPts val="0"/>
        </a:spcAft>
        <a:buClrTx/>
        <a:buSzTx/>
        <a:buFontTx/>
        <a:buNone/>
        <a:tabLst/>
        <a:defRPr sz="4400" b="0" i="0" u="none" strike="noStrike" cap="none" spc="0" baseline="0">
          <a:ln>
            <a:noFill/>
          </a:ln>
          <a:solidFill>
            <a:srgbClr val="000000"/>
          </a:solidFill>
          <a:uFillTx/>
          <a:latin typeface="+mj-lt"/>
          <a:ea typeface="+mj-ea"/>
          <a:cs typeface="+mj-cs"/>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4pPr>
      <a:lvl5pPr marL="22352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5pPr>
      <a:lvl6pPr marL="26924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6pPr>
      <a:lvl7pPr marL="31496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7pPr>
      <a:lvl8pPr marL="36068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8pPr>
      <a:lvl9pPr marL="4064000" marR="0" indent="-406400" algn="l" defTabSz="914400" rtl="0" latinLnBrk="0">
        <a:lnSpc>
          <a:spcPct val="100000"/>
        </a:lnSpc>
        <a:spcBef>
          <a:spcPts val="700"/>
        </a:spcBef>
        <a:spcAft>
          <a:spcPts val="0"/>
        </a:spcAft>
        <a:buClrTx/>
        <a:buSzPct val="100000"/>
        <a:buFont typeface="Arial"/>
        <a:buChar char="•"/>
        <a:tabLst/>
        <a:defRPr sz="3200" b="0" i="0" u="none" strike="noStrike" cap="none" spc="0" baseline="0">
          <a:ln>
            <a:noFill/>
          </a:ln>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ln>
            <a:noFill/>
          </a:ln>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hape 30"/>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zh-CN" altLang="en-US" sz="2800" b="1" dirty="0">
                <a:latin typeface="宋体"/>
                <a:ea typeface="宋体"/>
                <a:cs typeface="宋体"/>
                <a:sym typeface="宋体"/>
              </a:rPr>
              <a:t>第</a:t>
            </a:r>
            <a:r>
              <a:rPr lang="en-US" altLang="zh-CN" sz="2800" b="1" dirty="0">
                <a:latin typeface="宋体"/>
                <a:ea typeface="宋体"/>
                <a:cs typeface="宋体"/>
                <a:sym typeface="宋体"/>
              </a:rPr>
              <a:t>8</a:t>
            </a:r>
            <a:r>
              <a:rPr lang="zh-CN" altLang="en-US" sz="2800" b="1" dirty="0">
                <a:latin typeface="宋体"/>
                <a:ea typeface="宋体"/>
                <a:cs typeface="宋体"/>
                <a:sym typeface="宋体"/>
              </a:rPr>
              <a:t>章  梅西</a:t>
            </a:r>
            <a:r>
              <a:rPr lang="en-US" altLang="zh-CN" sz="2800" b="1" dirty="0">
                <a:latin typeface="宋体"/>
                <a:ea typeface="宋体"/>
                <a:cs typeface="宋体"/>
                <a:sym typeface="宋体"/>
              </a:rPr>
              <a:t>-</a:t>
            </a:r>
            <a:r>
              <a:rPr lang="zh-CN" altLang="en-US" sz="2800" b="1" dirty="0">
                <a:latin typeface="宋体"/>
                <a:ea typeface="宋体"/>
                <a:cs typeface="宋体"/>
                <a:sym typeface="宋体"/>
              </a:rPr>
              <a:t>阿根廷</a:t>
            </a:r>
            <a:r>
              <a:rPr lang="en-US" altLang="zh-CN" sz="2800" b="1" dirty="0">
                <a:latin typeface="宋体"/>
                <a:ea typeface="宋体"/>
                <a:cs typeface="宋体"/>
                <a:sym typeface="宋体"/>
              </a:rPr>
              <a:t>+</a:t>
            </a:r>
            <a:r>
              <a:rPr lang="zh-CN" altLang="en-US" sz="2800" b="1" dirty="0">
                <a:latin typeface="宋体"/>
                <a:ea typeface="宋体"/>
                <a:cs typeface="宋体"/>
                <a:sym typeface="宋体"/>
              </a:rPr>
              <a:t>巴西</a:t>
            </a:r>
            <a:r>
              <a:rPr lang="en-US" altLang="zh-CN" sz="2800" b="1" dirty="0">
                <a:latin typeface="宋体"/>
                <a:ea typeface="宋体"/>
                <a:cs typeface="宋体"/>
                <a:sym typeface="宋体"/>
              </a:rPr>
              <a:t>=</a:t>
            </a:r>
            <a:r>
              <a:rPr lang="zh-CN" altLang="en-US" sz="2800" b="1" dirty="0">
                <a:latin typeface="宋体"/>
                <a:ea typeface="宋体"/>
                <a:cs typeface="宋体"/>
                <a:sym typeface="宋体"/>
              </a:rPr>
              <a:t>？有趣的</a:t>
            </a:r>
            <a:r>
              <a:rPr lang="en-US" altLang="zh-CN" sz="2800" b="1" dirty="0">
                <a:latin typeface="宋体"/>
                <a:ea typeface="宋体"/>
                <a:cs typeface="宋体"/>
                <a:sym typeface="宋体"/>
              </a:rPr>
              <a:t>word embedding</a:t>
            </a:r>
            <a:endParaRPr lang="zh-CN" altLang="en-US" sz="2800" b="1" dirty="0">
              <a:latin typeface="宋体"/>
              <a:ea typeface="宋体"/>
              <a:cs typeface="宋体"/>
              <a:sym typeface="宋体"/>
            </a:endParaRPr>
          </a:p>
        </p:txBody>
      </p:sp>
      <p:sp>
        <p:nvSpPr>
          <p:cNvPr id="31" name="Shape 31"/>
          <p:cNvSpPr>
            <a:spLocks noGrp="1"/>
          </p:cNvSpPr>
          <p:nvPr>
            <p:ph type="body" idx="4294967295"/>
          </p:nvPr>
        </p:nvSpPr>
        <p:spPr>
          <a:xfrm>
            <a:off x="457200" y="1600200"/>
            <a:ext cx="8229600" cy="4525963"/>
          </a:xfrm>
          <a:prstGeom prst="rect">
            <a:avLst/>
          </a:prstGeom>
          <a:extLst>
            <a:ext uri="{C572A759-6A51-4108-AA02-DFA0A04FC94B}">
              <ma14:wrappingTextBoxFlag xmlns="" xmlns:ma14="http://schemas.microsoft.com/office/mac/drawingml/2011/main" val="1"/>
            </a:ext>
          </a:extLst>
        </p:spPr>
        <p:txBody>
          <a:bodyPr>
            <a:normAutofit/>
          </a:bodyPr>
          <a:lstStyle/>
          <a:p>
            <a:pPr marL="0" indent="0" defTabSz="740663">
              <a:spcBef>
                <a:spcPts val="600"/>
              </a:spcBef>
              <a:buNone/>
              <a:defRPr sz="2106"/>
            </a:pPr>
            <a:r>
              <a:rPr lang="en-US" altLang="zh-CN" dirty="0">
                <a:latin typeface="宋体"/>
                <a:ea typeface="宋体"/>
                <a:cs typeface="宋体"/>
                <a:sym typeface="宋体"/>
              </a:rPr>
              <a:t>8.1  </a:t>
            </a:r>
            <a:r>
              <a:rPr lang="zh-CN" altLang="en-US" dirty="0">
                <a:latin typeface="宋体"/>
                <a:ea typeface="宋体"/>
                <a:cs typeface="宋体"/>
                <a:sym typeface="宋体"/>
              </a:rPr>
              <a:t>文本数据处理</a:t>
            </a:r>
          </a:p>
          <a:p>
            <a:pPr marL="0" indent="0" defTabSz="740663">
              <a:spcBef>
                <a:spcPts val="600"/>
              </a:spcBef>
              <a:buNone/>
              <a:defRPr sz="2106"/>
            </a:pPr>
            <a:r>
              <a:rPr lang="en-US" altLang="zh-CN" dirty="0">
                <a:latin typeface="宋体"/>
                <a:ea typeface="宋体"/>
                <a:cs typeface="宋体"/>
                <a:sym typeface="宋体"/>
              </a:rPr>
              <a:t>8.2  </a:t>
            </a:r>
            <a:r>
              <a:rPr lang="zh-CN" altLang="en-US" dirty="0">
                <a:latin typeface="宋体"/>
                <a:ea typeface="宋体"/>
                <a:cs typeface="宋体"/>
                <a:sym typeface="宋体"/>
              </a:rPr>
              <a:t>更多的</a:t>
            </a:r>
            <a:r>
              <a:rPr lang="en-US" altLang="zh-CN" dirty="0">
                <a:latin typeface="宋体"/>
                <a:ea typeface="宋体"/>
                <a:cs typeface="宋体"/>
                <a:sym typeface="宋体"/>
              </a:rPr>
              <a:t>word embedding</a:t>
            </a:r>
            <a:r>
              <a:rPr lang="zh-CN" altLang="en-US" dirty="0">
                <a:latin typeface="宋体"/>
                <a:ea typeface="宋体"/>
                <a:cs typeface="宋体"/>
                <a:sym typeface="宋体"/>
              </a:rPr>
              <a:t>方法</a:t>
            </a:r>
            <a:r>
              <a:rPr lang="en-US" altLang="zh-CN" dirty="0">
                <a:latin typeface="宋体"/>
                <a:ea typeface="宋体"/>
                <a:cs typeface="宋体"/>
                <a:sym typeface="宋体"/>
              </a:rPr>
              <a:t>—</a:t>
            </a:r>
            <a:r>
              <a:rPr lang="en-US" altLang="zh-CN" dirty="0" err="1">
                <a:latin typeface="宋体"/>
                <a:ea typeface="宋体"/>
                <a:cs typeface="宋体"/>
                <a:sym typeface="宋体"/>
              </a:rPr>
              <a:t>fastText</a:t>
            </a:r>
            <a:r>
              <a:rPr lang="zh-CN" altLang="en-US" dirty="0">
                <a:latin typeface="宋体"/>
                <a:ea typeface="宋体"/>
                <a:cs typeface="宋体"/>
                <a:sym typeface="宋体"/>
              </a:rPr>
              <a:t>和预训练词向量</a:t>
            </a:r>
          </a:p>
          <a:p>
            <a:pPr marL="0" indent="0" defTabSz="740663">
              <a:spcBef>
                <a:spcPts val="600"/>
              </a:spcBef>
              <a:buNone/>
              <a:defRPr sz="2106"/>
            </a:pPr>
            <a:r>
              <a:rPr lang="en-US" altLang="zh-CN" dirty="0">
                <a:latin typeface="宋体"/>
                <a:ea typeface="宋体"/>
                <a:cs typeface="宋体"/>
                <a:sym typeface="宋体"/>
              </a:rPr>
              <a:t>8.3  </a:t>
            </a:r>
            <a:r>
              <a:rPr lang="zh-CN" altLang="en-US" dirty="0">
                <a:latin typeface="宋体"/>
                <a:ea typeface="宋体"/>
                <a:cs typeface="宋体"/>
                <a:sym typeface="宋体"/>
              </a:rPr>
              <a:t>针对文本的卷积神经网络模型简介</a:t>
            </a:r>
            <a:r>
              <a:rPr lang="en-US" altLang="zh-CN" dirty="0">
                <a:latin typeface="宋体"/>
                <a:ea typeface="宋体"/>
                <a:cs typeface="宋体"/>
                <a:sym typeface="宋体"/>
              </a:rPr>
              <a:t>-</a:t>
            </a:r>
            <a:r>
              <a:rPr lang="zh-CN" altLang="en-US" dirty="0">
                <a:latin typeface="宋体"/>
                <a:ea typeface="宋体"/>
                <a:cs typeface="宋体"/>
                <a:sym typeface="宋体"/>
              </a:rPr>
              <a:t>字符卷积</a:t>
            </a:r>
          </a:p>
          <a:p>
            <a:pPr marL="0" indent="0" defTabSz="740663">
              <a:spcBef>
                <a:spcPts val="600"/>
              </a:spcBef>
              <a:buNone/>
              <a:defRPr sz="2106"/>
            </a:pPr>
            <a:r>
              <a:rPr lang="en-US" altLang="zh-CN" dirty="0">
                <a:latin typeface="宋体"/>
                <a:ea typeface="宋体"/>
                <a:cs typeface="宋体"/>
                <a:sym typeface="宋体"/>
              </a:rPr>
              <a:t>8.4  </a:t>
            </a:r>
            <a:r>
              <a:rPr lang="zh-CN" altLang="en-US" dirty="0">
                <a:latin typeface="宋体"/>
                <a:ea typeface="宋体"/>
                <a:cs typeface="宋体"/>
                <a:sym typeface="宋体"/>
              </a:rPr>
              <a:t>针对文本的卷积神经网络模型简介</a:t>
            </a:r>
            <a:r>
              <a:rPr lang="en-US" altLang="zh-CN" dirty="0">
                <a:latin typeface="宋体"/>
                <a:ea typeface="宋体"/>
                <a:cs typeface="宋体"/>
                <a:sym typeface="宋体"/>
              </a:rPr>
              <a:t>-</a:t>
            </a:r>
            <a:r>
              <a:rPr lang="zh-CN" altLang="en-US" dirty="0">
                <a:latin typeface="宋体"/>
                <a:ea typeface="宋体"/>
                <a:cs typeface="宋体"/>
                <a:sym typeface="宋体"/>
              </a:rPr>
              <a:t>词卷积</a:t>
            </a:r>
          </a:p>
          <a:p>
            <a:pPr marL="0" indent="0" defTabSz="740663">
              <a:spcBef>
                <a:spcPts val="600"/>
              </a:spcBef>
              <a:buNone/>
              <a:defRPr sz="2106"/>
            </a:pPr>
            <a:r>
              <a:rPr lang="en-US" altLang="zh-CN" dirty="0">
                <a:latin typeface="宋体"/>
                <a:ea typeface="宋体"/>
                <a:cs typeface="宋体"/>
                <a:sym typeface="宋体"/>
              </a:rPr>
              <a:t>8.5  </a:t>
            </a:r>
            <a:r>
              <a:rPr lang="zh-CN" altLang="en-US" dirty="0">
                <a:latin typeface="宋体"/>
                <a:ea typeface="宋体"/>
                <a:cs typeface="宋体"/>
                <a:sym typeface="宋体"/>
              </a:rPr>
              <a:t>使用卷积对文本分类的补充内容</a:t>
            </a:r>
          </a:p>
          <a:p>
            <a:pPr marL="0" indent="0" defTabSz="740663">
              <a:spcBef>
                <a:spcPts val="600"/>
              </a:spcBef>
              <a:buNone/>
              <a:defRPr sz="2106"/>
            </a:pPr>
            <a:r>
              <a:rPr lang="en-US" altLang="zh-CN" dirty="0">
                <a:latin typeface="宋体"/>
                <a:ea typeface="宋体"/>
                <a:cs typeface="宋体"/>
                <a:sym typeface="宋体"/>
              </a:rPr>
              <a:t>8.6  </a:t>
            </a:r>
            <a:r>
              <a:rPr lang="zh-CN" altLang="en-US" dirty="0">
                <a:latin typeface="宋体"/>
                <a:ea typeface="宋体"/>
                <a:cs typeface="宋体"/>
                <a:sym typeface="宋体"/>
              </a:rPr>
              <a:t>本章小结</a:t>
            </a:r>
          </a:p>
          <a:p>
            <a:pPr marL="0" indent="0" defTabSz="740663">
              <a:spcBef>
                <a:spcPts val="600"/>
              </a:spcBef>
              <a:buNone/>
              <a:defRPr sz="2106"/>
            </a:pPr>
            <a:endParaRPr lang="zh-CN" altLang="en-US" dirty="0">
              <a:latin typeface="宋体"/>
              <a:ea typeface="宋体"/>
              <a:cs typeface="宋体"/>
              <a:sym typeface="宋体"/>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200" b="1" dirty="0">
                <a:latin typeface="宋体"/>
                <a:ea typeface="宋体"/>
                <a:cs typeface="宋体"/>
                <a:sym typeface="宋体"/>
              </a:rPr>
              <a:t>8.1  </a:t>
            </a:r>
            <a:r>
              <a:rPr lang="zh-CN" altLang="en-US" sz="3200" b="1" dirty="0">
                <a:latin typeface="宋体"/>
                <a:ea typeface="宋体"/>
                <a:cs typeface="宋体"/>
                <a:sym typeface="宋体"/>
              </a:rPr>
              <a:t>文本数据处理</a:t>
            </a:r>
          </a:p>
        </p:txBody>
      </p:sp>
      <p:sp>
        <p:nvSpPr>
          <p:cNvPr id="9" name="文本框 8">
            <a:extLst>
              <a:ext uri="{FF2B5EF4-FFF2-40B4-BE49-F238E27FC236}">
                <a16:creationId xmlns:a16="http://schemas.microsoft.com/office/drawing/2014/main" id="{A30F48A6-64E0-4AF9-9EA4-F03B1C10EAA8}"/>
              </a:ext>
            </a:extLst>
          </p:cNvPr>
          <p:cNvSpPr txBox="1"/>
          <p:nvPr/>
        </p:nvSpPr>
        <p:spPr>
          <a:xfrm>
            <a:off x="285750" y="2114550"/>
            <a:ext cx="8591550" cy="23493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新闻分类数据集“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”是由学术社区</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ComeToMyHead</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提供，从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多不同的新闻来源搜集的超过一百万的新闻文章。用于研究分类、聚类、信息获取（</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rank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、搜索）等非商业活动。在此基础上</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Xiang Zhang </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为了研究需要从中提取了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127600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样本，其中抽出</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120000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作为训练集，而</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7600</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作为测试集。按以下</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类进行分类：</a:t>
            </a:r>
          </a:p>
          <a:p>
            <a:pPr marL="342900" lvl="0" indent="-342900" algn="just">
              <a:lnSpc>
                <a:spcPts val="1650"/>
              </a:lnSpc>
              <a:buFont typeface="Wingdings" panose="05000000000000000000" pitchFamily="2" charset="2"/>
              <a:buChar char=""/>
            </a:pPr>
            <a:r>
              <a:rPr lang="en-US" altLang="zh-CN" sz="1800" dirty="0">
                <a:effectLst/>
                <a:latin typeface="Times New Roman" panose="02020603050405020304" pitchFamily="18" charset="0"/>
                <a:ea typeface="楷体_GB2312"/>
              </a:rPr>
              <a:t>World</a:t>
            </a:r>
            <a:endParaRPr lang="zh-CN" altLang="zh-CN" sz="1800" dirty="0">
              <a:effectLst/>
              <a:latin typeface="Times New Roman" panose="02020603050405020304" pitchFamily="18" charset="0"/>
              <a:ea typeface="楷体_GB2312"/>
            </a:endParaRPr>
          </a:p>
          <a:p>
            <a:pPr marL="342900" lvl="0" indent="-342900" algn="just">
              <a:lnSpc>
                <a:spcPts val="1650"/>
              </a:lnSpc>
              <a:buFont typeface="Wingdings" panose="05000000000000000000" pitchFamily="2" charset="2"/>
              <a:buChar char=""/>
            </a:pPr>
            <a:r>
              <a:rPr lang="en-US" altLang="zh-CN" sz="1800" dirty="0">
                <a:effectLst/>
                <a:latin typeface="Times New Roman" panose="02020603050405020304" pitchFamily="18" charset="0"/>
                <a:ea typeface="楷体_GB2312"/>
              </a:rPr>
              <a:t>Sports</a:t>
            </a:r>
            <a:endParaRPr lang="zh-CN" altLang="zh-CN" sz="1800" dirty="0">
              <a:effectLst/>
              <a:latin typeface="Times New Roman" panose="02020603050405020304" pitchFamily="18" charset="0"/>
              <a:ea typeface="楷体_GB2312"/>
            </a:endParaRPr>
          </a:p>
          <a:p>
            <a:pPr marL="342900" lvl="0" indent="-342900" algn="just">
              <a:lnSpc>
                <a:spcPts val="1650"/>
              </a:lnSpc>
              <a:buFont typeface="Wingdings" panose="05000000000000000000" pitchFamily="2" charset="2"/>
              <a:buChar char=""/>
            </a:pPr>
            <a:r>
              <a:rPr lang="en-US" altLang="zh-CN" sz="1800" dirty="0">
                <a:effectLst/>
                <a:latin typeface="Times New Roman" panose="02020603050405020304" pitchFamily="18" charset="0"/>
                <a:ea typeface="楷体_GB2312"/>
              </a:rPr>
              <a:t>Business</a:t>
            </a:r>
            <a:endParaRPr lang="zh-CN" altLang="zh-CN" sz="1800" dirty="0">
              <a:effectLst/>
              <a:latin typeface="Times New Roman" panose="02020603050405020304" pitchFamily="18" charset="0"/>
              <a:ea typeface="楷体_GB2312"/>
            </a:endParaRPr>
          </a:p>
          <a:p>
            <a:pPr marL="342900" lvl="0" indent="-342900" algn="just">
              <a:lnSpc>
                <a:spcPts val="1650"/>
              </a:lnSpc>
              <a:buFont typeface="Wingdings" panose="05000000000000000000" pitchFamily="2" charset="2"/>
              <a:buChar char=""/>
            </a:pPr>
            <a:r>
              <a:rPr lang="en-US" altLang="zh-CN" sz="1800" dirty="0">
                <a:effectLst/>
                <a:latin typeface="Times New Roman" panose="02020603050405020304" pitchFamily="18" charset="0"/>
                <a:ea typeface="楷体_GB2312"/>
              </a:rPr>
              <a:t>Sci/Tec</a:t>
            </a:r>
            <a:endParaRPr lang="zh-CN" altLang="zh-CN" sz="1800" dirty="0">
              <a:effectLst/>
              <a:latin typeface="Times New Roman" panose="02020603050405020304" pitchFamily="18" charset="0"/>
              <a:ea typeface="楷体_GB2312"/>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数据集一般是用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csv</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文件存储，打开后格式如图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8.1</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a:t>
            </a:r>
          </a:p>
        </p:txBody>
      </p:sp>
      <p:sp>
        <p:nvSpPr>
          <p:cNvPr id="6" name="文本框 5">
            <a:extLst>
              <a:ext uri="{FF2B5EF4-FFF2-40B4-BE49-F238E27FC236}">
                <a16:creationId xmlns:a16="http://schemas.microsoft.com/office/drawing/2014/main" id="{B5C873B5-7C4A-44CE-BD3F-0DF866062589}"/>
              </a:ext>
            </a:extLst>
          </p:cNvPr>
          <p:cNvSpPr txBox="1"/>
          <p:nvPr/>
        </p:nvSpPr>
        <p:spPr>
          <a:xfrm>
            <a:off x="200025" y="1428800"/>
            <a:ext cx="4572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8.1.1  </a:t>
            </a:r>
            <a:r>
              <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数据集介绍和数据清洗</a:t>
            </a:r>
          </a:p>
        </p:txBody>
      </p:sp>
      <p:pic>
        <p:nvPicPr>
          <p:cNvPr id="7" name="图片 6">
            <a:extLst>
              <a:ext uri="{FF2B5EF4-FFF2-40B4-BE49-F238E27FC236}">
                <a16:creationId xmlns:a16="http://schemas.microsoft.com/office/drawing/2014/main" id="{2E5DFD6F-C2C8-4EF0-8A6B-C043A3DADC63}"/>
              </a:ext>
            </a:extLst>
          </p:cNvPr>
          <p:cNvPicPr/>
          <p:nvPr/>
        </p:nvPicPr>
        <p:blipFill>
          <a:blip r:embed="rId2"/>
          <a:stretch>
            <a:fillRect/>
          </a:stretch>
        </p:blipFill>
        <p:spPr>
          <a:xfrm>
            <a:off x="3869690" y="4097655"/>
            <a:ext cx="5274310" cy="1729740"/>
          </a:xfrm>
          <a:prstGeom prst="rect">
            <a:avLst/>
          </a:prstGeom>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8.1  </a:t>
            </a:r>
            <a:r>
              <a:rPr lang="zh-CN" altLang="en-US" sz="2800" b="1" dirty="0">
                <a:latin typeface="宋体"/>
                <a:ea typeface="宋体"/>
                <a:cs typeface="宋体"/>
                <a:sym typeface="宋体"/>
              </a:rPr>
              <a:t>文本数据处理</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1118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8.1.2  </a:t>
            </a:r>
            <a:r>
              <a:rPr lang="zh-CN" altLang="en-US" sz="1800" b="1" kern="100" dirty="0">
                <a:effectLst/>
                <a:latin typeface="等线" panose="02010600030101010101" pitchFamily="2" charset="-122"/>
                <a:ea typeface="等线" panose="02010600030101010101" pitchFamily="2" charset="-122"/>
              </a:rPr>
              <a:t>停用词的使用</a:t>
            </a:r>
            <a:endParaRPr lang="zh-CN" altLang="en-US" dirty="0"/>
          </a:p>
        </p:txBody>
      </p:sp>
      <p:sp>
        <p:nvSpPr>
          <p:cNvPr id="13" name="文本框 12">
            <a:extLst>
              <a:ext uri="{FF2B5EF4-FFF2-40B4-BE49-F238E27FC236}">
                <a16:creationId xmlns:a16="http://schemas.microsoft.com/office/drawing/2014/main" id="{162616D3-B387-4594-9A1B-3E0F5AD99B6C}"/>
              </a:ext>
            </a:extLst>
          </p:cNvPr>
          <p:cNvSpPr txBox="1"/>
          <p:nvPr/>
        </p:nvSpPr>
        <p:spPr>
          <a:xfrm>
            <a:off x="317500" y="2009775"/>
            <a:ext cx="8089900" cy="24750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观察分好词的文本集，每组文本中除了能够表达含义的名词和动词外，还有大量没有意义的副词，例如‘</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are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’等。这些词的存在并不会给句子增加太多含义，反而由于频率非常多词会影响后续的词向量分析。因此为了减少我们要处理的词汇量，降低后续程序的复杂度，需要清除停止词。清除停用词一般用的是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NLTK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工具包。安装代码如下：</a:t>
            </a:r>
          </a:p>
          <a:p>
            <a:pPr marL="266700" algn="just">
              <a:lnSpc>
                <a:spcPts val="1300"/>
              </a:lnSpc>
            </a:pPr>
            <a:r>
              <a:rPr lang="en-US" altLang="zh-CN" sz="1800" dirty="0" err="1">
                <a:solidFill>
                  <a:srgbClr val="000000"/>
                </a:solidFill>
                <a:effectLst/>
                <a:latin typeface="Arial" panose="020B0604020202020204" pitchFamily="34" charset="0"/>
                <a:ea typeface="黑体" panose="02010609060101010101" pitchFamily="49" charset="-122"/>
              </a:rPr>
              <a:t>conda</a:t>
            </a:r>
            <a:r>
              <a:rPr lang="en-US" altLang="zh-CN" sz="1800" dirty="0">
                <a:solidFill>
                  <a:srgbClr val="000000"/>
                </a:solidFill>
                <a:effectLst/>
                <a:latin typeface="Arial" panose="020B0604020202020204" pitchFamily="34" charset="0"/>
                <a:ea typeface="黑体" panose="02010609060101010101" pitchFamily="49" charset="-122"/>
              </a:rPr>
              <a:t> install </a:t>
            </a:r>
            <a:r>
              <a:rPr lang="en-US" altLang="zh-CN" sz="1800" dirty="0" err="1">
                <a:solidFill>
                  <a:srgbClr val="000000"/>
                </a:solidFill>
                <a:effectLst/>
                <a:latin typeface="Arial" panose="020B0604020202020204" pitchFamily="34" charset="0"/>
                <a:ea typeface="黑体" panose="02010609060101010101" pitchFamily="49" charset="-122"/>
              </a:rPr>
              <a:t>nltk</a:t>
            </a:r>
            <a:endParaRPr lang="zh-CN" altLang="zh-CN" sz="1800" dirty="0">
              <a:effectLst/>
              <a:latin typeface="Arial" panose="020B0604020202020204" pitchFamily="34" charset="0"/>
              <a:ea typeface="黑体" panose="02010609060101010101" pitchFamily="49" charset="-122"/>
            </a:endParaRP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除了安装</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NLTK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外，还有一个非常重要的内容是，仅仅依靠安装了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NLTK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并不能够使用停用词，需要额外的在下载</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NLTK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停用词包，建议读者通过控制端进入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NLTK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，之后运行如图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8.4</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所示代码，打开</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NLTK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的下载控制端：</a:t>
            </a:r>
          </a:p>
        </p:txBody>
      </p:sp>
      <p:pic>
        <p:nvPicPr>
          <p:cNvPr id="6" name="图片 5">
            <a:extLst>
              <a:ext uri="{FF2B5EF4-FFF2-40B4-BE49-F238E27FC236}">
                <a16:creationId xmlns:a16="http://schemas.microsoft.com/office/drawing/2014/main" id="{044816F2-E13C-4827-BA06-68C63789C4AB}"/>
              </a:ext>
            </a:extLst>
          </p:cNvPr>
          <p:cNvPicPr/>
          <p:nvPr/>
        </p:nvPicPr>
        <p:blipFill>
          <a:blip r:embed="rId2"/>
          <a:stretch>
            <a:fillRect/>
          </a:stretch>
        </p:blipFill>
        <p:spPr>
          <a:xfrm>
            <a:off x="3666490" y="4484812"/>
            <a:ext cx="5160010" cy="1225550"/>
          </a:xfrm>
          <a:prstGeom prst="rect">
            <a:avLst/>
          </a:prstGeom>
        </p:spPr>
      </p:pic>
    </p:spTree>
    <p:extLst>
      <p:ext uri="{BB962C8B-B14F-4D97-AF65-F5344CB8AC3E}">
        <p14:creationId xmlns:p14="http://schemas.microsoft.com/office/powerpoint/2010/main" val="2518759597"/>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8.1  </a:t>
            </a:r>
            <a:r>
              <a:rPr lang="zh-CN" altLang="en-US" sz="2800" b="1" dirty="0">
                <a:latin typeface="宋体"/>
                <a:ea typeface="宋体"/>
                <a:cs typeface="宋体"/>
                <a:sym typeface="宋体"/>
              </a:rPr>
              <a:t>文本数据处理</a:t>
            </a:r>
            <a:endParaRPr lang="zh-CN" altLang="en-US" dirty="0">
              <a:latin typeface="宋体"/>
              <a:ea typeface="宋体"/>
              <a:cs typeface="宋体"/>
              <a:sym typeface="宋体"/>
            </a:endParaRPr>
          </a:p>
        </p:txBody>
      </p:sp>
      <p:sp>
        <p:nvSpPr>
          <p:cNvPr id="39" name="Shape 39"/>
          <p:cNvSpPr>
            <a:spLocks noGrp="1"/>
          </p:cNvSpPr>
          <p:nvPr>
            <p:ph type="body" sz="quarter" idx="4294967295"/>
          </p:nvPr>
        </p:nvSpPr>
        <p:spPr>
          <a:xfrm>
            <a:off x="317500" y="1417638"/>
            <a:ext cx="8229600" cy="630237"/>
          </a:xfrm>
          <a:prstGeom prst="rect">
            <a:avLst/>
          </a:prstGeom>
          <a:extLst>
            <a:ext uri="{C572A759-6A51-4108-AA02-DFA0A04FC94B}">
              <ma14:wrappingTextBoxFlag xmlns:ma14="http://schemas.microsoft.com/office/mac/drawingml/2011/main" xmlns="" val="1"/>
            </a:ext>
          </a:extLst>
        </p:spPr>
        <p:txBody>
          <a:bodyPr>
            <a:normAutofit/>
          </a:bodyPr>
          <a:lstStyle>
            <a:lvl1pPr marL="342899" indent="-342899">
              <a:buChar char="•"/>
              <a:defRPr sz="4000">
                <a:latin typeface="Songti SC Bold"/>
                <a:ea typeface="Songti SC Bold"/>
                <a:cs typeface="Songti SC Bold"/>
                <a:sym typeface="Songti SC Bold"/>
              </a:defRPr>
            </a:lvl1pPr>
          </a:lstStyle>
          <a:p>
            <a:pPr marL="0" indent="0">
              <a:buNone/>
            </a:pPr>
            <a:r>
              <a:rPr lang="en-US" altLang="zh-CN" sz="1800" b="1" kern="100" dirty="0">
                <a:effectLst/>
                <a:latin typeface="等线" panose="02010600030101010101" pitchFamily="2" charset="-122"/>
                <a:ea typeface="等线" panose="02010600030101010101" pitchFamily="2" charset="-122"/>
              </a:rPr>
              <a:t>8.1.3  </a:t>
            </a:r>
            <a:r>
              <a:rPr lang="zh-CN" altLang="en-US" sz="1800" b="1" kern="100" dirty="0">
                <a:effectLst/>
                <a:latin typeface="等线" panose="02010600030101010101" pitchFamily="2" charset="-122"/>
                <a:ea typeface="等线" panose="02010600030101010101" pitchFamily="2" charset="-122"/>
              </a:rPr>
              <a:t>词向量训练模型</a:t>
            </a:r>
            <a:r>
              <a:rPr lang="en-US" altLang="zh-CN" sz="1800" b="1" kern="100" dirty="0">
                <a:effectLst/>
                <a:latin typeface="等线" panose="02010600030101010101" pitchFamily="2" charset="-122"/>
                <a:ea typeface="等线" panose="02010600030101010101" pitchFamily="2" charset="-122"/>
              </a:rPr>
              <a:t>word2vec</a:t>
            </a:r>
            <a:r>
              <a:rPr lang="zh-CN" altLang="en-US" sz="1800" b="1" kern="100" dirty="0">
                <a:effectLst/>
                <a:latin typeface="等线" panose="02010600030101010101" pitchFamily="2" charset="-122"/>
                <a:ea typeface="等线" panose="02010600030101010101" pitchFamily="2" charset="-122"/>
              </a:rPr>
              <a:t>使用介绍</a:t>
            </a:r>
            <a:endParaRPr lang="zh-CN" altLang="en-US" dirty="0"/>
          </a:p>
        </p:txBody>
      </p:sp>
      <p:sp>
        <p:nvSpPr>
          <p:cNvPr id="13" name="文本框 12">
            <a:extLst>
              <a:ext uri="{FF2B5EF4-FFF2-40B4-BE49-F238E27FC236}">
                <a16:creationId xmlns:a16="http://schemas.microsoft.com/office/drawing/2014/main" id="{3D14EFC6-4C68-4087-9269-4A2026F9AB64}"/>
              </a:ext>
            </a:extLst>
          </p:cNvPr>
          <p:cNvSpPr txBox="1"/>
          <p:nvPr/>
        </p:nvSpPr>
        <p:spPr>
          <a:xfrm>
            <a:off x="111124" y="2107903"/>
            <a:ext cx="8921751"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word2vec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Google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2013</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年推出的一个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NLP</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工具，它的特点是将所有的词向量化，这样词与词之间就可以定量的去度量它们之间的关系，挖掘词之间的联系。</a:t>
            </a:r>
          </a:p>
        </p:txBody>
      </p:sp>
      <p:pic>
        <p:nvPicPr>
          <p:cNvPr id="6" name="图片 5">
            <a:extLst>
              <a:ext uri="{FF2B5EF4-FFF2-40B4-BE49-F238E27FC236}">
                <a16:creationId xmlns:a16="http://schemas.microsoft.com/office/drawing/2014/main" id="{E2BDC50A-59BE-4B76-B9CE-960936E7AF5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323907" y="3190876"/>
            <a:ext cx="3296285" cy="2115820"/>
          </a:xfrm>
          <a:prstGeom prst="rect">
            <a:avLst/>
          </a:prstGeom>
          <a:noFill/>
          <a:ln>
            <a:noFill/>
          </a:ln>
        </p:spPr>
      </p:pic>
    </p:spTree>
    <p:extLst>
      <p:ext uri="{BB962C8B-B14F-4D97-AF65-F5344CB8AC3E}">
        <p14:creationId xmlns:p14="http://schemas.microsoft.com/office/powerpoint/2010/main" val="44406799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3600" b="1" dirty="0">
                <a:latin typeface="宋体"/>
                <a:ea typeface="宋体"/>
                <a:cs typeface="宋体"/>
                <a:sym typeface="宋体"/>
              </a:rPr>
              <a:t>8.1  </a:t>
            </a:r>
            <a:r>
              <a:rPr lang="zh-CN" altLang="en-US" sz="3600" b="1" dirty="0">
                <a:latin typeface="宋体"/>
                <a:ea typeface="宋体"/>
                <a:cs typeface="宋体"/>
                <a:sym typeface="宋体"/>
              </a:rPr>
              <a:t>文本数据处理</a:t>
            </a:r>
          </a:p>
        </p:txBody>
      </p:sp>
      <p:sp>
        <p:nvSpPr>
          <p:cNvPr id="6" name="文本框 5">
            <a:extLst>
              <a:ext uri="{FF2B5EF4-FFF2-40B4-BE49-F238E27FC236}">
                <a16:creationId xmlns:a16="http://schemas.microsoft.com/office/drawing/2014/main" id="{77E74240-1CEE-4E1E-B360-53A2BD352F78}"/>
              </a:ext>
            </a:extLst>
          </p:cNvPr>
          <p:cNvSpPr txBox="1"/>
          <p:nvPr/>
        </p:nvSpPr>
        <p:spPr>
          <a:xfrm>
            <a:off x="209550" y="1417638"/>
            <a:ext cx="6657975"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8.1.4  </a:t>
            </a:r>
            <a:r>
              <a:rPr lang="zh-CN" altLang="en-US" sz="1800" b="1" kern="100" dirty="0">
                <a:effectLst/>
                <a:latin typeface="等线" panose="02010600030101010101" pitchFamily="2" charset="-122"/>
                <a:ea typeface="等线" panose="02010600030101010101" pitchFamily="2" charset="-122"/>
              </a:rPr>
              <a:t>文本主题的提取（选学）：基于</a:t>
            </a:r>
            <a:r>
              <a:rPr lang="en-US" altLang="zh-CN" sz="1800" b="1" kern="100" dirty="0">
                <a:effectLst/>
                <a:latin typeface="等线" panose="02010600030101010101" pitchFamily="2" charset="-122"/>
                <a:ea typeface="等线" panose="02010600030101010101" pitchFamily="2" charset="-122"/>
              </a:rPr>
              <a:t>TF-IDF</a:t>
            </a:r>
            <a:endParaRPr lang="zh-CN" altLang="zh-CN" sz="1800" b="1" kern="100" dirty="0">
              <a:effectLst/>
              <a:latin typeface="等线" panose="02010600030101010101" pitchFamily="2" charset="-122"/>
              <a:ea typeface="等线" panose="02010600030101010101" pitchFamily="2" charset="-122"/>
            </a:endParaRPr>
          </a:p>
        </p:txBody>
      </p:sp>
      <p:sp>
        <p:nvSpPr>
          <p:cNvPr id="8" name="文本框 7">
            <a:extLst>
              <a:ext uri="{FF2B5EF4-FFF2-40B4-BE49-F238E27FC236}">
                <a16:creationId xmlns:a16="http://schemas.microsoft.com/office/drawing/2014/main" id="{933FD8AC-9C44-488E-A07A-0C888EFAD5C6}"/>
              </a:ext>
            </a:extLst>
          </p:cNvPr>
          <p:cNvSpPr txBox="1"/>
          <p:nvPr/>
        </p:nvSpPr>
        <p:spPr>
          <a:xfrm>
            <a:off x="457201" y="2047875"/>
            <a:ext cx="8229599" cy="36318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对使用卷积神经网络来对文本分类来说，文本主题提取并不是必须的。</a:t>
            </a:r>
          </a:p>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一般来说文本的提取主要涉及到以下几种：</a:t>
            </a:r>
          </a:p>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	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TF-IDF</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的文本关键字提取</a:t>
            </a:r>
          </a:p>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	基于</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TextRank</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的文本关键词提取</a:t>
            </a:r>
          </a:p>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当然除此之外还有很多模型和方法能够帮助做文本抽取，特别是对于大文本内容。本书由于篇幅关系对这方面的内容并不展开描写，有兴趣的读者可以参考相关教程。下面先介绍基于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TF-IDF</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的文本关键字提取。</a:t>
            </a:r>
          </a:p>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第一步：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TF-IDF</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简介</a:t>
            </a:r>
          </a:p>
          <a:p>
            <a:pPr indent="266700" algn="just" fontAlgn="base"/>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目标文本经过文本清洗和停用词的去除后，一般可以认为剩下的均为有着目标含义的词。下面如果需要对其特征进行更进一步的提取，那么提取的应该是那些能代表文章的元素，包括词、短语、句子、标点以及其他信息的词。从词的角度考虑，需要提取对文章表达贡献度大的词。</a:t>
            </a:r>
          </a:p>
          <a:p>
            <a:pPr lvl="0" algn="just">
              <a:lnSpc>
                <a:spcPts val="1570"/>
              </a:lnSpc>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09390250"/>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8.1  </a:t>
            </a:r>
            <a:r>
              <a:rPr lang="zh-CN" altLang="en-US" sz="2800" b="1" dirty="0">
                <a:latin typeface="宋体"/>
                <a:ea typeface="宋体"/>
                <a:cs typeface="宋体"/>
                <a:sym typeface="宋体"/>
              </a:rPr>
              <a:t>文本数据处理</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5134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73000"/>
              </a:lnSpc>
              <a:spcBef>
                <a:spcPts val="1300"/>
              </a:spcBef>
              <a:spcAft>
                <a:spcPts val="1300"/>
              </a:spcAft>
            </a:pPr>
            <a:r>
              <a:rPr lang="en-US" altLang="zh-CN" sz="1800" b="1" kern="100" dirty="0">
                <a:effectLst/>
                <a:latin typeface="等线" panose="02010600030101010101" pitchFamily="2" charset="-122"/>
                <a:ea typeface="等线" panose="02010600030101010101" pitchFamily="2" charset="-122"/>
              </a:rPr>
              <a:t>8.1.5  </a:t>
            </a:r>
            <a:r>
              <a:rPr lang="zh-CN" altLang="en-US" sz="1800" b="1" kern="100" dirty="0">
                <a:effectLst/>
                <a:latin typeface="等线" panose="02010600030101010101" pitchFamily="2" charset="-122"/>
                <a:ea typeface="等线" panose="02010600030101010101" pitchFamily="2" charset="-122"/>
              </a:rPr>
              <a:t>文本主题的提取（选学）：基于</a:t>
            </a:r>
            <a:r>
              <a:rPr lang="en-US" altLang="zh-CN" sz="1800" b="1" kern="100" dirty="0" err="1">
                <a:effectLst/>
                <a:latin typeface="等线" panose="02010600030101010101" pitchFamily="2" charset="-122"/>
                <a:ea typeface="等线" panose="02010600030101010101" pitchFamily="2" charset="-122"/>
              </a:rPr>
              <a:t>TextRank</a:t>
            </a:r>
            <a:endParaRPr lang="zh-CN" altLang="zh-CN" sz="1800" b="1" kern="100" dirty="0">
              <a:effectLst/>
              <a:latin typeface="等线" panose="02010600030101010101" pitchFamily="2" charset="-122"/>
              <a:ea typeface="等线" panose="02010600030101010101" pitchFamily="2" charset="-122"/>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42900" y="2028826"/>
            <a:ext cx="7686675" cy="213135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TextRank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算法的核心思想来源自著名的网页排名算法</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PageRank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PageRank</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Sergey Brin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Larry Page</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1998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年在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WWW7</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会议上提出来的，用来解决链接分析中网页排名的问题。在衡量一个网页的排名，可以根据感觉认为：</a:t>
            </a:r>
          </a:p>
          <a:p>
            <a:pPr marL="342900" lvl="0" indent="-342900" algn="just">
              <a:lnSpc>
                <a:spcPts val="1650"/>
              </a:lnSpc>
              <a:buFont typeface="Wingdings" panose="05000000000000000000" pitchFamily="2" charset="2"/>
              <a:buChar char=""/>
            </a:pPr>
            <a:r>
              <a:rPr lang="zh-CN" altLang="zh-CN" sz="1800" dirty="0">
                <a:effectLst/>
                <a:latin typeface="Times New Roman" panose="02020603050405020304" pitchFamily="18" charset="0"/>
                <a:ea typeface="楷体_GB2312"/>
              </a:rPr>
              <a:t>当一个网页被更多网页所链接时，其排名会越靠前；</a:t>
            </a:r>
          </a:p>
          <a:p>
            <a:pPr marL="342900" lvl="0" indent="-342900" algn="just">
              <a:lnSpc>
                <a:spcPts val="1650"/>
              </a:lnSpc>
              <a:buFont typeface="Wingdings" panose="05000000000000000000" pitchFamily="2" charset="2"/>
              <a:buChar char=""/>
            </a:pPr>
            <a:r>
              <a:rPr lang="zh-CN" altLang="zh-CN" sz="1800" dirty="0">
                <a:effectLst/>
                <a:latin typeface="Times New Roman" panose="02020603050405020304" pitchFamily="18" charset="0"/>
                <a:ea typeface="楷体_GB2312"/>
              </a:rPr>
              <a:t>排名高的网页应具有更大的表决权，即当一个网页被排名高的网页所链接时，其重要性也应对应提高。</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51130021"/>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8.2  </a:t>
            </a:r>
            <a:r>
              <a:rPr lang="zh-CN" altLang="en-US" sz="2800" b="1" dirty="0">
                <a:latin typeface="宋体"/>
                <a:ea typeface="宋体"/>
                <a:cs typeface="宋体"/>
                <a:sym typeface="宋体"/>
              </a:rPr>
              <a:t>更多的</a:t>
            </a:r>
            <a:r>
              <a:rPr lang="en-US" altLang="zh-CN" sz="2800" b="1" dirty="0">
                <a:latin typeface="宋体"/>
                <a:ea typeface="宋体"/>
                <a:cs typeface="宋体"/>
                <a:sym typeface="宋体"/>
              </a:rPr>
              <a:t>word embedding</a:t>
            </a:r>
            <a:r>
              <a:rPr lang="zh-CN" altLang="en-US" sz="2800" b="1" dirty="0">
                <a:latin typeface="宋体"/>
                <a:ea typeface="宋体"/>
                <a:cs typeface="宋体"/>
                <a:sym typeface="宋体"/>
              </a:rPr>
              <a:t>方法</a:t>
            </a:r>
            <a:r>
              <a:rPr lang="en-US" altLang="zh-CN" sz="2800" b="1" dirty="0">
                <a:latin typeface="宋体"/>
                <a:ea typeface="宋体"/>
                <a:cs typeface="宋体"/>
                <a:sym typeface="宋体"/>
              </a:rPr>
              <a:t>—</a:t>
            </a:r>
            <a:r>
              <a:rPr lang="en-US" altLang="zh-CN" sz="2800" b="1" dirty="0" err="1">
                <a:latin typeface="宋体"/>
                <a:ea typeface="宋体"/>
                <a:cs typeface="宋体"/>
                <a:sym typeface="宋体"/>
              </a:rPr>
              <a:t>fastText</a:t>
            </a:r>
            <a:r>
              <a:rPr lang="zh-CN" altLang="en-US" sz="2800" b="1" dirty="0">
                <a:latin typeface="宋体"/>
                <a:ea typeface="宋体"/>
                <a:cs typeface="宋体"/>
                <a:sym typeface="宋体"/>
              </a:rPr>
              <a:t>和预训练词向量</a:t>
            </a:r>
            <a:endParaRPr lang="zh-CN" altLang="en-US" dirty="0">
              <a:latin typeface="宋体"/>
              <a:ea typeface="宋体"/>
              <a:cs typeface="宋体"/>
              <a:sym typeface="宋体"/>
            </a:endParaRPr>
          </a:p>
        </p:txBody>
      </p:sp>
      <p:sp>
        <p:nvSpPr>
          <p:cNvPr id="12" name="文本框 11">
            <a:extLst>
              <a:ext uri="{FF2B5EF4-FFF2-40B4-BE49-F238E27FC236}">
                <a16:creationId xmlns:a16="http://schemas.microsoft.com/office/drawing/2014/main" id="{C1F7676E-D47F-425D-B29B-D625ECF06481}"/>
              </a:ext>
            </a:extLst>
          </p:cNvPr>
          <p:cNvSpPr txBox="1"/>
          <p:nvPr/>
        </p:nvSpPr>
        <p:spPr>
          <a:xfrm>
            <a:off x="361950" y="1827924"/>
            <a:ext cx="8601075"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在实际的模型计算过程中，</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word2vec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是一个最常用也是最重要将“字”转换成“字嵌入（</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）”的方式。</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对于普通的文本来说，供人类所了解和掌握的信息传递方式并不能简易地被计算机所理解，因此</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是目前来说解决向计算机传递文字信息的最好的方式，如图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8.15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9" name="图片 8">
            <a:extLst>
              <a:ext uri="{FF2B5EF4-FFF2-40B4-BE49-F238E27FC236}">
                <a16:creationId xmlns:a16="http://schemas.microsoft.com/office/drawing/2014/main" id="{7D4DA3B4-9C6B-48D5-BAA4-3D27E5429B9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2487" y="3467950"/>
            <a:ext cx="2634615" cy="2047875"/>
          </a:xfrm>
          <a:prstGeom prst="rect">
            <a:avLst/>
          </a:prstGeom>
          <a:noFill/>
          <a:ln>
            <a:noFill/>
          </a:ln>
        </p:spPr>
      </p:pic>
    </p:spTree>
    <p:extLst>
      <p:ext uri="{BB962C8B-B14F-4D97-AF65-F5344CB8AC3E}">
        <p14:creationId xmlns:p14="http://schemas.microsoft.com/office/powerpoint/2010/main" val="3170087031"/>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8.2  </a:t>
            </a:r>
            <a:r>
              <a:rPr lang="zh-CN" altLang="en-US" sz="2800" b="1" dirty="0">
                <a:latin typeface="宋体"/>
                <a:ea typeface="宋体"/>
                <a:cs typeface="宋体"/>
                <a:sym typeface="宋体"/>
              </a:rPr>
              <a:t>更多的</a:t>
            </a:r>
            <a:r>
              <a:rPr lang="en-US" altLang="zh-CN" sz="2800" b="1" dirty="0">
                <a:latin typeface="宋体"/>
                <a:ea typeface="宋体"/>
                <a:cs typeface="宋体"/>
                <a:sym typeface="宋体"/>
              </a:rPr>
              <a:t>word embedding</a:t>
            </a:r>
            <a:r>
              <a:rPr lang="zh-CN" altLang="en-US" sz="2800" b="1" dirty="0">
                <a:latin typeface="宋体"/>
                <a:ea typeface="宋体"/>
                <a:cs typeface="宋体"/>
                <a:sym typeface="宋体"/>
              </a:rPr>
              <a:t>方法</a:t>
            </a:r>
            <a:r>
              <a:rPr lang="en-US" altLang="zh-CN" sz="2800" b="1" dirty="0">
                <a:latin typeface="宋体"/>
                <a:ea typeface="宋体"/>
                <a:cs typeface="宋体"/>
                <a:sym typeface="宋体"/>
              </a:rPr>
              <a:t>—</a:t>
            </a:r>
            <a:r>
              <a:rPr lang="en-US" altLang="zh-CN" sz="2800" b="1" dirty="0" err="1">
                <a:latin typeface="宋体"/>
                <a:ea typeface="宋体"/>
                <a:cs typeface="宋体"/>
                <a:sym typeface="宋体"/>
              </a:rPr>
              <a:t>fastText</a:t>
            </a:r>
            <a:r>
              <a:rPr lang="zh-CN" altLang="en-US" sz="2800" b="1" dirty="0">
                <a:latin typeface="宋体"/>
                <a:ea typeface="宋体"/>
                <a:cs typeface="宋体"/>
                <a:sym typeface="宋体"/>
              </a:rPr>
              <a:t>和预训练词向量</a:t>
            </a: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spcBef>
                <a:spcPts val="1200"/>
              </a:spcBef>
              <a:spcAft>
                <a:spcPts val="1200"/>
              </a:spcAft>
            </a:pPr>
            <a:r>
              <a:rPr lang="en-US"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rPr>
              <a:t>8.2.1  </a:t>
            </a:r>
            <a:r>
              <a:rPr lang="en-US" altLang="zh-CN" sz="1800" kern="100" dirty="0" err="1">
                <a:effectLst/>
                <a:latin typeface="方正姚体" panose="02010601030101010101" pitchFamily="2" charset="-122"/>
                <a:ea typeface="方正姚体" panose="02010601030101010101" pitchFamily="2" charset="-122"/>
                <a:cs typeface="Times New Roman" panose="02020603050405020304" pitchFamily="18" charset="0"/>
              </a:rPr>
              <a:t>fastText</a:t>
            </a:r>
            <a:r>
              <a:rPr lang="zh-CN" altLang="en-US" sz="1800" kern="100" dirty="0">
                <a:effectLst/>
                <a:latin typeface="方正姚体" panose="02010601030101010101" pitchFamily="2" charset="-122"/>
                <a:ea typeface="方正姚体" panose="02010601030101010101" pitchFamily="2" charset="-122"/>
                <a:cs typeface="Times New Roman" panose="02020603050405020304" pitchFamily="18" charset="0"/>
              </a:rPr>
              <a:t>的原理与基础算法</a:t>
            </a:r>
            <a:endParaRPr lang="zh-CN" altLang="zh-CN" sz="1800" kern="100" dirty="0">
              <a:effectLst/>
              <a:latin typeface="方正姚体" panose="02010601030101010101" pitchFamily="2" charset="-122"/>
              <a:ea typeface="方正姚体" panose="02010601030101010101" pitchFamily="2" charset="-122"/>
              <a:cs typeface="Times New Roman" panose="02020603050405020304" pitchFamily="18" charset="0"/>
            </a:endParaRPr>
          </a:p>
        </p:txBody>
      </p:sp>
      <p:sp>
        <p:nvSpPr>
          <p:cNvPr id="17" name="文本框 16">
            <a:extLst>
              <a:ext uri="{FF2B5EF4-FFF2-40B4-BE49-F238E27FC236}">
                <a16:creationId xmlns:a16="http://schemas.microsoft.com/office/drawing/2014/main" id="{B6BFB215-49A6-440D-8786-DC2C0BE760F8}"/>
              </a:ext>
            </a:extLst>
          </p:cNvPr>
          <p:cNvSpPr txBox="1"/>
          <p:nvPr/>
        </p:nvSpPr>
        <p:spPr>
          <a:xfrm>
            <a:off x="561975" y="2000250"/>
            <a:ext cx="8124825" cy="23493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相对于传统的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word2vec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计算方法，</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fastText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是一种更为快速和新的计算</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的方法，其优点主要有以下几个方面</a:t>
            </a:r>
          </a:p>
          <a:p>
            <a:pPr marL="342900" lvl="0" indent="-342900" algn="just">
              <a:lnSpc>
                <a:spcPts val="1650"/>
              </a:lnSpc>
              <a:buFont typeface="Wingdings" panose="05000000000000000000" pitchFamily="2" charset="2"/>
              <a:buChar char=""/>
            </a:pPr>
            <a:r>
              <a:rPr lang="en-US" altLang="zh-CN" sz="1800" dirty="0" err="1">
                <a:effectLst/>
                <a:latin typeface="Times New Roman" panose="02020603050405020304" pitchFamily="18" charset="0"/>
                <a:ea typeface="楷体_GB2312"/>
              </a:rPr>
              <a:t>fastText</a:t>
            </a:r>
            <a:r>
              <a:rPr lang="zh-CN" altLang="zh-CN" sz="1800" dirty="0">
                <a:effectLst/>
                <a:latin typeface="Times New Roman" panose="02020603050405020304" pitchFamily="18" charset="0"/>
                <a:ea typeface="楷体_GB2312"/>
              </a:rPr>
              <a:t>在保持高精度的情况下加快了训练速度和测试速度；</a:t>
            </a:r>
          </a:p>
          <a:p>
            <a:pPr marL="342900" lvl="0" indent="-342900" algn="just">
              <a:lnSpc>
                <a:spcPts val="1650"/>
              </a:lnSpc>
              <a:buFont typeface="Wingdings" panose="05000000000000000000" pitchFamily="2" charset="2"/>
              <a:buChar char=""/>
            </a:pPr>
            <a:r>
              <a:rPr lang="en-US" altLang="zh-CN" sz="1800" dirty="0" err="1">
                <a:effectLst/>
                <a:latin typeface="Times New Roman" panose="02020603050405020304" pitchFamily="18" charset="0"/>
                <a:ea typeface="楷体_GB2312"/>
              </a:rPr>
              <a:t>fastText</a:t>
            </a:r>
            <a:r>
              <a:rPr lang="zh-CN" altLang="zh-CN" sz="1800" dirty="0">
                <a:effectLst/>
                <a:latin typeface="Times New Roman" panose="02020603050405020304" pitchFamily="18" charset="0"/>
                <a:ea typeface="楷体_GB2312"/>
              </a:rPr>
              <a:t>对</a:t>
            </a:r>
            <a:r>
              <a:rPr lang="en-US" altLang="zh-CN" sz="1800" dirty="0">
                <a:effectLst/>
                <a:latin typeface="Times New Roman" panose="02020603050405020304" pitchFamily="18" charset="0"/>
                <a:ea typeface="楷体_GB2312"/>
              </a:rPr>
              <a:t>word embedding</a:t>
            </a:r>
            <a:r>
              <a:rPr lang="zh-CN" altLang="zh-CN" sz="1800" dirty="0">
                <a:effectLst/>
                <a:latin typeface="Times New Roman" panose="02020603050405020304" pitchFamily="18" charset="0"/>
                <a:ea typeface="楷体_GB2312"/>
              </a:rPr>
              <a:t>的训练更加精准；</a:t>
            </a:r>
          </a:p>
          <a:p>
            <a:pPr marL="342900" lvl="0" indent="-342900" algn="just">
              <a:lnSpc>
                <a:spcPts val="1650"/>
              </a:lnSpc>
              <a:buFont typeface="Wingdings" panose="05000000000000000000" pitchFamily="2" charset="2"/>
              <a:buChar char=""/>
            </a:pPr>
            <a:r>
              <a:rPr lang="en-US" altLang="zh-CN" sz="1800" dirty="0" err="1">
                <a:effectLst/>
                <a:latin typeface="Times New Roman" panose="02020603050405020304" pitchFamily="18" charset="0"/>
                <a:ea typeface="楷体_GB2312"/>
              </a:rPr>
              <a:t>fastText</a:t>
            </a:r>
            <a:r>
              <a:rPr lang="zh-CN" altLang="zh-CN" sz="1800" dirty="0">
                <a:effectLst/>
                <a:latin typeface="Times New Roman" panose="02020603050405020304" pitchFamily="18" charset="0"/>
                <a:ea typeface="楷体_GB2312"/>
              </a:rPr>
              <a:t>采用两个重要的算法：</a:t>
            </a:r>
            <a:r>
              <a:rPr lang="en-US" altLang="zh-CN" sz="1800" dirty="0">
                <a:effectLst/>
                <a:latin typeface="Times New Roman" panose="02020603050405020304" pitchFamily="18" charset="0"/>
                <a:ea typeface="楷体_GB2312"/>
              </a:rPr>
              <a:t>N-gram</a:t>
            </a:r>
            <a:r>
              <a:rPr lang="zh-CN" altLang="zh-CN" sz="1800" dirty="0">
                <a:effectLst/>
                <a:latin typeface="Times New Roman" panose="02020603050405020304" pitchFamily="18" charset="0"/>
                <a:ea typeface="楷体_GB2312"/>
              </a:rPr>
              <a:t>（第一次出现这个词，下文有说明）、</a:t>
            </a:r>
            <a:r>
              <a:rPr lang="en-US" altLang="zh-CN" sz="1800" dirty="0">
                <a:effectLst/>
                <a:latin typeface="Times New Roman" panose="02020603050405020304" pitchFamily="18" charset="0"/>
                <a:ea typeface="楷体_GB2312"/>
              </a:rPr>
              <a:t>Hierarchical </a:t>
            </a:r>
            <a:r>
              <a:rPr lang="en-US" altLang="zh-CN" sz="1800" dirty="0" err="1">
                <a:effectLst/>
                <a:latin typeface="Times New Roman" panose="02020603050405020304" pitchFamily="18" charset="0"/>
                <a:ea typeface="楷体_GB2312"/>
              </a:rPr>
              <a:t>Softmax</a:t>
            </a:r>
            <a:r>
              <a:rPr lang="zh-CN" altLang="zh-CN" sz="1800" dirty="0">
                <a:effectLst/>
                <a:latin typeface="Times New Roman" panose="02020603050405020304" pitchFamily="18" charset="0"/>
                <a:ea typeface="楷体_GB2312"/>
              </a:rPr>
              <a:t>。</a:t>
            </a:r>
          </a:p>
          <a:p>
            <a:pPr algn="just"/>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算法一：</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首先相对于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word2vec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中采用的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CBOW</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架构，</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fastText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采用的是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N-gram</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架构，如图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8.16</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a:t>
            </a:r>
          </a:p>
        </p:txBody>
      </p:sp>
      <p:pic>
        <p:nvPicPr>
          <p:cNvPr id="7" name="图片 6">
            <a:extLst>
              <a:ext uri="{FF2B5EF4-FFF2-40B4-BE49-F238E27FC236}">
                <a16:creationId xmlns:a16="http://schemas.microsoft.com/office/drawing/2014/main" id="{DDA7BA9B-639D-4EA1-AB6C-14297D7D2924}"/>
              </a:ext>
            </a:extLst>
          </p:cNvPr>
          <p:cNvPicPr/>
          <p:nvPr/>
        </p:nvPicPr>
        <p:blipFill>
          <a:blip r:embed="rId2"/>
          <a:stretch>
            <a:fillRect/>
          </a:stretch>
        </p:blipFill>
        <p:spPr>
          <a:xfrm>
            <a:off x="5220017" y="4017962"/>
            <a:ext cx="3295015" cy="1679575"/>
          </a:xfrm>
          <a:prstGeom prst="rect">
            <a:avLst/>
          </a:prstGeom>
        </p:spPr>
      </p:pic>
    </p:spTree>
    <p:extLst>
      <p:ext uri="{BB962C8B-B14F-4D97-AF65-F5344CB8AC3E}">
        <p14:creationId xmlns:p14="http://schemas.microsoft.com/office/powerpoint/2010/main" val="139715436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8.2  </a:t>
            </a:r>
            <a:r>
              <a:rPr lang="zh-CN" altLang="en-US" sz="2800" b="1" dirty="0">
                <a:latin typeface="宋体"/>
                <a:ea typeface="宋体"/>
                <a:cs typeface="宋体"/>
                <a:sym typeface="宋体"/>
              </a:rPr>
              <a:t>更多的</a:t>
            </a:r>
            <a:r>
              <a:rPr lang="en-US" altLang="zh-CN" sz="2800" b="1" dirty="0">
                <a:latin typeface="宋体"/>
                <a:ea typeface="宋体"/>
                <a:cs typeface="宋体"/>
                <a:sym typeface="宋体"/>
              </a:rPr>
              <a:t>word embedding</a:t>
            </a:r>
            <a:r>
              <a:rPr lang="zh-CN" altLang="en-US" sz="2800" b="1" dirty="0">
                <a:latin typeface="宋体"/>
                <a:ea typeface="宋体"/>
                <a:cs typeface="宋体"/>
                <a:sym typeface="宋体"/>
              </a:rPr>
              <a:t>方法</a:t>
            </a:r>
            <a:r>
              <a:rPr lang="en-US" altLang="zh-CN" sz="2800" b="1" dirty="0">
                <a:latin typeface="宋体"/>
                <a:ea typeface="宋体"/>
                <a:cs typeface="宋体"/>
                <a:sym typeface="宋体"/>
              </a:rPr>
              <a:t>—</a:t>
            </a:r>
            <a:r>
              <a:rPr lang="en-US" altLang="zh-CN" sz="2800" b="1" dirty="0" err="1">
                <a:latin typeface="宋体"/>
                <a:ea typeface="宋体"/>
                <a:cs typeface="宋体"/>
                <a:sym typeface="宋体"/>
              </a:rPr>
              <a:t>fastText</a:t>
            </a:r>
            <a:r>
              <a:rPr lang="zh-CN" altLang="en-US" sz="2800" b="1" dirty="0">
                <a:latin typeface="宋体"/>
                <a:ea typeface="宋体"/>
                <a:cs typeface="宋体"/>
                <a:sym typeface="宋体"/>
              </a:rPr>
              <a:t>和预训练词向量</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8.2.2  </a:t>
            </a:r>
            <a:r>
              <a:rPr lang="en-US" altLang="zh-CN" sz="1800" b="1" kern="100" dirty="0" err="1">
                <a:effectLst/>
                <a:latin typeface="等线 Light" panose="02010600030101010101" pitchFamily="2" charset="-122"/>
                <a:ea typeface="等线 Light" panose="02010600030101010101" pitchFamily="2" charset="-122"/>
                <a:cs typeface="Times New Roman" panose="02020603050405020304" pitchFamily="18" charset="0"/>
              </a:rPr>
              <a:t>fastText</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训练以及与</a:t>
            </a:r>
            <a:r>
              <a:rPr lang="en-US" altLang="zh-CN" sz="1800" b="1" kern="100" dirty="0" err="1">
                <a:effectLst/>
                <a:latin typeface="等线 Light" panose="02010600030101010101" pitchFamily="2" charset="-122"/>
                <a:ea typeface="等线 Light" panose="02010600030101010101" pitchFamily="2" charset="-122"/>
                <a:cs typeface="Times New Roman" panose="02020603050405020304" pitchFamily="18" charset="0"/>
              </a:rPr>
              <a:t>Pytorch</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 2.0</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的协同使用</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C96D0D81-2363-48A7-835D-695FB28CA2F4}"/>
              </a:ext>
            </a:extLst>
          </p:cNvPr>
          <p:cNvSpPr txBox="1"/>
          <p:nvPr/>
        </p:nvSpPr>
        <p:spPr>
          <a:xfrm>
            <a:off x="361950" y="1952625"/>
            <a:ext cx="8324850"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前面介绍完架构和理论，本小节开始使用</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fastText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。这里主要介绍中文部分的</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fastText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处理。</a:t>
            </a:r>
          </a:p>
          <a:p>
            <a:pPr algn="just"/>
            <a:r>
              <a:rPr lang="zh-CN" altLang="zh-CN" sz="1800" b="1" kern="100" dirty="0">
                <a:effectLst/>
                <a:latin typeface="等线" panose="02010600030101010101" pitchFamily="2" charset="-122"/>
                <a:ea typeface="等线" panose="02010600030101010101" pitchFamily="2" charset="-122"/>
                <a:cs typeface="Times New Roman" panose="02020603050405020304" pitchFamily="18" charset="0"/>
              </a:rPr>
              <a:t>第一步：数据收集与分词</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为了演示</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fastText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的使用，构造如图</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8.18</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所示的数据集：</a:t>
            </a:r>
          </a:p>
          <a:p>
            <a:pPr algn="just"/>
            <a:endPar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B0395AD2-E1F8-4461-BD4D-6246BA002FB6}"/>
              </a:ext>
            </a:extLst>
          </p:cNvPr>
          <p:cNvPicPr/>
          <p:nvPr/>
        </p:nvPicPr>
        <p:blipFill>
          <a:blip r:embed="rId2"/>
          <a:stretch>
            <a:fillRect/>
          </a:stretch>
        </p:blipFill>
        <p:spPr>
          <a:xfrm>
            <a:off x="2515870" y="3842067"/>
            <a:ext cx="5274310" cy="755015"/>
          </a:xfrm>
          <a:prstGeom prst="rect">
            <a:avLst/>
          </a:prstGeom>
        </p:spPr>
      </p:pic>
    </p:spTree>
    <p:extLst>
      <p:ext uri="{BB962C8B-B14F-4D97-AF65-F5344CB8AC3E}">
        <p14:creationId xmlns:p14="http://schemas.microsoft.com/office/powerpoint/2010/main" val="3179334609"/>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8.2  </a:t>
            </a:r>
            <a:r>
              <a:rPr lang="zh-CN" altLang="en-US" sz="2800" b="1" dirty="0">
                <a:latin typeface="宋体"/>
                <a:ea typeface="宋体"/>
                <a:cs typeface="宋体"/>
                <a:sym typeface="宋体"/>
              </a:rPr>
              <a:t>更多的</a:t>
            </a:r>
            <a:r>
              <a:rPr lang="en-US" altLang="zh-CN" sz="2800" b="1" dirty="0">
                <a:latin typeface="宋体"/>
                <a:ea typeface="宋体"/>
                <a:cs typeface="宋体"/>
                <a:sym typeface="宋体"/>
              </a:rPr>
              <a:t>word embedding</a:t>
            </a:r>
            <a:r>
              <a:rPr lang="zh-CN" altLang="en-US" sz="2800" b="1" dirty="0">
                <a:latin typeface="宋体"/>
                <a:ea typeface="宋体"/>
                <a:cs typeface="宋体"/>
                <a:sym typeface="宋体"/>
              </a:rPr>
              <a:t>方法</a:t>
            </a:r>
            <a:r>
              <a:rPr lang="en-US" altLang="zh-CN" sz="2800" b="1" dirty="0">
                <a:latin typeface="宋体"/>
                <a:ea typeface="宋体"/>
                <a:cs typeface="宋体"/>
                <a:sym typeface="宋体"/>
              </a:rPr>
              <a:t>—</a:t>
            </a:r>
            <a:r>
              <a:rPr lang="en-US" altLang="zh-CN" sz="2800" b="1" dirty="0" err="1">
                <a:latin typeface="宋体"/>
                <a:ea typeface="宋体"/>
                <a:cs typeface="宋体"/>
                <a:sym typeface="宋体"/>
              </a:rPr>
              <a:t>fastText</a:t>
            </a:r>
            <a:r>
              <a:rPr lang="zh-CN" altLang="en-US" sz="2800" b="1" dirty="0">
                <a:latin typeface="宋体"/>
                <a:ea typeface="宋体"/>
                <a:cs typeface="宋体"/>
                <a:sym typeface="宋体"/>
              </a:rPr>
              <a:t>和预训练词向量</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8.2.3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使用其他预训练参数做</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Pytorch2.0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词嵌入矩阵（中文）</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20" name="文本框 19">
            <a:extLst>
              <a:ext uri="{FF2B5EF4-FFF2-40B4-BE49-F238E27FC236}">
                <a16:creationId xmlns:a16="http://schemas.microsoft.com/office/drawing/2014/main" id="{0BB4B799-CA07-44F7-A4E8-87EB1B473B66}"/>
              </a:ext>
            </a:extLst>
          </p:cNvPr>
          <p:cNvSpPr txBox="1"/>
          <p:nvPr/>
        </p:nvSpPr>
        <p:spPr>
          <a:xfrm>
            <a:off x="266699" y="2105025"/>
            <a:ext cx="8677275"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无论是使用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word2vec</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还是</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fastText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作为训练基础都是可以的。但是对于个人用户或者规模不大的公司机构来说，做一个庞大的预训练项目是一个费时费力的工程。</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那么既然它山之石可以攻玉，那么为什么不借助其他免费的训练好的词向量作为使用基础呢？如下图所示。</a:t>
            </a:r>
          </a:p>
        </p:txBody>
      </p:sp>
      <p:pic>
        <p:nvPicPr>
          <p:cNvPr id="7" name="图片 6">
            <a:extLst>
              <a:ext uri="{FF2B5EF4-FFF2-40B4-BE49-F238E27FC236}">
                <a16:creationId xmlns:a16="http://schemas.microsoft.com/office/drawing/2014/main" id="{4A7F3821-B0A5-4F3D-A830-203712AC8BA6}"/>
              </a:ext>
            </a:extLst>
          </p:cNvPr>
          <p:cNvPicPr/>
          <p:nvPr/>
        </p:nvPicPr>
        <p:blipFill>
          <a:blip r:embed="rId2"/>
          <a:stretch>
            <a:fillRect/>
          </a:stretch>
        </p:blipFill>
        <p:spPr>
          <a:xfrm>
            <a:off x="2687320" y="3552647"/>
            <a:ext cx="5274310" cy="1820545"/>
          </a:xfrm>
          <a:prstGeom prst="rect">
            <a:avLst/>
          </a:prstGeom>
        </p:spPr>
      </p:pic>
    </p:spTree>
    <p:extLst>
      <p:ext uri="{BB962C8B-B14F-4D97-AF65-F5344CB8AC3E}">
        <p14:creationId xmlns:p14="http://schemas.microsoft.com/office/powerpoint/2010/main" val="1081935174"/>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8.3  </a:t>
            </a:r>
            <a:r>
              <a:rPr lang="zh-CN" altLang="en-US" sz="2800" b="1" dirty="0">
                <a:latin typeface="宋体"/>
                <a:ea typeface="宋体"/>
                <a:cs typeface="宋体"/>
                <a:sym typeface="宋体"/>
              </a:rPr>
              <a:t>针对文本的卷积神经网络模型简介</a:t>
            </a:r>
            <a:r>
              <a:rPr lang="en-US" altLang="zh-CN" sz="2800" b="1" dirty="0">
                <a:latin typeface="宋体"/>
                <a:ea typeface="宋体"/>
                <a:cs typeface="宋体"/>
                <a:sym typeface="宋体"/>
              </a:rPr>
              <a:t>-</a:t>
            </a:r>
            <a:r>
              <a:rPr lang="zh-CN" altLang="en-US" sz="2800" b="1" dirty="0">
                <a:latin typeface="宋体"/>
                <a:ea typeface="宋体"/>
                <a:cs typeface="宋体"/>
                <a:sym typeface="宋体"/>
              </a:rPr>
              <a:t>字符卷积</a:t>
            </a:r>
            <a:endParaRPr lang="zh-CN" altLang="en-US" dirty="0">
              <a:latin typeface="宋体"/>
              <a:ea typeface="宋体"/>
              <a:cs typeface="宋体"/>
              <a:sym typeface="宋体"/>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371475" y="1593294"/>
            <a:ext cx="8229600" cy="3416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卷积神经网络在图像处理领域获得了极大成功，其结合特征提取和目标训练为一体的模型能够最好的利用已有的信息对结果进行反馈训练。</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于文本识别的卷积神经网络来说，同样也是充分利用特征提取时提取的文本特征来计算文本特征权值大小的，归一化处理需要处理的数据。这样使得原来的文本信息抽象成一个向量化的样本集，之后将样本集和训练好的模板输入卷积神经网络进行处理。</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本节将在上一节的基础上使用卷积神经网络实现文本分类的问题，这里将采用两种主要基于字符的和基于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形式的词卷积神经网络处理方法。实际上无论是基于字符的还是基于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形式的处理方式都是可以相互转换的，这里只介绍使用基本的使用模型和方法，更多的应用还需要读者自行挖掘和设计。</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5109314"/>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8.3  </a:t>
            </a:r>
            <a:r>
              <a:rPr lang="zh-CN" altLang="en-US" sz="2800" b="1" dirty="0">
                <a:latin typeface="宋体"/>
                <a:ea typeface="宋体"/>
                <a:cs typeface="宋体"/>
                <a:sym typeface="宋体"/>
              </a:rPr>
              <a:t>针对文本的卷积神经网络模型简介</a:t>
            </a:r>
            <a:r>
              <a:rPr lang="en-US" altLang="zh-CN" sz="2800" b="1" dirty="0">
                <a:latin typeface="宋体"/>
                <a:ea typeface="宋体"/>
                <a:cs typeface="宋体"/>
                <a:sym typeface="宋体"/>
              </a:rPr>
              <a:t>-</a:t>
            </a:r>
            <a:r>
              <a:rPr lang="zh-CN" altLang="en-US" sz="2800" b="1" dirty="0">
                <a:latin typeface="宋体"/>
                <a:ea typeface="宋体"/>
                <a:cs typeface="宋体"/>
                <a:sym typeface="宋体"/>
              </a:rPr>
              <a:t>字符卷积</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8.3.1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字符（非单词）文本的处理</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36933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本小节将介绍基于字符的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CNN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处理方法。基于单词的卷积处理内容将在下一节介绍，请读者循序渐进地学习。</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任何一个英文单词都是由字母构成，因此可以简单的将英文单词拆分成字母的表示形式，</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hello –&gt;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h”,”e”,”l”,”l”,”o</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这样可以看到一个单词“</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hello”</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被人为的拆分成“</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个字母。而对于</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Hello</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的处理有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2</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中方法，即采用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one-hot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的方式和采用字符</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embedding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的方式处理。这样的话，“</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hello”</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这个单词就即被转成一个</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大小的矩阵，本例中采用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one-hot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的方式处理。</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对模型的说明。对于使用卷积神经网络计算字符矩阵，对于每个单词拆分成的数据根据不同的长度对其进行卷积处理。提取出高层抽象概念。这样做的好处是不需要使用预训练好的词向量和语法句法结构等信息。除此之外，字符级还有一个好处就是可以很容易地推广到所有语言。</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56100381"/>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8.3  </a:t>
            </a:r>
            <a:r>
              <a:rPr lang="zh-CN" altLang="en-US" sz="2800" b="1" dirty="0">
                <a:latin typeface="宋体"/>
                <a:ea typeface="宋体"/>
                <a:cs typeface="宋体"/>
                <a:sym typeface="宋体"/>
              </a:rPr>
              <a:t>针对文本的卷积神经网络模型简介</a:t>
            </a:r>
            <a:r>
              <a:rPr lang="en-US" altLang="zh-CN" sz="2800" b="1" dirty="0">
                <a:latin typeface="宋体"/>
                <a:ea typeface="宋体"/>
                <a:cs typeface="宋体"/>
                <a:sym typeface="宋体"/>
              </a:rPr>
              <a:t>-</a:t>
            </a:r>
            <a:r>
              <a:rPr lang="zh-CN" altLang="en-US" sz="2800" b="1" dirty="0">
                <a:latin typeface="宋体"/>
                <a:ea typeface="宋体"/>
                <a:cs typeface="宋体"/>
                <a:sym typeface="宋体"/>
              </a:rPr>
              <a:t>字符卷积</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8.3.2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卷积神经网络文本分类模型的实现</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—conv1d</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（一维卷积）</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对文本的数据集处理完毕后，下面进入了基于卷积神经网络的分辨模型设计。模型的设计有多种多样。</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FE19ABE8-F588-46BC-9686-2F605BBCD668}"/>
              </a:ext>
            </a:extLst>
          </p:cNvPr>
          <p:cNvPicPr/>
          <p:nvPr/>
        </p:nvPicPr>
        <p:blipFill>
          <a:blip r:embed="rId2"/>
          <a:stretch>
            <a:fillRect/>
          </a:stretch>
        </p:blipFill>
        <p:spPr>
          <a:xfrm>
            <a:off x="4400550" y="2553970"/>
            <a:ext cx="3857625" cy="1140460"/>
          </a:xfrm>
          <a:prstGeom prst="rect">
            <a:avLst/>
          </a:prstGeom>
        </p:spPr>
      </p:pic>
      <p:sp>
        <p:nvSpPr>
          <p:cNvPr id="8" name="文本框 7">
            <a:extLst>
              <a:ext uri="{FF2B5EF4-FFF2-40B4-BE49-F238E27FC236}">
                <a16:creationId xmlns:a16="http://schemas.microsoft.com/office/drawing/2014/main" id="{69B78B2E-B987-4E87-8CA3-C9636EBABC7D}"/>
              </a:ext>
            </a:extLst>
          </p:cNvPr>
          <p:cNvSpPr txBox="1"/>
          <p:nvPr/>
        </p:nvSpPr>
        <p:spPr>
          <a:xfrm>
            <a:off x="457199" y="4536994"/>
            <a:ext cx="8229599" cy="6446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如同图的结构，作者根据类似的模型设计了一个有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5</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层神经网络构成的文本分类模型：</a:t>
            </a:r>
          </a:p>
        </p:txBody>
      </p:sp>
    </p:spTree>
    <p:extLst>
      <p:ext uri="{BB962C8B-B14F-4D97-AF65-F5344CB8AC3E}">
        <p14:creationId xmlns:p14="http://schemas.microsoft.com/office/powerpoint/2010/main" val="3307034955"/>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8.4  </a:t>
            </a:r>
            <a:r>
              <a:rPr lang="zh-CN" altLang="en-US" sz="2800" b="1" dirty="0">
                <a:latin typeface="宋体"/>
                <a:ea typeface="宋体"/>
                <a:cs typeface="宋体"/>
                <a:sym typeface="宋体"/>
              </a:rPr>
              <a:t>针对文本的卷积神经网络模型简介</a:t>
            </a:r>
            <a:r>
              <a:rPr lang="en-US" altLang="zh-CN" sz="2800" b="1" dirty="0">
                <a:latin typeface="宋体"/>
                <a:ea typeface="宋体"/>
                <a:cs typeface="宋体"/>
                <a:sym typeface="宋体"/>
              </a:rPr>
              <a:t>-</a:t>
            </a:r>
            <a:r>
              <a:rPr lang="zh-CN" altLang="en-US" sz="2800" b="1" dirty="0">
                <a:latin typeface="宋体"/>
                <a:ea typeface="宋体"/>
                <a:cs typeface="宋体"/>
                <a:sym typeface="宋体"/>
              </a:rPr>
              <a:t>词卷积</a:t>
            </a:r>
            <a:endParaRPr lang="zh-CN" altLang="en-US" dirty="0">
              <a:latin typeface="宋体"/>
              <a:ea typeface="宋体"/>
              <a:cs typeface="宋体"/>
              <a:sym typeface="宋体"/>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488519"/>
            <a:ext cx="8229600"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使用字符卷积对文本分类是可以的，但是相对于词来说，字符包含的信息并没有“词”的内容较多，即使卷积神经网络能够较好的对数据信息进行学习，但是由于包含的内容关系其最终效果也只能差强人意。</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在字符卷积的基础上，研究人员尝试使用词为基础数据对文本进行处理，图是使用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CNN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做词卷积模型。</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2A53776D-33FE-4BE5-A583-1FBFB72E3D8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13095" y="2832407"/>
            <a:ext cx="3145155" cy="2941955"/>
          </a:xfrm>
          <a:prstGeom prst="rect">
            <a:avLst/>
          </a:prstGeom>
          <a:noFill/>
          <a:ln>
            <a:noFill/>
          </a:ln>
        </p:spPr>
      </p:pic>
    </p:spTree>
    <p:extLst>
      <p:ext uri="{BB962C8B-B14F-4D97-AF65-F5344CB8AC3E}">
        <p14:creationId xmlns:p14="http://schemas.microsoft.com/office/powerpoint/2010/main" val="127616561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8.4  </a:t>
            </a:r>
            <a:r>
              <a:rPr lang="zh-CN" altLang="en-US" sz="2800" b="1" dirty="0">
                <a:latin typeface="宋体"/>
                <a:ea typeface="宋体"/>
                <a:cs typeface="宋体"/>
                <a:sym typeface="宋体"/>
              </a:rPr>
              <a:t>针对文本的卷积神经网络模型简介</a:t>
            </a:r>
            <a:r>
              <a:rPr lang="en-US" altLang="zh-CN" sz="2800" b="1" dirty="0">
                <a:latin typeface="宋体"/>
                <a:ea typeface="宋体"/>
                <a:cs typeface="宋体"/>
                <a:sym typeface="宋体"/>
              </a:rPr>
              <a:t>-</a:t>
            </a:r>
            <a:r>
              <a:rPr lang="zh-CN" altLang="en-US" sz="2800" b="1" dirty="0">
                <a:latin typeface="宋体"/>
                <a:ea typeface="宋体"/>
                <a:cs typeface="宋体"/>
                <a:sym typeface="宋体"/>
              </a:rPr>
              <a:t>词卷积</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8.4.1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单词的文本处理</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1477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首先是对文本的处理，使用卷积神经网络对单词进行处理一个最基本的要求就是将文本转换成计算机可以识别的数据。在上一节的学习内容中使用卷积神经网络对字符的</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one-hot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矩阵进行分析处理。一个简单的想法也是是否将文本中的单词依旧处理成</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one-hot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矩阵进行处理，如图所示。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3B97031F-7CBA-47C5-975F-8AA2BD0B75E9}"/>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381375" y="3699827"/>
            <a:ext cx="4762500" cy="1477645"/>
          </a:xfrm>
          <a:prstGeom prst="rect">
            <a:avLst/>
          </a:prstGeom>
          <a:noFill/>
          <a:ln>
            <a:noFill/>
          </a:ln>
        </p:spPr>
      </p:pic>
    </p:spTree>
    <p:extLst>
      <p:ext uri="{BB962C8B-B14F-4D97-AF65-F5344CB8AC3E}">
        <p14:creationId xmlns:p14="http://schemas.microsoft.com/office/powerpoint/2010/main" val="187829311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8.4  </a:t>
            </a:r>
            <a:r>
              <a:rPr lang="zh-CN" altLang="en-US" sz="2800" b="1" dirty="0">
                <a:latin typeface="宋体"/>
                <a:ea typeface="宋体"/>
                <a:cs typeface="宋体"/>
                <a:sym typeface="宋体"/>
              </a:rPr>
              <a:t>针对文本的卷积神经网络模型简介</a:t>
            </a:r>
            <a:r>
              <a:rPr lang="en-US" altLang="zh-CN" sz="2800" b="1" dirty="0">
                <a:latin typeface="宋体"/>
                <a:ea typeface="宋体"/>
                <a:cs typeface="宋体"/>
                <a:sym typeface="宋体"/>
              </a:rPr>
              <a:t>-</a:t>
            </a:r>
            <a:r>
              <a:rPr lang="zh-CN" altLang="en-US" sz="2800" b="1" dirty="0">
                <a:latin typeface="宋体"/>
                <a:ea typeface="宋体"/>
                <a:cs typeface="宋体"/>
                <a:sym typeface="宋体"/>
              </a:rPr>
              <a:t>词卷积</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8.4.2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卷积神经网络文本分类模型的实现</a:t>
            </a: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-conv2d</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（二维卷积）</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342900" y="1955244"/>
            <a:ext cx="8229600"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图是对卷积神经网络进行设计。</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DC409F65-B769-4AC7-82D1-AA84A282FFCB}"/>
              </a:ext>
            </a:extLst>
          </p:cNvPr>
          <p:cNvPicPr/>
          <p:nvPr/>
        </p:nvPicPr>
        <p:blipFill>
          <a:blip r:embed="rId2"/>
          <a:stretch>
            <a:fillRect/>
          </a:stretch>
        </p:blipFill>
        <p:spPr>
          <a:xfrm>
            <a:off x="4162425" y="2457451"/>
            <a:ext cx="4410075" cy="1790700"/>
          </a:xfrm>
          <a:prstGeom prst="rect">
            <a:avLst/>
          </a:prstGeom>
        </p:spPr>
      </p:pic>
    </p:spTree>
    <p:extLst>
      <p:ext uri="{BB962C8B-B14F-4D97-AF65-F5344CB8AC3E}">
        <p14:creationId xmlns:p14="http://schemas.microsoft.com/office/powerpoint/2010/main" val="944540108"/>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8.5  </a:t>
            </a:r>
            <a:r>
              <a:rPr lang="zh-CN" altLang="en-US" sz="2800" b="1" dirty="0">
                <a:latin typeface="宋体"/>
                <a:ea typeface="宋体"/>
                <a:cs typeface="宋体"/>
                <a:sym typeface="宋体"/>
              </a:rPr>
              <a:t>使用卷积对文本分类的补充内容</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8.5.1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汉字的文本处理</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285750" y="1955244"/>
            <a:ext cx="8229600" cy="34163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对于汉字的文本处理，首先一个非常简单的办法就是将汉字转化成拼音的形式，使用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python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提供的拼音库包：</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pip install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pypinyin</a:t>
            </a: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使用方法如下：</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from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pypinyin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import pinyin,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lazy_pinyin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Style</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value =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lazy_pinyin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你好</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 </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不考虑多音字的情况</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print(value)</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打印结果：</a:t>
            </a: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ni</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hao</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这里是不考虑多音字的普通模式，除此之外还有带有拼音符号的多音字字母，有兴趣的读者可以自行学习。</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65435149"/>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hape 38"/>
          <p:cNvSpPr>
            <a:spLocks noGrp="1"/>
          </p:cNvSpPr>
          <p:nvPr>
            <p:ph type="title" idx="4294967295"/>
          </p:nvPr>
        </p:nvSpPr>
        <p:spPr>
          <a:xfrm>
            <a:off x="457200" y="274637"/>
            <a:ext cx="8229600" cy="1143001"/>
          </a:xfrm>
          <a:prstGeom prst="rect">
            <a:avLst/>
          </a:prstGeom>
          <a:extLst>
            <a:ext uri="{C572A759-6A51-4108-AA02-DFA0A04FC94B}">
              <ma14:wrappingTextBoxFlag xmlns:ma14="http://schemas.microsoft.com/office/mac/drawingml/2011/main" xmlns="" val="1"/>
            </a:ext>
          </a:extLst>
        </p:spPr>
        <p:txBody>
          <a:bodyPr>
            <a:normAutofit/>
          </a:bodyPr>
          <a:lstStyle>
            <a:lvl1pPr defTabSz="539495">
              <a:defRPr sz="2596">
                <a:latin typeface="宋体"/>
                <a:ea typeface="宋体"/>
                <a:cs typeface="宋体"/>
                <a:sym typeface="宋体"/>
              </a:defRPr>
            </a:lvl1pPr>
          </a:lstStyle>
          <a:p>
            <a:pPr>
              <a:defRPr>
                <a:latin typeface="+mj-lt"/>
                <a:ea typeface="+mj-ea"/>
                <a:cs typeface="+mj-cs"/>
                <a:sym typeface="Calibri"/>
              </a:defRPr>
            </a:pPr>
            <a:r>
              <a:rPr lang="en-US" altLang="zh-CN" sz="2800" b="1" dirty="0">
                <a:latin typeface="宋体"/>
                <a:ea typeface="宋体"/>
                <a:cs typeface="宋体"/>
                <a:sym typeface="宋体"/>
              </a:rPr>
              <a:t>8.5  </a:t>
            </a:r>
            <a:r>
              <a:rPr lang="zh-CN" altLang="en-US" sz="2800" b="1" dirty="0">
                <a:latin typeface="宋体"/>
                <a:ea typeface="宋体"/>
                <a:cs typeface="宋体"/>
                <a:sym typeface="宋体"/>
              </a:rPr>
              <a:t>使用卷积对文本分类的补充内容</a:t>
            </a:r>
            <a:endParaRPr lang="zh-CN" altLang="en-US" dirty="0">
              <a:latin typeface="宋体"/>
              <a:ea typeface="宋体"/>
              <a:cs typeface="宋体"/>
              <a:sym typeface="宋体"/>
            </a:endParaRPr>
          </a:p>
        </p:txBody>
      </p:sp>
      <p:sp>
        <p:nvSpPr>
          <p:cNvPr id="6" name="文本框 5">
            <a:extLst>
              <a:ext uri="{FF2B5EF4-FFF2-40B4-BE49-F238E27FC236}">
                <a16:creationId xmlns:a16="http://schemas.microsoft.com/office/drawing/2014/main" id="{29D0C010-5E46-4FBB-AFD9-FA4A40768EF5}"/>
              </a:ext>
            </a:extLst>
          </p:cNvPr>
          <p:cNvSpPr txBox="1"/>
          <p:nvPr/>
        </p:nvSpPr>
        <p:spPr>
          <a:xfrm>
            <a:off x="180975" y="1314450"/>
            <a:ext cx="8763000" cy="4781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just">
              <a:lnSpc>
                <a:spcPct val="156000"/>
              </a:lnSpc>
              <a:spcBef>
                <a:spcPts val="1400"/>
              </a:spcBef>
              <a:spcAft>
                <a:spcPts val="1450"/>
              </a:spcAft>
            </a:pPr>
            <a:r>
              <a:rPr lang="en-US"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rPr>
              <a:t>8.5.2  </a:t>
            </a:r>
            <a:r>
              <a:rPr lang="zh-CN" altLang="en-US" sz="1800" b="1" kern="100" dirty="0">
                <a:effectLst/>
                <a:latin typeface="等线 Light" panose="02010600030101010101" pitchFamily="2" charset="-122"/>
                <a:ea typeface="等线 Light" panose="02010600030101010101" pitchFamily="2" charset="-122"/>
                <a:cs typeface="Times New Roman" panose="02020603050405020304" pitchFamily="18" charset="0"/>
              </a:rPr>
              <a:t>其他的一些细节</a:t>
            </a:r>
            <a:endParaRPr lang="zh-CN" altLang="zh-CN" sz="1800" b="1" kern="100" dirty="0">
              <a:effectLst/>
              <a:latin typeface="等线 Light" panose="02010600030101010101" pitchFamily="2" charset="-122"/>
              <a:ea typeface="等线 Light"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90F7D220-3BB7-4426-A07F-FA1D3847DD51}"/>
              </a:ext>
            </a:extLst>
          </p:cNvPr>
          <p:cNvSpPr txBox="1"/>
          <p:nvPr/>
        </p:nvSpPr>
        <p:spPr>
          <a:xfrm>
            <a:off x="333375" y="1964769"/>
            <a:ext cx="8229600"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通过本书的演示读者可以看到，对于普通的本文完全可以通过一系列的清洗和向量化处理将其转换成矩阵的形式，之后通过卷积神经网络对文本进行处理。在上一节中虽然只是仅仅做了中文向量的词处理，缺乏主题提取，去除停用词等操作，相信读者可以自行学习根据需要进行补全。</a:t>
            </a:r>
          </a:p>
          <a:p>
            <a:pPr indent="266700" algn="just"/>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下面一个非常重要的想法是，对于</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wordEmebedding</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构成的矩阵能否使用已有的模型进行处理，例如在前面章节中作者手把手带读者实现的</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ResNet</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网络，以及加上了</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attention</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机制的记忆力模型，如图所示。</a:t>
            </a:r>
          </a:p>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D48FB5AD-3CE9-4291-8384-636ED2A4502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448175" y="2832407"/>
            <a:ext cx="4644390" cy="3079750"/>
          </a:xfrm>
          <a:prstGeom prst="rect">
            <a:avLst/>
          </a:prstGeom>
          <a:noFill/>
          <a:ln>
            <a:noFill/>
          </a:ln>
        </p:spPr>
      </p:pic>
    </p:spTree>
    <p:extLst>
      <p:ext uri="{BB962C8B-B14F-4D97-AF65-F5344CB8AC3E}">
        <p14:creationId xmlns:p14="http://schemas.microsoft.com/office/powerpoint/2010/main" val="3151143745"/>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Shape 93"/>
          <p:cNvSpPr>
            <a:spLocks noGrp="1"/>
          </p:cNvSpPr>
          <p:nvPr>
            <p:ph type="title" idx="4294967295"/>
          </p:nvPr>
        </p:nvSpPr>
        <p:spPr>
          <a:xfrm>
            <a:off x="457200" y="274637"/>
            <a:ext cx="8229600" cy="1143001"/>
          </a:xfrm>
          <a:prstGeom prst="rect">
            <a:avLst/>
          </a:prstGeom>
          <a:extLst>
            <a:ext uri="{C572A759-6A51-4108-AA02-DFA0A04FC94B}">
              <ma14:wrappingTextBoxFlag xmlns="" xmlns:ma14="http://schemas.microsoft.com/office/mac/drawingml/2011/main" val="1"/>
            </a:ext>
          </a:extLst>
        </p:spPr>
        <p:txBody>
          <a:bodyPr>
            <a:normAutofit/>
          </a:bodyPr>
          <a:lstStyle>
            <a:lvl1pPr defTabSz="667512">
              <a:defRPr sz="3212">
                <a:latin typeface="宋体"/>
                <a:ea typeface="宋体"/>
                <a:cs typeface="宋体"/>
                <a:sym typeface="宋体"/>
              </a:defRPr>
            </a:lvl1pPr>
          </a:lstStyle>
          <a:p>
            <a:pPr>
              <a:defRPr>
                <a:latin typeface="+mj-lt"/>
                <a:ea typeface="+mj-ea"/>
                <a:cs typeface="+mj-cs"/>
                <a:sym typeface="Calibri"/>
              </a:defRPr>
            </a:pPr>
            <a:r>
              <a:rPr lang="en-US" dirty="0">
                <a:latin typeface="宋体"/>
                <a:ea typeface="宋体"/>
                <a:cs typeface="宋体"/>
                <a:sym typeface="宋体"/>
              </a:rPr>
              <a:t>8.6 </a:t>
            </a:r>
            <a:r>
              <a:rPr dirty="0" err="1">
                <a:latin typeface="宋体"/>
                <a:ea typeface="宋体"/>
                <a:cs typeface="宋体"/>
                <a:sym typeface="宋体"/>
              </a:rPr>
              <a:t>本章小结</a:t>
            </a:r>
            <a:endParaRPr dirty="0">
              <a:latin typeface="宋体"/>
              <a:ea typeface="宋体"/>
              <a:cs typeface="宋体"/>
              <a:sym typeface="宋体"/>
            </a:endParaRPr>
          </a:p>
        </p:txBody>
      </p:sp>
      <p:sp>
        <p:nvSpPr>
          <p:cNvPr id="95" name="Shape 95"/>
          <p:cNvSpPr/>
          <p:nvPr/>
        </p:nvSpPr>
        <p:spPr>
          <a:xfrm>
            <a:off x="381000" y="1330694"/>
            <a:ext cx="7970243" cy="4801314"/>
          </a:xfrm>
          <a:prstGeom prst="rect">
            <a:avLst/>
          </a:prstGeom>
          <a:ln w="12700">
            <a:miter lim="400000"/>
          </a:ln>
          <a:extLst>
            <a:ext uri="{C572A759-6A51-4108-AA02-DFA0A04FC94B}">
              <ma14:wrappingTextBoxFlag xmlns="" xmlns:ma14="http://schemas.microsoft.com/office/mac/drawingml/2011/main" val="1"/>
            </a:ext>
          </a:extLst>
        </p:spPr>
        <p:txBody>
          <a:bodyPr wrap="square" lIns="45719" rIns="45719">
            <a:spAutoFit/>
          </a:bodyPr>
          <a:lstStyle/>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卷积神经网络并不是只能对图像进行处理，在本章中演示了使用卷积神经网络对文本进行分类的方法。对于文本处理来说，传统的基于贝叶斯分类和循环神经网络</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(RNN)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实现的文本分类方法，卷积神经网络一样可以实现。而且效果并不比上面的差。</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卷积神经网络的应用非常广泛通过正确的数据处理和建模可以达到程序设计人员心中所要求的目标，而且更为重要的，相对于循环神经网络（</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RNN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）来说，卷积神经网络在训练过程中训练速度更快（并发计算），处理范围更大（图矩阵），能够获取更多的相互关联系（感受野）。因此卷积神经网络在机器学习中会有越来越重要的作用。</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预训练</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embedding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内容是本章新加入的部分，可能有读者会问使用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等价于什么？等价于把</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embedding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层的网络用预训练好的参数矩阵初始化了。但是只能初始化第一层网络参数，再高层的参数就无能为力了。</a:t>
            </a:r>
          </a:p>
          <a:p>
            <a:pPr algn="just"/>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而下游</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NLP</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任务在使用</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的时候一般有两种做法，一种是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Frozen</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，就是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那层网络参数固定不动；另外一种是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Fine-Tuning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，就是</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这层参数使用新的训练集合训练也需要跟着训练过程更新掉</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word embedding</a:t>
            </a:r>
            <a:r>
              <a:rPr lang="zh-CN" altLang="en-US" sz="1800" kern="100" dirty="0">
                <a:effectLst/>
                <a:latin typeface="等线" panose="02010600030101010101" pitchFamily="2" charset="-122"/>
                <a:ea typeface="等线" panose="02010600030101010101" pitchFamily="2" charset="-122"/>
                <a:cs typeface="Times New Roman" panose="02020603050405020304" pitchFamily="18" charset="0"/>
              </a:rPr>
              <a:t>。</a:t>
            </a:r>
          </a:p>
          <a:p>
            <a:endParaRPr dirty="0"/>
          </a:p>
        </p:txBody>
      </p:sp>
    </p:spTree>
  </p:cSld>
  <p:clrMapOvr>
    <a:masterClrMapping/>
  </p:clrMapOvr>
  <p:transition spd="slow"/>
</p:sld>
</file>

<file path=ppt/theme/theme1.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ema de Office">
  <a:themeElements>
    <a:clrScheme name="Tema de 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Tema de Office">
      <a:majorFont>
        <a:latin typeface="Calibri"/>
        <a:ea typeface="Calibri"/>
        <a:cs typeface="Calibri"/>
      </a:majorFont>
      <a:minorFont>
        <a:latin typeface="Helvetica"/>
        <a:ea typeface="Helvetica"/>
        <a:cs typeface="Helvetica"/>
      </a:minorFont>
    </a:fontScheme>
    <a:fmtScheme name="Tema de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141</TotalTime>
  <Words>2333</Words>
  <Application>Microsoft Office PowerPoint</Application>
  <PresentationFormat>全屏显示(4:3)</PresentationFormat>
  <Paragraphs>101</Paragraphs>
  <Slides>19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19</vt:i4>
      </vt:variant>
    </vt:vector>
  </HeadingPairs>
  <TitlesOfParts>
    <vt:vector size="29" baseType="lpstr">
      <vt:lpstr>Songti SC Bold</vt:lpstr>
      <vt:lpstr>等线</vt:lpstr>
      <vt:lpstr>等线 Light</vt:lpstr>
      <vt:lpstr>方正姚体</vt:lpstr>
      <vt:lpstr>宋体</vt:lpstr>
      <vt:lpstr>Arial</vt:lpstr>
      <vt:lpstr>Calibri</vt:lpstr>
      <vt:lpstr>Times New Roman</vt:lpstr>
      <vt:lpstr>Wingdings</vt:lpstr>
      <vt:lpstr>Tema de Office</vt:lpstr>
      <vt:lpstr>第8章  梅西-阿根廷+巴西=？有趣的word embedding</vt:lpstr>
      <vt:lpstr>8.1  文本数据处理</vt:lpstr>
      <vt:lpstr>8.1  文本数据处理</vt:lpstr>
      <vt:lpstr>8.1  文本数据处理</vt:lpstr>
      <vt:lpstr>8.1  文本数据处理</vt:lpstr>
      <vt:lpstr>8.1  文本数据处理</vt:lpstr>
      <vt:lpstr>8.2  更多的word embedding方法—fastText和预训练词向量</vt:lpstr>
      <vt:lpstr>8.2  更多的word embedding方法—fastText和预训练词向量</vt:lpstr>
      <vt:lpstr>8.2  更多的word embedding方法—fastText和预训练词向量</vt:lpstr>
      <vt:lpstr>8.2  更多的word embedding方法—fastText和预训练词向量</vt:lpstr>
      <vt:lpstr>8.3  针对文本的卷积神经网络模型简介-字符卷积</vt:lpstr>
      <vt:lpstr>8.3  针对文本的卷积神经网络模型简介-字符卷积</vt:lpstr>
      <vt:lpstr>8.3  针对文本的卷积神经网络模型简介-字符卷积</vt:lpstr>
      <vt:lpstr>8.4  针对文本的卷积神经网络模型简介-词卷积</vt:lpstr>
      <vt:lpstr>8.4  针对文本的卷积神经网络模型简介-词卷积</vt:lpstr>
      <vt:lpstr>8.4  针对文本的卷积神经网络模型简介-词卷积</vt:lpstr>
      <vt:lpstr>8.5  使用卷积对文本分类的补充内容</vt:lpstr>
      <vt:lpstr>8.5  使用卷积对文本分类的补充内容</vt:lpstr>
      <vt:lpstr>8.6 本章小结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第10章  Hello TensorFlow &amp; Keras</dc:title>
  <dc:creator>lenovo</dc:creator>
  <cp:lastModifiedBy>lenovo</cp:lastModifiedBy>
  <cp:revision>11</cp:revision>
  <dcterms:modified xsi:type="dcterms:W3CDTF">2023-07-26T05:45:54Z</dcterms:modified>
</cp:coreProperties>
</file>