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8" r:id="rId3"/>
    <p:sldId id="270" r:id="rId4"/>
    <p:sldId id="271" r:id="rId5"/>
    <p:sldId id="272" r:id="rId6"/>
    <p:sldId id="273" r:id="rId7"/>
    <p:sldId id="259" r:id="rId8"/>
    <p:sldId id="274" r:id="rId9"/>
    <p:sldId id="260" r:id="rId10"/>
    <p:sldId id="275" r:id="rId11"/>
    <p:sldId id="276" r:id="rId12"/>
    <p:sldId id="277" r:id="rId13"/>
    <p:sldId id="269" r:id="rId14"/>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1522"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7" name="Shape 27"/>
          <p:cNvSpPr>
            <a:spLocks noGrp="1" noRot="1" noChangeAspect="1"/>
          </p:cNvSpPr>
          <p:nvPr>
            <p:ph type="sldImg"/>
          </p:nvPr>
        </p:nvSpPr>
        <p:spPr>
          <a:xfrm>
            <a:off x="1143000" y="685800"/>
            <a:ext cx="4572000" cy="3429000"/>
          </a:xfrm>
          <a:prstGeom prst="rect">
            <a:avLst/>
          </a:prstGeom>
        </p:spPr>
        <p:txBody>
          <a:bodyPr/>
          <a:lstStyle/>
          <a:p>
            <a:endParaRPr/>
          </a:p>
        </p:txBody>
      </p:sp>
      <p:sp>
        <p:nvSpPr>
          <p:cNvPr id="28" name="Shape 2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j-lt"/>
        <a:ea typeface="+mj-ea"/>
        <a:cs typeface="+mj-cs"/>
        <a:sym typeface="Calibri"/>
      </a:defRPr>
    </a:lvl1pPr>
    <a:lvl2pPr indent="228600" latinLnBrk="0">
      <a:spcBef>
        <a:spcPts val="400"/>
      </a:spcBef>
      <a:defRPr sz="1200">
        <a:latin typeface="+mj-lt"/>
        <a:ea typeface="+mj-ea"/>
        <a:cs typeface="+mj-cs"/>
        <a:sym typeface="Calibri"/>
      </a:defRPr>
    </a:lvl2pPr>
    <a:lvl3pPr indent="457200" latinLnBrk="0">
      <a:spcBef>
        <a:spcPts val="400"/>
      </a:spcBef>
      <a:defRPr sz="1200">
        <a:latin typeface="+mj-lt"/>
        <a:ea typeface="+mj-ea"/>
        <a:cs typeface="+mj-cs"/>
        <a:sym typeface="Calibri"/>
      </a:defRPr>
    </a:lvl3pPr>
    <a:lvl4pPr indent="685800" latinLnBrk="0">
      <a:spcBef>
        <a:spcPts val="400"/>
      </a:spcBef>
      <a:defRPr sz="1200">
        <a:latin typeface="+mj-lt"/>
        <a:ea typeface="+mj-ea"/>
        <a:cs typeface="+mj-cs"/>
        <a:sym typeface="Calibri"/>
      </a:defRPr>
    </a:lvl4pPr>
    <a:lvl5pPr indent="914400" latinLnBrk="0">
      <a:spcBef>
        <a:spcPts val="400"/>
      </a:spcBef>
      <a:defRPr sz="1200">
        <a:latin typeface="+mj-lt"/>
        <a:ea typeface="+mj-ea"/>
        <a:cs typeface="+mj-cs"/>
        <a:sym typeface="Calibri"/>
      </a:defRPr>
    </a:lvl5pPr>
    <a:lvl6pPr indent="1143000" latinLnBrk="0">
      <a:spcBef>
        <a:spcPts val="400"/>
      </a:spcBef>
      <a:defRPr sz="1200">
        <a:latin typeface="+mj-lt"/>
        <a:ea typeface="+mj-ea"/>
        <a:cs typeface="+mj-cs"/>
        <a:sym typeface="Calibri"/>
      </a:defRPr>
    </a:lvl6pPr>
    <a:lvl7pPr indent="1371600" latinLnBrk="0">
      <a:spcBef>
        <a:spcPts val="400"/>
      </a:spcBef>
      <a:defRPr sz="1200">
        <a:latin typeface="+mj-lt"/>
        <a:ea typeface="+mj-ea"/>
        <a:cs typeface="+mj-cs"/>
        <a:sym typeface="Calibri"/>
      </a:defRPr>
    </a:lvl7pPr>
    <a:lvl8pPr indent="1600200" latinLnBrk="0">
      <a:spcBef>
        <a:spcPts val="400"/>
      </a:spcBef>
      <a:defRPr sz="1200">
        <a:latin typeface="+mj-lt"/>
        <a:ea typeface="+mj-ea"/>
        <a:cs typeface="+mj-cs"/>
        <a:sym typeface="Calibri"/>
      </a:defRPr>
    </a:lvl8pPr>
    <a:lvl9pPr indent="1828800" latinLnBrk="0">
      <a:spcBef>
        <a:spcPts val="400"/>
      </a:spcBef>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 name="Shape 1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8" name="Shape 18"/>
          <p:cNvSpPr/>
          <p:nvPr/>
        </p:nvSpPr>
        <p:spPr>
          <a:xfrm>
            <a:off x="-1" y="692149"/>
            <a:ext cx="9144002" cy="46039"/>
          </a:xfrm>
          <a:prstGeom prst="rect">
            <a:avLst/>
          </a:prstGeom>
          <a:gradFill>
            <a:gsLst>
              <a:gs pos="0">
                <a:srgbClr val="CCCCFF"/>
              </a:gs>
              <a:gs pos="17999">
                <a:srgbClr val="BFBFBF"/>
              </a:gs>
              <a:gs pos="48001">
                <a:srgbClr val="595959"/>
              </a:gs>
              <a:gs pos="82002">
                <a:srgbClr val="A5A5A5"/>
              </a:gs>
              <a:gs pos="100000">
                <a:srgbClr val="D8D8D8"/>
              </a:gs>
            </a:gsLst>
            <a:lin ang="10800000"/>
          </a:gradFill>
          <a:ln w="12700">
            <a:miter lim="400000"/>
          </a:ln>
        </p:spPr>
        <p:txBody>
          <a:bodyPr lIns="45719" rIns="45719" anchor="ctr"/>
          <a:lstStyle/>
          <a:p>
            <a:pPr>
              <a:defRPr>
                <a:solidFill>
                  <a:srgbClr val="FFFFFF"/>
                </a:solidFill>
                <a:latin typeface="宋体"/>
                <a:ea typeface="宋体"/>
                <a:cs typeface="宋体"/>
                <a:sym typeface="宋体"/>
              </a:defRPr>
            </a:pPr>
            <a:endParaRPr/>
          </a:p>
        </p:txBody>
      </p:sp>
      <p:sp>
        <p:nvSpPr>
          <p:cNvPr id="19" name="Shape 19"/>
          <p:cNvSpPr>
            <a:spLocks noGrp="1"/>
          </p:cNvSpPr>
          <p:nvPr>
            <p:ph type="title"/>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p>
            <a:r>
              <a:t>Haga clic para modificar el estilo de título del patrón</a:t>
            </a:r>
          </a:p>
        </p:txBody>
      </p:sp>
      <p:sp>
        <p:nvSpPr>
          <p:cNvPr id="20" name="Shape 20"/>
          <p:cNvSpPr>
            <a:spLocks noGrp="1"/>
          </p:cNvSpPr>
          <p:nvPr>
            <p:ph type="body" idx="1"/>
          </p:nvPr>
        </p:nvSpPr>
        <p:spPr>
          <a:xfrm>
            <a:off x="457200" y="1600200"/>
            <a:ext cx="8229600" cy="4525963"/>
          </a:xfrm>
          <a:prstGeom prst="rect">
            <a:avLst/>
          </a:prstGeom>
          <a:extLst>
            <a:ext uri="{C572A759-6A51-4108-AA02-DFA0A04FC94B}">
              <ma14:wrappingTextBoxFlag xmlns="" xmlns:ma14="http://schemas.microsoft.com/office/mac/drawingml/2011/main" val="1"/>
            </a:ext>
          </a:extLst>
        </p:spPr>
        <p:txBody>
          <a:bodyPr>
            <a:normAutofit/>
          </a:bodyPr>
          <a:lstStyle/>
          <a:p>
            <a:r>
              <a:t>Haga clic para modificar el estilo de texto del patrón</a:t>
            </a:r>
          </a:p>
          <a:p>
            <a:pPr lvl="1"/>
            <a:r>
              <a:t>Segundo nivel</a:t>
            </a:r>
          </a:p>
          <a:p>
            <a:pPr lvl="2"/>
            <a:r>
              <a:t>Tercer nivel</a:t>
            </a:r>
          </a:p>
          <a:p>
            <a:pPr lvl="3"/>
            <a:r>
              <a:t>Cuarto nivel</a:t>
            </a:r>
          </a:p>
          <a:p>
            <a:pPr lvl="4"/>
            <a:r>
              <a:t>Quinto nivel</a:t>
            </a:r>
          </a:p>
        </p:txBody>
      </p:sp>
      <p:sp>
        <p:nvSpPr>
          <p:cNvPr id="21" name="Shape 2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4"/>
          <a:srcRect/>
          <a:stretch>
            <a:fillRect/>
          </a:stretch>
        </a:blip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457200" y="92074"/>
            <a:ext cx="8229600" cy="1508127"/>
          </a:xfrm>
          <a:prstGeom prst="rect">
            <a:avLst/>
          </a:prstGeom>
          <a:ln w="12700">
            <a:miter lim="400000"/>
          </a:ln>
        </p:spPr>
        <p:txBody>
          <a:bodyPr lIns="45719" rIns="45719" anchor="ctr"/>
          <a:lstStyle/>
          <a:p>
            <a:endParaRPr/>
          </a:p>
        </p:txBody>
      </p:sp>
      <p:sp>
        <p:nvSpPr>
          <p:cNvPr id="3" name="Shape 3"/>
          <p:cNvSpPr>
            <a:spLocks noGrp="1"/>
          </p:cNvSpPr>
          <p:nvPr>
            <p:ph type="body" idx="1"/>
          </p:nvPr>
        </p:nvSpPr>
        <p:spPr>
          <a:xfrm>
            <a:off x="457200" y="1600200"/>
            <a:ext cx="8229600" cy="5257800"/>
          </a:xfrm>
          <a:prstGeom prst="rect">
            <a:avLst/>
          </a:prstGeom>
          <a:ln w="12700">
            <a:miter lim="400000"/>
          </a:ln>
        </p:spPr>
        <p:txBody>
          <a:bodyPr lIns="45719" rIns="45719"/>
          <a:lstStyle/>
          <a:p>
            <a:endParaRPr/>
          </a:p>
        </p:txBody>
      </p:sp>
      <p:sp>
        <p:nvSpPr>
          <p:cNvPr id="4" name="Shape 4"/>
          <p:cNvSpPr>
            <a:spLocks noGrp="1"/>
          </p:cNvSpPr>
          <p:nvPr>
            <p:ph type="sldNum" sz="quarter" idx="2"/>
          </p:nvPr>
        </p:nvSpPr>
        <p:spPr>
          <a:xfrm>
            <a:off x="8422818" y="6404292"/>
            <a:ext cx="263983" cy="269241"/>
          </a:xfrm>
          <a:prstGeom prst="rect">
            <a:avLst/>
          </a:prstGeom>
          <a:ln w="12700">
            <a:miter lim="400000"/>
          </a:ln>
        </p:spPr>
        <p:txBody>
          <a:bodyPr wrap="none" lIns="45719" rIns="45719" anchor="ctr">
            <a:spAutoFit/>
          </a:bodyPr>
          <a:lstStyle>
            <a:lvl1pPr algn="r">
              <a:defRPr sz="1200">
                <a:solidFill>
                  <a:srgbClr val="898989"/>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5pPr>
      <a:lvl6pPr marL="0" marR="0" indent="4572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6pPr>
      <a:lvl7pPr marL="0" marR="0" indent="9144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7pPr>
      <a:lvl8pPr marL="0" marR="0" indent="13716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8pPr>
      <a:lvl9pPr marL="0" marR="0" indent="18288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4pPr>
      <a:lvl5pPr marL="22352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5pPr>
      <a:lvl6pPr marL="26924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6pPr>
      <a:lvl7pPr marL="31496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7pPr>
      <a:lvl8pPr marL="36068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8pPr>
      <a:lvl9pPr marL="40640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hape 30"/>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667512">
              <a:defRPr sz="3212">
                <a:latin typeface="宋体"/>
                <a:ea typeface="宋体"/>
                <a:cs typeface="宋体"/>
                <a:sym typeface="宋体"/>
              </a:defRPr>
            </a:lvl1pPr>
          </a:lstStyle>
          <a:p>
            <a:pPr>
              <a:defRPr>
                <a:latin typeface="+mj-lt"/>
                <a:ea typeface="+mj-ea"/>
                <a:cs typeface="+mj-cs"/>
                <a:sym typeface="Calibri"/>
              </a:defRPr>
            </a:pPr>
            <a:r>
              <a:rPr lang="zh-CN" altLang="en-US" sz="3200" b="1" dirty="0">
                <a:latin typeface="宋体"/>
                <a:ea typeface="宋体"/>
                <a:cs typeface="宋体"/>
                <a:sym typeface="宋体"/>
              </a:rPr>
              <a:t>第</a:t>
            </a:r>
            <a:r>
              <a:rPr lang="en-US" altLang="zh-CN" sz="3200" b="1" dirty="0">
                <a:latin typeface="宋体"/>
                <a:ea typeface="宋体"/>
                <a:cs typeface="宋体"/>
                <a:sym typeface="宋体"/>
              </a:rPr>
              <a:t>2</a:t>
            </a:r>
            <a:r>
              <a:rPr lang="zh-CN" altLang="en-US" sz="3200" b="1" dirty="0">
                <a:latin typeface="宋体"/>
                <a:ea typeface="宋体"/>
                <a:cs typeface="宋体"/>
                <a:sym typeface="宋体"/>
              </a:rPr>
              <a:t>章 </a:t>
            </a:r>
            <a:r>
              <a:rPr lang="en-US" altLang="zh-CN" sz="3200" b="1" dirty="0">
                <a:latin typeface="宋体"/>
                <a:ea typeface="宋体"/>
                <a:cs typeface="宋体"/>
                <a:sym typeface="宋体"/>
              </a:rPr>
              <a:t>Hello Pytorch2.0-</a:t>
            </a:r>
            <a:r>
              <a:rPr lang="zh-CN" altLang="en-US" sz="3200" b="1" dirty="0">
                <a:latin typeface="宋体"/>
                <a:ea typeface="宋体"/>
                <a:cs typeface="宋体"/>
                <a:sym typeface="宋体"/>
              </a:rPr>
              <a:t>深度学习环境搭建</a:t>
            </a:r>
          </a:p>
        </p:txBody>
      </p:sp>
      <p:sp>
        <p:nvSpPr>
          <p:cNvPr id="31" name="Shape 31"/>
          <p:cNvSpPr>
            <a:spLocks noGrp="1"/>
          </p:cNvSpPr>
          <p:nvPr>
            <p:ph type="body" idx="4294967295"/>
          </p:nvPr>
        </p:nvSpPr>
        <p:spPr>
          <a:xfrm>
            <a:off x="457200" y="1600200"/>
            <a:ext cx="8229600" cy="4525963"/>
          </a:xfrm>
          <a:prstGeom prst="rect">
            <a:avLst/>
          </a:prstGeom>
          <a:extLst>
            <a:ext uri="{C572A759-6A51-4108-AA02-DFA0A04FC94B}">
              <ma14:wrappingTextBoxFlag xmlns="" xmlns:ma14="http://schemas.microsoft.com/office/mac/drawingml/2011/main" val="1"/>
            </a:ext>
          </a:extLst>
        </p:spPr>
        <p:txBody>
          <a:bodyPr>
            <a:normAutofit/>
          </a:bodyPr>
          <a:lstStyle/>
          <a:p>
            <a:pPr marL="0" indent="0" defTabSz="740663">
              <a:spcBef>
                <a:spcPts val="600"/>
              </a:spcBef>
              <a:buNone/>
              <a:defRPr sz="2106"/>
            </a:pPr>
            <a:r>
              <a:rPr lang="en-US" altLang="zh-CN" dirty="0">
                <a:latin typeface="宋体"/>
                <a:ea typeface="宋体"/>
                <a:cs typeface="宋体"/>
                <a:sym typeface="宋体"/>
              </a:rPr>
              <a:t>2.1 </a:t>
            </a:r>
            <a:r>
              <a:rPr lang="zh-CN" altLang="en-US" dirty="0">
                <a:latin typeface="宋体"/>
                <a:ea typeface="宋体"/>
                <a:cs typeface="宋体"/>
                <a:sym typeface="宋体"/>
              </a:rPr>
              <a:t>环境搭建</a:t>
            </a:r>
            <a:r>
              <a:rPr lang="en-US" altLang="zh-CN" dirty="0">
                <a:latin typeface="宋体"/>
                <a:ea typeface="宋体"/>
                <a:cs typeface="宋体"/>
                <a:sym typeface="宋体"/>
              </a:rPr>
              <a:t>1</a:t>
            </a:r>
            <a:r>
              <a:rPr lang="zh-CN" altLang="en-US" dirty="0">
                <a:latin typeface="宋体"/>
                <a:ea typeface="宋体"/>
                <a:cs typeface="宋体"/>
                <a:sym typeface="宋体"/>
              </a:rPr>
              <a:t>：安装</a:t>
            </a:r>
            <a:r>
              <a:rPr lang="en-US" altLang="zh-CN" dirty="0">
                <a:latin typeface="宋体"/>
                <a:ea typeface="宋体"/>
                <a:cs typeface="宋体"/>
                <a:sym typeface="宋体"/>
              </a:rPr>
              <a:t>Python</a:t>
            </a:r>
          </a:p>
          <a:p>
            <a:pPr marL="0" indent="0" defTabSz="740663">
              <a:spcBef>
                <a:spcPts val="600"/>
              </a:spcBef>
              <a:buNone/>
              <a:defRPr sz="2106"/>
            </a:pPr>
            <a:r>
              <a:rPr lang="en-US" altLang="zh-CN" dirty="0">
                <a:latin typeface="宋体"/>
                <a:ea typeface="宋体"/>
                <a:cs typeface="宋体"/>
                <a:sym typeface="宋体"/>
              </a:rPr>
              <a:t>2.2 </a:t>
            </a:r>
            <a:r>
              <a:rPr lang="zh-CN" altLang="en-US" dirty="0">
                <a:latin typeface="宋体"/>
                <a:ea typeface="宋体"/>
                <a:cs typeface="宋体"/>
                <a:sym typeface="宋体"/>
              </a:rPr>
              <a:t>环境搭建</a:t>
            </a:r>
            <a:r>
              <a:rPr lang="en-US" altLang="zh-CN" dirty="0">
                <a:latin typeface="宋体"/>
                <a:ea typeface="宋体"/>
                <a:cs typeface="宋体"/>
                <a:sym typeface="宋体"/>
              </a:rPr>
              <a:t>2</a:t>
            </a:r>
            <a:r>
              <a:rPr lang="zh-CN" altLang="en-US" dirty="0">
                <a:latin typeface="宋体"/>
                <a:ea typeface="宋体"/>
                <a:cs typeface="宋体"/>
                <a:sym typeface="宋体"/>
              </a:rPr>
              <a:t>：安装</a:t>
            </a:r>
            <a:r>
              <a:rPr lang="en-US" altLang="zh-CN" dirty="0">
                <a:latin typeface="宋体"/>
                <a:ea typeface="宋体"/>
                <a:cs typeface="宋体"/>
                <a:sym typeface="宋体"/>
              </a:rPr>
              <a:t>Pytorch2.0</a:t>
            </a:r>
          </a:p>
          <a:p>
            <a:pPr marL="0" indent="0" defTabSz="740663">
              <a:spcBef>
                <a:spcPts val="600"/>
              </a:spcBef>
              <a:buNone/>
              <a:defRPr sz="2106"/>
            </a:pPr>
            <a:r>
              <a:rPr lang="en-US" altLang="zh-CN" dirty="0">
                <a:latin typeface="宋体"/>
                <a:ea typeface="宋体"/>
                <a:cs typeface="宋体"/>
                <a:sym typeface="宋体"/>
              </a:rPr>
              <a:t>2.3 </a:t>
            </a:r>
            <a:r>
              <a:rPr lang="zh-CN" altLang="en-US" dirty="0">
                <a:latin typeface="宋体"/>
                <a:ea typeface="宋体"/>
                <a:cs typeface="宋体"/>
                <a:sym typeface="宋体"/>
              </a:rPr>
              <a:t>实战演示</a:t>
            </a:r>
            <a:r>
              <a:rPr lang="en-US" altLang="zh-CN" dirty="0">
                <a:latin typeface="宋体"/>
                <a:ea typeface="宋体"/>
                <a:cs typeface="宋体"/>
                <a:sym typeface="宋体"/>
              </a:rPr>
              <a:t>-</a:t>
            </a:r>
            <a:r>
              <a:rPr lang="zh-CN" altLang="en-US" dirty="0">
                <a:latin typeface="宋体"/>
                <a:ea typeface="宋体"/>
                <a:cs typeface="宋体"/>
                <a:sym typeface="宋体"/>
              </a:rPr>
              <a:t>基于</a:t>
            </a:r>
            <a:r>
              <a:rPr lang="en-US" altLang="zh-CN" dirty="0">
                <a:latin typeface="宋体"/>
                <a:ea typeface="宋体"/>
                <a:cs typeface="宋体"/>
                <a:sym typeface="宋体"/>
              </a:rPr>
              <a:t>Pytorch2.0</a:t>
            </a:r>
            <a:r>
              <a:rPr lang="zh-CN" altLang="en-US" dirty="0">
                <a:latin typeface="宋体"/>
                <a:ea typeface="宋体"/>
                <a:cs typeface="宋体"/>
                <a:sym typeface="宋体"/>
              </a:rPr>
              <a:t>的图像去噪</a:t>
            </a:r>
          </a:p>
          <a:p>
            <a:pPr marL="0" indent="0" defTabSz="740663">
              <a:spcBef>
                <a:spcPts val="600"/>
              </a:spcBef>
              <a:buNone/>
              <a:defRPr sz="2106"/>
            </a:pPr>
            <a:endParaRPr lang="zh-CN" altLang="en-US" dirty="0">
              <a:latin typeface="宋体"/>
              <a:ea typeface="宋体"/>
              <a:cs typeface="宋体"/>
              <a:sym typeface="宋体"/>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3200" b="1" dirty="0">
                <a:latin typeface="宋体"/>
                <a:ea typeface="宋体"/>
                <a:cs typeface="宋体"/>
                <a:sym typeface="宋体"/>
              </a:rPr>
              <a:t>2.1 </a:t>
            </a:r>
            <a:r>
              <a:rPr lang="zh-CN" altLang="en-US" sz="3200" b="1" dirty="0">
                <a:latin typeface="宋体"/>
                <a:ea typeface="宋体"/>
                <a:cs typeface="宋体"/>
                <a:sym typeface="宋体"/>
              </a:rPr>
              <a:t>环境搭建</a:t>
            </a:r>
            <a:r>
              <a:rPr lang="en-US" altLang="zh-CN" sz="3200" b="1" dirty="0">
                <a:latin typeface="宋体"/>
                <a:ea typeface="宋体"/>
                <a:cs typeface="宋体"/>
                <a:sym typeface="宋体"/>
              </a:rPr>
              <a:t>1</a:t>
            </a:r>
            <a:r>
              <a:rPr lang="zh-CN" altLang="en-US" sz="3200" b="1" dirty="0">
                <a:latin typeface="宋体"/>
                <a:ea typeface="宋体"/>
                <a:cs typeface="宋体"/>
                <a:sym typeface="宋体"/>
              </a:rPr>
              <a:t>：安装</a:t>
            </a:r>
            <a:r>
              <a:rPr lang="en-US" altLang="zh-CN" sz="3200" b="1" dirty="0">
                <a:latin typeface="宋体"/>
                <a:ea typeface="宋体"/>
                <a:cs typeface="宋体"/>
                <a:sym typeface="宋体"/>
              </a:rPr>
              <a:t>Python</a:t>
            </a:r>
            <a:endParaRPr lang="zh-CN" altLang="en-US" sz="3200" b="1" dirty="0">
              <a:latin typeface="宋体"/>
              <a:ea typeface="宋体"/>
              <a:cs typeface="宋体"/>
              <a:sym typeface="宋体"/>
            </a:endParaRPr>
          </a:p>
        </p:txBody>
      </p:sp>
      <p:sp>
        <p:nvSpPr>
          <p:cNvPr id="39" name="Shape 39"/>
          <p:cNvSpPr>
            <a:spLocks noGrp="1"/>
          </p:cNvSpPr>
          <p:nvPr>
            <p:ph type="body" sz="quarter" idx="4294967295"/>
          </p:nvPr>
        </p:nvSpPr>
        <p:spPr>
          <a:xfrm>
            <a:off x="457200" y="1631950"/>
            <a:ext cx="8229600" cy="568326"/>
          </a:xfrm>
          <a:prstGeom prst="rect">
            <a:avLst/>
          </a:prstGeom>
          <a:extLst>
            <a:ext uri="{C572A759-6A51-4108-AA02-DFA0A04FC94B}">
              <ma14:wrappingTextBoxFlag xmlns="" xmlns:ma14="http://schemas.microsoft.com/office/mac/drawingml/2011/main" val="1"/>
            </a:ext>
          </a:extLst>
        </p:spPr>
        <p:txBody>
          <a:bodyPr>
            <a:normAutofit/>
          </a:bodyPr>
          <a:lstStyle>
            <a:lvl1pPr marL="342899" indent="-342899">
              <a:buChar char="•"/>
              <a:defRPr sz="4000">
                <a:latin typeface="Songti SC Bold"/>
                <a:ea typeface="Songti SC Bold"/>
                <a:cs typeface="Songti SC Bold"/>
                <a:sym typeface="Songti SC Bold"/>
              </a:defRPr>
            </a:lvl1pPr>
          </a:lstStyle>
          <a:p>
            <a:pPr marL="0" indent="0">
              <a:buNone/>
            </a:pPr>
            <a:r>
              <a:rPr lang="en-US" altLang="zh-CN" sz="1800" b="1" kern="100" dirty="0">
                <a:effectLst/>
                <a:latin typeface="等线" panose="02010600030101010101" pitchFamily="2" charset="-122"/>
                <a:ea typeface="等线" panose="02010600030101010101" pitchFamily="2" charset="-122"/>
              </a:rPr>
              <a:t>2.1.1  </a:t>
            </a:r>
            <a:r>
              <a:rPr lang="en-US" altLang="zh-CN" sz="1800" b="1" kern="100" dirty="0" err="1">
                <a:effectLst/>
                <a:latin typeface="等线" panose="02010600030101010101" pitchFamily="2" charset="-122"/>
                <a:ea typeface="等线" panose="02010600030101010101" pitchFamily="2" charset="-122"/>
              </a:rPr>
              <a:t>Miniconda</a:t>
            </a:r>
            <a:r>
              <a:rPr lang="zh-CN" altLang="zh-CN" sz="1800" b="1" kern="100" dirty="0">
                <a:effectLst/>
                <a:latin typeface="等线" panose="02010600030101010101" pitchFamily="2" charset="-122"/>
                <a:ea typeface="等线" panose="02010600030101010101" pitchFamily="2" charset="-122"/>
              </a:rPr>
              <a:t>的下载与安装</a:t>
            </a:r>
          </a:p>
          <a:p>
            <a:pPr marL="0" indent="0">
              <a:buNone/>
            </a:pPr>
            <a:endParaRPr lang="zh-CN" altLang="en-US" dirty="0"/>
          </a:p>
        </p:txBody>
      </p:sp>
      <p:sp>
        <p:nvSpPr>
          <p:cNvPr id="6" name="文本框 5">
            <a:extLst>
              <a:ext uri="{FF2B5EF4-FFF2-40B4-BE49-F238E27FC236}">
                <a16:creationId xmlns:a16="http://schemas.microsoft.com/office/drawing/2014/main" id="{00B139EA-0AC0-43E0-A413-62AFE649360F}"/>
              </a:ext>
            </a:extLst>
          </p:cNvPr>
          <p:cNvSpPr txBox="1"/>
          <p:nvPr/>
        </p:nvSpPr>
        <p:spPr>
          <a:xfrm>
            <a:off x="228600" y="2019300"/>
            <a:ext cx="8572500" cy="6129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7970" algn="just">
              <a:lnSpc>
                <a:spcPts val="1570"/>
              </a:lnSpc>
              <a:spcBef>
                <a:spcPts val="300"/>
              </a:spcBef>
              <a:spcAft>
                <a:spcPts val="300"/>
              </a:spcAft>
            </a:pPr>
            <a:r>
              <a:rPr lang="zh-CN" altLang="zh-CN" sz="1800" b="1" dirty="0">
                <a:solidFill>
                  <a:srgbClr val="000000"/>
                </a:solidFill>
                <a:effectLst/>
                <a:latin typeface="Times New Roman" panose="02020603050405020304" pitchFamily="18" charset="0"/>
                <a:ea typeface="宋体" panose="02010600030101010101" pitchFamily="2" charset="-122"/>
              </a:rPr>
              <a:t>第一步：下载和安装</a:t>
            </a: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请去</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Miniconda</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官方下载地址安装，打开下载页面下图所示。</a:t>
            </a:r>
          </a:p>
        </p:txBody>
      </p:sp>
      <p:pic>
        <p:nvPicPr>
          <p:cNvPr id="7" name="图片 6">
            <a:extLst>
              <a:ext uri="{FF2B5EF4-FFF2-40B4-BE49-F238E27FC236}">
                <a16:creationId xmlns:a16="http://schemas.microsoft.com/office/drawing/2014/main" id="{217BB2B7-D2E1-4AD2-B99F-2FF04728B13D}"/>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77720" y="2927667"/>
            <a:ext cx="5274310" cy="2050415"/>
          </a:xfrm>
          <a:prstGeom prst="rect">
            <a:avLst/>
          </a:prstGeom>
          <a:noFill/>
          <a:ln>
            <a:noFill/>
          </a:ln>
        </p:spPr>
      </p:pic>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2.1 </a:t>
            </a:r>
            <a:r>
              <a:rPr lang="zh-CN" altLang="en-US" sz="2800" b="1" dirty="0">
                <a:latin typeface="宋体"/>
                <a:ea typeface="宋体"/>
                <a:cs typeface="宋体"/>
                <a:sym typeface="宋体"/>
              </a:rPr>
              <a:t>环境搭建</a:t>
            </a:r>
            <a:r>
              <a:rPr lang="en-US" altLang="zh-CN" sz="2800" b="1" dirty="0">
                <a:latin typeface="宋体"/>
                <a:ea typeface="宋体"/>
                <a:cs typeface="宋体"/>
                <a:sym typeface="宋体"/>
              </a:rPr>
              <a:t>1</a:t>
            </a:r>
            <a:r>
              <a:rPr lang="zh-CN" altLang="en-US" sz="2800" b="1" dirty="0">
                <a:latin typeface="宋体"/>
                <a:ea typeface="宋体"/>
                <a:cs typeface="宋体"/>
                <a:sym typeface="宋体"/>
              </a:rPr>
              <a:t>：安装</a:t>
            </a:r>
            <a:r>
              <a:rPr lang="en-US" altLang="zh-CN" sz="2800" b="1" dirty="0">
                <a:latin typeface="宋体"/>
                <a:ea typeface="宋体"/>
                <a:cs typeface="宋体"/>
                <a:sym typeface="宋体"/>
              </a:rPr>
              <a:t>Python</a:t>
            </a:r>
            <a:endParaRPr lang="zh-CN" altLang="en-US" dirty="0">
              <a:latin typeface="宋体"/>
              <a:ea typeface="宋体"/>
              <a:cs typeface="宋体"/>
              <a:sym typeface="宋体"/>
            </a:endParaRPr>
          </a:p>
        </p:txBody>
      </p:sp>
      <p:sp>
        <p:nvSpPr>
          <p:cNvPr id="39" name="Shape 39"/>
          <p:cNvSpPr>
            <a:spLocks noGrp="1"/>
          </p:cNvSpPr>
          <p:nvPr>
            <p:ph type="body" sz="quarter" idx="4294967295"/>
          </p:nvPr>
        </p:nvSpPr>
        <p:spPr>
          <a:xfrm>
            <a:off x="317500" y="1417638"/>
            <a:ext cx="8229600" cy="611187"/>
          </a:xfrm>
          <a:prstGeom prst="rect">
            <a:avLst/>
          </a:prstGeom>
          <a:extLst>
            <a:ext uri="{C572A759-6A51-4108-AA02-DFA0A04FC94B}">
              <ma14:wrappingTextBoxFlag xmlns:ma14="http://schemas.microsoft.com/office/mac/drawingml/2011/main" xmlns="" val="1"/>
            </a:ext>
          </a:extLst>
        </p:spPr>
        <p:txBody>
          <a:bodyPr>
            <a:normAutofit/>
          </a:bodyPr>
          <a:lstStyle>
            <a:lvl1pPr marL="342899" indent="-342899">
              <a:buChar char="•"/>
              <a:defRPr sz="4000">
                <a:latin typeface="Songti SC Bold"/>
                <a:ea typeface="Songti SC Bold"/>
                <a:cs typeface="Songti SC Bold"/>
                <a:sym typeface="Songti SC Bold"/>
              </a:defRPr>
            </a:lvl1pPr>
          </a:lstStyle>
          <a:p>
            <a:pPr marL="0" indent="0">
              <a:buNone/>
            </a:pPr>
            <a:r>
              <a:rPr lang="en-US" altLang="zh-CN" sz="1800" b="1" kern="100" dirty="0">
                <a:effectLst/>
                <a:latin typeface="等线" panose="02010600030101010101" pitchFamily="2" charset="-122"/>
                <a:ea typeface="等线" panose="02010600030101010101" pitchFamily="2" charset="-122"/>
              </a:rPr>
              <a:t>2.1.2  PyCharm </a:t>
            </a:r>
            <a:r>
              <a:rPr lang="zh-CN" altLang="zh-CN" sz="1800" b="1" kern="100" dirty="0">
                <a:effectLst/>
                <a:latin typeface="等线" panose="02010600030101010101" pitchFamily="2" charset="-122"/>
                <a:ea typeface="等线" panose="02010600030101010101" pitchFamily="2" charset="-122"/>
              </a:rPr>
              <a:t>的下载与安装</a:t>
            </a:r>
          </a:p>
          <a:p>
            <a:pPr marL="0" indent="0">
              <a:buNone/>
            </a:pPr>
            <a:endParaRPr lang="zh-CN" altLang="en-US" dirty="0"/>
          </a:p>
        </p:txBody>
      </p:sp>
      <p:sp>
        <p:nvSpPr>
          <p:cNvPr id="8" name="文本框 7">
            <a:extLst>
              <a:ext uri="{FF2B5EF4-FFF2-40B4-BE49-F238E27FC236}">
                <a16:creationId xmlns:a16="http://schemas.microsoft.com/office/drawing/2014/main" id="{0E3325A2-B45B-4842-858C-BDC789EBB99B}"/>
              </a:ext>
            </a:extLst>
          </p:cNvPr>
          <p:cNvSpPr txBox="1"/>
          <p:nvPr/>
        </p:nvSpPr>
        <p:spPr>
          <a:xfrm>
            <a:off x="247650" y="1914526"/>
            <a:ext cx="8724900" cy="10207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和其他语言类似，</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Python</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程序的编写可以使用</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Windows</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自带的控制台进行程序编写。但是这种方式对于较为复杂的程序工程来说，容易混淆相互之间的层级和交互文件，因此在编写程序工程时，笔者建议使用专用的</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Python</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编译器</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PyCharm </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a:t>
            </a:r>
          </a:p>
          <a:p>
            <a:pPr indent="267970" algn="just">
              <a:lnSpc>
                <a:spcPts val="1570"/>
              </a:lnSpc>
              <a:spcBef>
                <a:spcPts val="300"/>
              </a:spcBef>
              <a:spcAft>
                <a:spcPts val="300"/>
              </a:spcAft>
            </a:pPr>
            <a:r>
              <a:rPr lang="zh-CN" altLang="zh-CN" sz="1050" b="1" dirty="0">
                <a:solidFill>
                  <a:srgbClr val="000000"/>
                </a:solidFill>
                <a:effectLst/>
                <a:latin typeface="Times New Roman" panose="02020603050405020304" pitchFamily="18" charset="0"/>
                <a:ea typeface="宋体" panose="02010600030101010101" pitchFamily="2" charset="-122"/>
              </a:rPr>
              <a:t>第一步：</a:t>
            </a:r>
            <a:r>
              <a:rPr lang="en-US" altLang="zh-CN" sz="1050" b="1" dirty="0">
                <a:solidFill>
                  <a:srgbClr val="000000"/>
                </a:solidFill>
                <a:effectLst/>
                <a:latin typeface="Times New Roman" panose="02020603050405020304" pitchFamily="18" charset="0"/>
                <a:ea typeface="宋体" panose="02010600030101010101" pitchFamily="2" charset="-122"/>
              </a:rPr>
              <a:t>PyCharm </a:t>
            </a:r>
            <a:r>
              <a:rPr lang="zh-CN" altLang="zh-CN" sz="1050" b="1" dirty="0">
                <a:solidFill>
                  <a:srgbClr val="000000"/>
                </a:solidFill>
                <a:effectLst/>
                <a:latin typeface="Times New Roman" panose="02020603050405020304" pitchFamily="18" charset="0"/>
                <a:ea typeface="宋体" panose="02010600030101010101" pitchFamily="2" charset="-122"/>
              </a:rPr>
              <a:t>的下载和安装</a:t>
            </a:r>
          </a:p>
          <a:p>
            <a:pPr algn="just"/>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）进入</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PyCharm </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官网的</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Download</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页面后可以选择不同的版本，如图</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1.13</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所示，收费的专业版和免费的社区版。这里建议读者选择免费的社区版即可。</a:t>
            </a:r>
          </a:p>
        </p:txBody>
      </p:sp>
      <p:pic>
        <p:nvPicPr>
          <p:cNvPr id="9" name="图片 8">
            <a:extLst>
              <a:ext uri="{FF2B5EF4-FFF2-40B4-BE49-F238E27FC236}">
                <a16:creationId xmlns:a16="http://schemas.microsoft.com/office/drawing/2014/main" id="{EFC1F5BE-422B-4F03-9E7D-80C20E41B515}"/>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048635" y="3171826"/>
            <a:ext cx="3465830" cy="1814195"/>
          </a:xfrm>
          <a:prstGeom prst="rect">
            <a:avLst/>
          </a:prstGeom>
          <a:noFill/>
          <a:ln>
            <a:noFill/>
          </a:ln>
        </p:spPr>
      </p:pic>
    </p:spTree>
    <p:extLst>
      <p:ext uri="{BB962C8B-B14F-4D97-AF65-F5344CB8AC3E}">
        <p14:creationId xmlns:p14="http://schemas.microsoft.com/office/powerpoint/2010/main" val="2518759597"/>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2.1 </a:t>
            </a:r>
            <a:r>
              <a:rPr lang="zh-CN" altLang="en-US" sz="2800" b="1" dirty="0">
                <a:latin typeface="宋体"/>
                <a:ea typeface="宋体"/>
                <a:cs typeface="宋体"/>
                <a:sym typeface="宋体"/>
              </a:rPr>
              <a:t>环境搭建</a:t>
            </a:r>
            <a:r>
              <a:rPr lang="en-US" altLang="zh-CN" sz="2800" b="1" dirty="0">
                <a:latin typeface="宋体"/>
                <a:ea typeface="宋体"/>
                <a:cs typeface="宋体"/>
                <a:sym typeface="宋体"/>
              </a:rPr>
              <a:t>1</a:t>
            </a:r>
            <a:r>
              <a:rPr lang="zh-CN" altLang="en-US" sz="2800" b="1" dirty="0">
                <a:latin typeface="宋体"/>
                <a:ea typeface="宋体"/>
                <a:cs typeface="宋体"/>
                <a:sym typeface="宋体"/>
              </a:rPr>
              <a:t>：安装</a:t>
            </a:r>
            <a:r>
              <a:rPr lang="en-US" altLang="zh-CN" sz="2800" b="1" dirty="0">
                <a:latin typeface="宋体"/>
                <a:ea typeface="宋体"/>
                <a:cs typeface="宋体"/>
                <a:sym typeface="宋体"/>
              </a:rPr>
              <a:t>Python</a:t>
            </a:r>
            <a:endParaRPr lang="zh-CN" altLang="en-US" dirty="0">
              <a:latin typeface="宋体"/>
              <a:ea typeface="宋体"/>
              <a:cs typeface="宋体"/>
              <a:sym typeface="宋体"/>
            </a:endParaRPr>
          </a:p>
        </p:txBody>
      </p:sp>
      <p:sp>
        <p:nvSpPr>
          <p:cNvPr id="39" name="Shape 39"/>
          <p:cNvSpPr>
            <a:spLocks noGrp="1"/>
          </p:cNvSpPr>
          <p:nvPr>
            <p:ph type="body" sz="quarter" idx="4294967295"/>
          </p:nvPr>
        </p:nvSpPr>
        <p:spPr>
          <a:xfrm>
            <a:off x="317500" y="1417638"/>
            <a:ext cx="8229600" cy="1302297"/>
          </a:xfrm>
          <a:prstGeom prst="rect">
            <a:avLst/>
          </a:prstGeom>
          <a:extLst>
            <a:ext uri="{C572A759-6A51-4108-AA02-DFA0A04FC94B}">
              <ma14:wrappingTextBoxFlag xmlns:ma14="http://schemas.microsoft.com/office/mac/drawingml/2011/main" xmlns="" val="1"/>
            </a:ext>
          </a:extLst>
        </p:spPr>
        <p:txBody>
          <a:bodyPr>
            <a:normAutofit/>
          </a:bodyPr>
          <a:lstStyle>
            <a:lvl1pPr marL="342899" indent="-342899">
              <a:buChar char="•"/>
              <a:defRPr sz="4000">
                <a:latin typeface="Songti SC Bold"/>
                <a:ea typeface="Songti SC Bold"/>
                <a:cs typeface="Songti SC Bold"/>
                <a:sym typeface="Songti SC Bold"/>
              </a:defRPr>
            </a:lvl1pPr>
          </a:lstStyle>
          <a:p>
            <a:pPr marL="0" indent="0">
              <a:buNone/>
            </a:pPr>
            <a:r>
              <a:rPr lang="en-US" altLang="zh-CN" sz="1800" b="1" kern="100" dirty="0">
                <a:effectLst/>
                <a:latin typeface="等线" panose="02010600030101010101" pitchFamily="2" charset="-122"/>
                <a:ea typeface="等线" panose="02010600030101010101" pitchFamily="2" charset="-122"/>
              </a:rPr>
              <a:t>2.1.3  Python</a:t>
            </a:r>
            <a:r>
              <a:rPr lang="zh-CN" altLang="zh-CN" sz="1800" b="1" kern="100" dirty="0">
                <a:effectLst/>
                <a:latin typeface="等线" panose="02010600030101010101" pitchFamily="2" charset="-122"/>
                <a:ea typeface="等线" panose="02010600030101010101" pitchFamily="2" charset="-122"/>
              </a:rPr>
              <a:t>代码小练习：计算</a:t>
            </a:r>
            <a:r>
              <a:rPr lang="en-US" altLang="zh-CN" sz="1800" b="1" kern="100" dirty="0" err="1">
                <a:effectLst/>
                <a:latin typeface="等线" panose="02010600030101010101" pitchFamily="2" charset="-122"/>
                <a:ea typeface="等线" panose="02010600030101010101" pitchFamily="2" charset="-122"/>
              </a:rPr>
              <a:t>softmax</a:t>
            </a:r>
            <a:r>
              <a:rPr lang="zh-CN" altLang="zh-CN" sz="1800" b="1" kern="100" dirty="0">
                <a:effectLst/>
                <a:latin typeface="等线" panose="02010600030101010101" pitchFamily="2" charset="-122"/>
                <a:ea typeface="等线" panose="02010600030101010101" pitchFamily="2" charset="-122"/>
              </a:rPr>
              <a:t>函数</a:t>
            </a:r>
          </a:p>
          <a:p>
            <a:pPr marL="0" indent="0">
              <a:buNone/>
            </a:pPr>
            <a:endParaRPr lang="zh-CN" altLang="en-US" dirty="0"/>
          </a:p>
        </p:txBody>
      </p:sp>
      <p:pic>
        <p:nvPicPr>
          <p:cNvPr id="6" name="图片 5">
            <a:extLst>
              <a:ext uri="{FF2B5EF4-FFF2-40B4-BE49-F238E27FC236}">
                <a16:creationId xmlns:a16="http://schemas.microsoft.com/office/drawing/2014/main" id="{250AE8E5-E0E3-4754-81F8-A706277414DC}"/>
              </a:ext>
            </a:extLst>
          </p:cNvPr>
          <p:cNvPicPr>
            <a:picLocks noChangeAspect="1"/>
          </p:cNvPicPr>
          <p:nvPr/>
        </p:nvPicPr>
        <p:blipFill>
          <a:blip r:embed="rId2"/>
          <a:stretch>
            <a:fillRect/>
          </a:stretch>
        </p:blipFill>
        <p:spPr>
          <a:xfrm>
            <a:off x="781049" y="2025420"/>
            <a:ext cx="7210425" cy="3336012"/>
          </a:xfrm>
          <a:prstGeom prst="rect">
            <a:avLst/>
          </a:prstGeom>
        </p:spPr>
      </p:pic>
    </p:spTree>
    <p:extLst>
      <p:ext uri="{BB962C8B-B14F-4D97-AF65-F5344CB8AC3E}">
        <p14:creationId xmlns:p14="http://schemas.microsoft.com/office/powerpoint/2010/main" val="444067998"/>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3600" b="1" dirty="0">
                <a:latin typeface="宋体"/>
                <a:ea typeface="宋体"/>
                <a:cs typeface="宋体"/>
                <a:sym typeface="宋体"/>
              </a:rPr>
              <a:t>2.2 </a:t>
            </a:r>
            <a:r>
              <a:rPr lang="zh-CN" altLang="en-US" sz="3600" b="1" dirty="0">
                <a:latin typeface="宋体"/>
                <a:ea typeface="宋体"/>
                <a:cs typeface="宋体"/>
                <a:sym typeface="宋体"/>
              </a:rPr>
              <a:t>环境搭建</a:t>
            </a:r>
            <a:r>
              <a:rPr lang="en-US" altLang="zh-CN" sz="3600" b="1" dirty="0">
                <a:latin typeface="宋体"/>
                <a:ea typeface="宋体"/>
                <a:cs typeface="宋体"/>
                <a:sym typeface="宋体"/>
              </a:rPr>
              <a:t>2</a:t>
            </a:r>
            <a:r>
              <a:rPr lang="zh-CN" altLang="en-US" sz="3600" b="1" dirty="0">
                <a:latin typeface="宋体"/>
                <a:ea typeface="宋体"/>
                <a:cs typeface="宋体"/>
                <a:sym typeface="宋体"/>
              </a:rPr>
              <a:t>：安装</a:t>
            </a:r>
            <a:r>
              <a:rPr lang="en-US" altLang="zh-CN" sz="3600" b="1" dirty="0">
                <a:latin typeface="宋体"/>
                <a:ea typeface="宋体"/>
                <a:cs typeface="宋体"/>
                <a:sym typeface="宋体"/>
              </a:rPr>
              <a:t>Pytorch2.0</a:t>
            </a:r>
            <a:endParaRPr lang="zh-CN" altLang="en-US" sz="3600" b="1" dirty="0">
              <a:latin typeface="宋体"/>
              <a:ea typeface="宋体"/>
              <a:cs typeface="宋体"/>
              <a:sym typeface="宋体"/>
            </a:endParaRPr>
          </a:p>
        </p:txBody>
      </p:sp>
      <p:sp>
        <p:nvSpPr>
          <p:cNvPr id="6" name="文本框 5">
            <a:extLst>
              <a:ext uri="{FF2B5EF4-FFF2-40B4-BE49-F238E27FC236}">
                <a16:creationId xmlns:a16="http://schemas.microsoft.com/office/drawing/2014/main" id="{77E74240-1CEE-4E1E-B360-53A2BD352F78}"/>
              </a:ext>
            </a:extLst>
          </p:cNvPr>
          <p:cNvSpPr txBox="1"/>
          <p:nvPr/>
        </p:nvSpPr>
        <p:spPr>
          <a:xfrm>
            <a:off x="200025" y="1562100"/>
            <a:ext cx="6657975" cy="5134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73000"/>
              </a:lnSpc>
              <a:spcBef>
                <a:spcPts val="1300"/>
              </a:spcBef>
              <a:spcAft>
                <a:spcPts val="1300"/>
              </a:spcAft>
            </a:pPr>
            <a:r>
              <a:rPr lang="en-US" altLang="zh-CN" sz="1800" b="1" kern="100" dirty="0">
                <a:effectLst/>
                <a:latin typeface="等线" panose="02010600030101010101" pitchFamily="2" charset="-122"/>
                <a:ea typeface="等线" panose="02010600030101010101" pitchFamily="2" charset="-122"/>
              </a:rPr>
              <a:t>2.2.1  Nvidia 10/20/30/40</a:t>
            </a:r>
            <a:r>
              <a:rPr lang="zh-CN" altLang="zh-CN" sz="1800" b="1" kern="100" dirty="0">
                <a:effectLst/>
                <a:latin typeface="等线" panose="02010600030101010101" pitchFamily="2" charset="-122"/>
                <a:ea typeface="等线" panose="02010600030101010101" pitchFamily="2" charset="-122"/>
              </a:rPr>
              <a:t>系列显卡选择的</a:t>
            </a:r>
            <a:r>
              <a:rPr lang="en-US" altLang="zh-CN" sz="1800" b="1" kern="100" dirty="0">
                <a:effectLst/>
                <a:latin typeface="等线" panose="02010600030101010101" pitchFamily="2" charset="-122"/>
                <a:ea typeface="等线" panose="02010600030101010101" pitchFamily="2" charset="-122"/>
              </a:rPr>
              <a:t>GPU</a:t>
            </a:r>
            <a:r>
              <a:rPr lang="zh-CN" altLang="zh-CN" sz="1800" b="1" kern="100" dirty="0">
                <a:effectLst/>
                <a:latin typeface="等线" panose="02010600030101010101" pitchFamily="2" charset="-122"/>
                <a:ea typeface="等线" panose="02010600030101010101" pitchFamily="2" charset="-122"/>
              </a:rPr>
              <a:t>版本</a:t>
            </a:r>
          </a:p>
        </p:txBody>
      </p:sp>
      <p:sp>
        <p:nvSpPr>
          <p:cNvPr id="8" name="文本框 7">
            <a:extLst>
              <a:ext uri="{FF2B5EF4-FFF2-40B4-BE49-F238E27FC236}">
                <a16:creationId xmlns:a16="http://schemas.microsoft.com/office/drawing/2014/main" id="{933FD8AC-9C44-488E-A07A-0C888EFAD5C6}"/>
              </a:ext>
            </a:extLst>
          </p:cNvPr>
          <p:cNvSpPr txBox="1"/>
          <p:nvPr/>
        </p:nvSpPr>
        <p:spPr>
          <a:xfrm>
            <a:off x="457199" y="2324100"/>
            <a:ext cx="8229599" cy="1200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zh-CN" altLang="zh-CN" sz="1800" dirty="0">
                <a:effectLst/>
                <a:ea typeface="等线" panose="02010600030101010101" pitchFamily="2" charset="-122"/>
                <a:cs typeface="Times New Roman" panose="02020603050405020304" pitchFamily="18" charset="0"/>
              </a:rPr>
              <a:t>由于</a:t>
            </a:r>
            <a:r>
              <a:rPr lang="en-US" altLang="zh-CN" sz="1800" dirty="0">
                <a:effectLst/>
                <a:ea typeface="等线" panose="02010600030101010101" pitchFamily="2" charset="-122"/>
                <a:cs typeface="Times New Roman" panose="02020603050405020304" pitchFamily="18" charset="0"/>
              </a:rPr>
              <a:t>40</a:t>
            </a:r>
            <a:r>
              <a:rPr lang="zh-CN" altLang="zh-CN" sz="1800" dirty="0">
                <a:effectLst/>
                <a:ea typeface="等线" panose="02010600030101010101" pitchFamily="2" charset="-122"/>
                <a:cs typeface="Times New Roman" panose="02020603050405020304" pitchFamily="18" charset="0"/>
              </a:rPr>
              <a:t>系显卡的推出，目前市场上会同时有</a:t>
            </a:r>
            <a:r>
              <a:rPr lang="en-US" altLang="zh-CN" sz="1800" dirty="0">
                <a:effectLst/>
                <a:ea typeface="等线" panose="02010600030101010101" pitchFamily="2" charset="-122"/>
                <a:cs typeface="Times New Roman" panose="02020603050405020304" pitchFamily="18" charset="0"/>
              </a:rPr>
              <a:t>Nvidia</a:t>
            </a:r>
            <a:r>
              <a:rPr lang="zh-CN" altLang="zh-CN" sz="1800" dirty="0">
                <a:effectLst/>
                <a:ea typeface="等线" panose="02010600030101010101" pitchFamily="2" charset="-122"/>
                <a:cs typeface="Times New Roman" panose="02020603050405020304" pitchFamily="18" charset="0"/>
              </a:rPr>
              <a:t>系列</a:t>
            </a:r>
            <a:r>
              <a:rPr lang="en-US" altLang="zh-CN" sz="1800" dirty="0">
                <a:effectLst/>
                <a:ea typeface="等线" panose="02010600030101010101" pitchFamily="2" charset="-122"/>
                <a:cs typeface="Times New Roman" panose="02020603050405020304" pitchFamily="18" charset="0"/>
              </a:rPr>
              <a:t>10</a:t>
            </a:r>
            <a:r>
              <a:rPr lang="zh-CN" altLang="zh-CN" sz="1800" dirty="0">
                <a:effectLst/>
                <a:ea typeface="等线" panose="02010600030101010101" pitchFamily="2" charset="-122"/>
                <a:cs typeface="Times New Roman" panose="02020603050405020304" pitchFamily="18" charset="0"/>
              </a:rPr>
              <a:t>、</a:t>
            </a:r>
            <a:r>
              <a:rPr lang="en-US" altLang="zh-CN" sz="1800" dirty="0">
                <a:effectLst/>
                <a:ea typeface="等线" panose="02010600030101010101" pitchFamily="2" charset="-122"/>
                <a:cs typeface="Times New Roman" panose="02020603050405020304" pitchFamily="18" charset="0"/>
              </a:rPr>
              <a:t>20</a:t>
            </a:r>
            <a:r>
              <a:rPr lang="zh-CN" altLang="zh-CN" sz="1800" dirty="0">
                <a:effectLst/>
                <a:ea typeface="等线" panose="02010600030101010101" pitchFamily="2" charset="-122"/>
                <a:cs typeface="Times New Roman" panose="02020603050405020304" pitchFamily="18" charset="0"/>
              </a:rPr>
              <a:t>、</a:t>
            </a:r>
            <a:r>
              <a:rPr lang="en-US" altLang="zh-CN" sz="1800" dirty="0">
                <a:effectLst/>
                <a:ea typeface="等线" panose="02010600030101010101" pitchFamily="2" charset="-122"/>
                <a:cs typeface="Times New Roman" panose="02020603050405020304" pitchFamily="18" charset="0"/>
              </a:rPr>
              <a:t>30</a:t>
            </a:r>
            <a:r>
              <a:rPr lang="zh-CN" altLang="zh-CN" sz="1800" dirty="0">
                <a:effectLst/>
                <a:ea typeface="等线" panose="02010600030101010101" pitchFamily="2" charset="-122"/>
                <a:cs typeface="Times New Roman" panose="02020603050405020304" pitchFamily="18" charset="0"/>
              </a:rPr>
              <a:t>、</a:t>
            </a:r>
            <a:r>
              <a:rPr lang="en-US" altLang="zh-CN" sz="1800" dirty="0">
                <a:effectLst/>
                <a:ea typeface="等线" panose="02010600030101010101" pitchFamily="2" charset="-122"/>
                <a:cs typeface="Times New Roman" panose="02020603050405020304" pitchFamily="18" charset="0"/>
              </a:rPr>
              <a:t>40</a:t>
            </a:r>
            <a:r>
              <a:rPr lang="zh-CN" altLang="zh-CN" sz="1800" dirty="0">
                <a:effectLst/>
                <a:ea typeface="等线" panose="02010600030101010101" pitchFamily="2" charset="-122"/>
                <a:cs typeface="Times New Roman" panose="02020603050405020304" pitchFamily="18" charset="0"/>
              </a:rPr>
              <a:t>系列显卡并存的情况。对于需要调用专用编译器的</a:t>
            </a:r>
            <a:r>
              <a:rPr lang="en-US" altLang="zh-CN" sz="1800" dirty="0" err="1">
                <a:effectLst/>
                <a:ea typeface="等线" panose="02010600030101010101" pitchFamily="2" charset="-122"/>
                <a:cs typeface="Times New Roman" panose="02020603050405020304" pitchFamily="18" charset="0"/>
              </a:rPr>
              <a:t>Pytorch</a:t>
            </a:r>
            <a:r>
              <a:rPr lang="zh-CN" altLang="zh-CN" sz="1800" dirty="0">
                <a:effectLst/>
                <a:ea typeface="等线" panose="02010600030101010101" pitchFamily="2" charset="-122"/>
                <a:cs typeface="Times New Roman" panose="02020603050405020304" pitchFamily="18" charset="0"/>
              </a:rPr>
              <a:t>来说，不同的显卡则需要安装不同的依赖计算包，作者在此总结了不同显卡的</a:t>
            </a:r>
            <a:r>
              <a:rPr lang="en-US" altLang="zh-CN" sz="1800" dirty="0" err="1">
                <a:effectLst/>
                <a:ea typeface="等线" panose="02010600030101010101" pitchFamily="2" charset="-122"/>
                <a:cs typeface="Times New Roman" panose="02020603050405020304" pitchFamily="18" charset="0"/>
              </a:rPr>
              <a:t>Pytorch</a:t>
            </a:r>
            <a:r>
              <a:rPr lang="zh-CN" altLang="zh-CN" sz="1800" dirty="0">
                <a:effectLst/>
                <a:ea typeface="等线" panose="02010600030101010101" pitchFamily="2" charset="-122"/>
                <a:cs typeface="Times New Roman" panose="02020603050405020304" pitchFamily="18" charset="0"/>
              </a:rPr>
              <a:t>版本以及</a:t>
            </a:r>
            <a:r>
              <a:rPr lang="en-US" altLang="zh-CN" sz="1800" dirty="0">
                <a:effectLst/>
                <a:ea typeface="等线" panose="02010600030101010101" pitchFamily="2" charset="-122"/>
                <a:cs typeface="Times New Roman" panose="02020603050405020304" pitchFamily="18" charset="0"/>
              </a:rPr>
              <a:t>CUDA</a:t>
            </a:r>
            <a:r>
              <a:rPr lang="zh-CN" altLang="zh-CN" sz="1800" dirty="0">
                <a:effectLst/>
                <a:ea typeface="等线" panose="02010600030101010101" pitchFamily="2" charset="-122"/>
                <a:cs typeface="Times New Roman" panose="02020603050405020304" pitchFamily="18" charset="0"/>
              </a:rPr>
              <a:t>和</a:t>
            </a:r>
            <a:r>
              <a:rPr lang="en-US" altLang="zh-CN" sz="1800" dirty="0" err="1">
                <a:effectLst/>
                <a:ea typeface="等线" panose="02010600030101010101" pitchFamily="2" charset="-122"/>
                <a:cs typeface="Times New Roman" panose="02020603050405020304" pitchFamily="18" charset="0"/>
              </a:rPr>
              <a:t>cuDNN</a:t>
            </a:r>
            <a:r>
              <a:rPr lang="zh-CN" altLang="zh-CN" sz="1800" dirty="0">
                <a:effectLst/>
                <a:ea typeface="等线" panose="02010600030101010101" pitchFamily="2" charset="-122"/>
                <a:cs typeface="Times New Roman" panose="02020603050405020304" pitchFamily="18" charset="0"/>
              </a:rPr>
              <a:t>的对应关系</a:t>
            </a:r>
            <a:endParaRPr lang="zh-CN" altLang="en-US" dirty="0"/>
          </a:p>
        </p:txBody>
      </p:sp>
      <p:graphicFrame>
        <p:nvGraphicFramePr>
          <p:cNvPr id="4" name="表格 3">
            <a:extLst>
              <a:ext uri="{FF2B5EF4-FFF2-40B4-BE49-F238E27FC236}">
                <a16:creationId xmlns:a16="http://schemas.microsoft.com/office/drawing/2014/main" id="{D072B0E6-57D1-4A2F-A05E-5B9C0D8415D8}"/>
              </a:ext>
            </a:extLst>
          </p:cNvPr>
          <p:cNvGraphicFramePr>
            <a:graphicFrameLocks noGrp="1"/>
          </p:cNvGraphicFramePr>
          <p:nvPr/>
        </p:nvGraphicFramePr>
        <p:xfrm>
          <a:off x="1938020" y="4032440"/>
          <a:ext cx="5267960" cy="395288"/>
        </p:xfrm>
        <a:graphic>
          <a:graphicData uri="http://schemas.openxmlformats.org/drawingml/2006/table">
            <a:tbl>
              <a:tblPr firstRow="1" firstCol="1" bandRow="1">
                <a:tableStyleId>{5940675A-B579-460E-94D1-54222C63F5DA}</a:tableStyleId>
              </a:tblPr>
              <a:tblGrid>
                <a:gridCol w="1076960">
                  <a:extLst>
                    <a:ext uri="{9D8B030D-6E8A-4147-A177-3AD203B41FA5}">
                      <a16:colId xmlns:a16="http://schemas.microsoft.com/office/drawing/2014/main" val="507435017"/>
                    </a:ext>
                  </a:extLst>
                </a:gridCol>
                <a:gridCol w="1557020">
                  <a:extLst>
                    <a:ext uri="{9D8B030D-6E8A-4147-A177-3AD203B41FA5}">
                      <a16:colId xmlns:a16="http://schemas.microsoft.com/office/drawing/2014/main" val="13566747"/>
                    </a:ext>
                  </a:extLst>
                </a:gridCol>
                <a:gridCol w="1316990">
                  <a:extLst>
                    <a:ext uri="{9D8B030D-6E8A-4147-A177-3AD203B41FA5}">
                      <a16:colId xmlns:a16="http://schemas.microsoft.com/office/drawing/2014/main" val="4021688406"/>
                    </a:ext>
                  </a:extLst>
                </a:gridCol>
                <a:gridCol w="1316990">
                  <a:extLst>
                    <a:ext uri="{9D8B030D-6E8A-4147-A177-3AD203B41FA5}">
                      <a16:colId xmlns:a16="http://schemas.microsoft.com/office/drawing/2014/main" val="181402529"/>
                    </a:ext>
                  </a:extLst>
                </a:gridCol>
              </a:tblGrid>
              <a:tr h="0">
                <a:tc>
                  <a:txBody>
                    <a:bodyPr/>
                    <a:lstStyle/>
                    <a:p>
                      <a:pPr>
                        <a:lnSpc>
                          <a:spcPts val="1100"/>
                        </a:lnSpc>
                      </a:pPr>
                      <a:r>
                        <a:rPr lang="zh-CN" sz="900" kern="100">
                          <a:effectLst/>
                        </a:rPr>
                        <a:t>显卡型号</a:t>
                      </a:r>
                      <a:endParaRPr lang="zh-CN" sz="900" kern="100">
                        <a:effectLst/>
                        <a:latin typeface="Times New Roman" panose="02020603050405020304" pitchFamily="18" charset="0"/>
                        <a:ea typeface="宋体" panose="02010600030101010101" pitchFamily="2" charset="-122"/>
                      </a:endParaRPr>
                    </a:p>
                  </a:txBody>
                  <a:tcPr marL="68580" marR="68580" marT="0" marB="0"/>
                </a:tc>
                <a:tc>
                  <a:txBody>
                    <a:bodyPr/>
                    <a:lstStyle/>
                    <a:p>
                      <a:pPr>
                        <a:lnSpc>
                          <a:spcPts val="1100"/>
                        </a:lnSpc>
                      </a:pPr>
                      <a:r>
                        <a:rPr lang="en-US" sz="900" kern="100">
                          <a:effectLst/>
                        </a:rPr>
                        <a:t>PytorchGPU</a:t>
                      </a:r>
                      <a:r>
                        <a:rPr lang="zh-CN" sz="900" kern="100">
                          <a:effectLst/>
                        </a:rPr>
                        <a:t>版本</a:t>
                      </a:r>
                      <a:endParaRPr lang="zh-CN" sz="900" kern="100">
                        <a:effectLst/>
                        <a:latin typeface="Times New Roman" panose="02020603050405020304" pitchFamily="18" charset="0"/>
                        <a:ea typeface="宋体" panose="02010600030101010101" pitchFamily="2" charset="-122"/>
                      </a:endParaRPr>
                    </a:p>
                  </a:txBody>
                  <a:tcPr marL="68580" marR="68580" marT="0" marB="0"/>
                </a:tc>
                <a:tc>
                  <a:txBody>
                    <a:bodyPr/>
                    <a:lstStyle/>
                    <a:p>
                      <a:pPr>
                        <a:lnSpc>
                          <a:spcPts val="1100"/>
                        </a:lnSpc>
                      </a:pPr>
                      <a:r>
                        <a:rPr lang="en-US" sz="900" kern="100">
                          <a:effectLst/>
                        </a:rPr>
                        <a:t>CUDA</a:t>
                      </a:r>
                      <a:r>
                        <a:rPr lang="zh-CN" sz="900" kern="100">
                          <a:effectLst/>
                        </a:rPr>
                        <a:t>版本</a:t>
                      </a:r>
                      <a:endParaRPr lang="zh-CN" sz="900" kern="100">
                        <a:effectLst/>
                        <a:latin typeface="Times New Roman" panose="02020603050405020304" pitchFamily="18" charset="0"/>
                        <a:ea typeface="宋体" panose="02010600030101010101" pitchFamily="2" charset="-122"/>
                      </a:endParaRPr>
                    </a:p>
                  </a:txBody>
                  <a:tcPr marL="68580" marR="68580" marT="0" marB="0"/>
                </a:tc>
                <a:tc>
                  <a:txBody>
                    <a:bodyPr/>
                    <a:lstStyle/>
                    <a:p>
                      <a:pPr>
                        <a:lnSpc>
                          <a:spcPts val="1100"/>
                        </a:lnSpc>
                      </a:pPr>
                      <a:r>
                        <a:rPr lang="en-US" sz="900" kern="100">
                          <a:effectLst/>
                        </a:rPr>
                        <a:t>cuDNN</a:t>
                      </a:r>
                      <a:r>
                        <a:rPr lang="zh-CN" sz="900" kern="100">
                          <a:effectLst/>
                        </a:rPr>
                        <a:t>版本</a:t>
                      </a:r>
                      <a:endParaRPr lang="zh-CN" sz="90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3803445301"/>
                  </a:ext>
                </a:extLst>
              </a:tr>
              <a:tr h="0">
                <a:tc>
                  <a:txBody>
                    <a:bodyPr/>
                    <a:lstStyle/>
                    <a:p>
                      <a:pPr>
                        <a:lnSpc>
                          <a:spcPts val="1100"/>
                        </a:lnSpc>
                      </a:pPr>
                      <a:r>
                        <a:rPr lang="en-US" sz="900" kern="100">
                          <a:effectLst/>
                        </a:rPr>
                        <a:t>10</a:t>
                      </a:r>
                      <a:r>
                        <a:rPr lang="zh-CN" sz="900" kern="100">
                          <a:effectLst/>
                        </a:rPr>
                        <a:t>系列及以前</a:t>
                      </a:r>
                      <a:endParaRPr lang="zh-CN" sz="900" kern="100">
                        <a:effectLst/>
                        <a:latin typeface="Times New Roman" panose="02020603050405020304" pitchFamily="18" charset="0"/>
                        <a:ea typeface="宋体" panose="02010600030101010101" pitchFamily="2" charset="-122"/>
                      </a:endParaRPr>
                    </a:p>
                  </a:txBody>
                  <a:tcPr marL="68580" marR="68580" marT="0" marB="0"/>
                </a:tc>
                <a:tc>
                  <a:txBody>
                    <a:bodyPr/>
                    <a:lstStyle/>
                    <a:p>
                      <a:pPr>
                        <a:lnSpc>
                          <a:spcPts val="1100"/>
                        </a:lnSpc>
                      </a:pPr>
                      <a:r>
                        <a:rPr lang="en-US" sz="900" kern="100">
                          <a:effectLst/>
                        </a:rPr>
                        <a:t>Pytorch2.0</a:t>
                      </a:r>
                      <a:r>
                        <a:rPr lang="zh-CN" sz="900" kern="100">
                          <a:effectLst/>
                        </a:rPr>
                        <a:t>以前版本 </a:t>
                      </a:r>
                      <a:endParaRPr lang="zh-CN" sz="900" kern="100">
                        <a:effectLst/>
                        <a:latin typeface="Times New Roman" panose="02020603050405020304" pitchFamily="18" charset="0"/>
                        <a:ea typeface="宋体" panose="02010600030101010101" pitchFamily="2" charset="-122"/>
                      </a:endParaRPr>
                    </a:p>
                  </a:txBody>
                  <a:tcPr marL="68580" marR="68580" marT="0" marB="0"/>
                </a:tc>
                <a:tc>
                  <a:txBody>
                    <a:bodyPr/>
                    <a:lstStyle/>
                    <a:p>
                      <a:pPr>
                        <a:lnSpc>
                          <a:spcPts val="1100"/>
                        </a:lnSpc>
                      </a:pPr>
                      <a:r>
                        <a:rPr lang="en-US" sz="900" kern="100">
                          <a:effectLst/>
                        </a:rPr>
                        <a:t>11.1</a:t>
                      </a:r>
                      <a:endParaRPr lang="zh-CN" sz="900" kern="100">
                        <a:effectLst/>
                        <a:latin typeface="Times New Roman" panose="02020603050405020304" pitchFamily="18" charset="0"/>
                        <a:ea typeface="宋体" panose="02010600030101010101" pitchFamily="2" charset="-122"/>
                      </a:endParaRPr>
                    </a:p>
                  </a:txBody>
                  <a:tcPr marL="68580" marR="68580" marT="0" marB="0"/>
                </a:tc>
                <a:tc>
                  <a:txBody>
                    <a:bodyPr/>
                    <a:lstStyle/>
                    <a:p>
                      <a:pPr>
                        <a:lnSpc>
                          <a:spcPts val="1100"/>
                        </a:lnSpc>
                      </a:pPr>
                      <a:r>
                        <a:rPr lang="en-US" sz="900" kern="100">
                          <a:effectLst/>
                        </a:rPr>
                        <a:t>7.65</a:t>
                      </a:r>
                      <a:endParaRPr lang="zh-CN" sz="900" kern="10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554652515"/>
                  </a:ext>
                </a:extLst>
              </a:tr>
              <a:tr h="0">
                <a:tc>
                  <a:txBody>
                    <a:bodyPr/>
                    <a:lstStyle/>
                    <a:p>
                      <a:pPr>
                        <a:lnSpc>
                          <a:spcPts val="1100"/>
                        </a:lnSpc>
                      </a:pPr>
                      <a:r>
                        <a:rPr lang="en-US" sz="900" kern="100">
                          <a:effectLst/>
                        </a:rPr>
                        <a:t>20/30/40</a:t>
                      </a:r>
                      <a:r>
                        <a:rPr lang="zh-CN" sz="900" kern="100">
                          <a:effectLst/>
                        </a:rPr>
                        <a:t>系列</a:t>
                      </a:r>
                      <a:endParaRPr lang="zh-CN" sz="900" kern="100">
                        <a:effectLst/>
                        <a:latin typeface="Times New Roman" panose="02020603050405020304" pitchFamily="18" charset="0"/>
                        <a:ea typeface="宋体" panose="02010600030101010101" pitchFamily="2" charset="-122"/>
                      </a:endParaRPr>
                    </a:p>
                  </a:txBody>
                  <a:tcPr marL="68580" marR="68580" marT="0" marB="0"/>
                </a:tc>
                <a:tc>
                  <a:txBody>
                    <a:bodyPr/>
                    <a:lstStyle/>
                    <a:p>
                      <a:pPr>
                        <a:lnSpc>
                          <a:spcPts val="1100"/>
                        </a:lnSpc>
                      </a:pPr>
                      <a:r>
                        <a:rPr lang="en-US" sz="900" kern="100">
                          <a:effectLst/>
                        </a:rPr>
                        <a:t>Pytorch2.0</a:t>
                      </a:r>
                      <a:r>
                        <a:rPr lang="zh-CN" sz="900" kern="100">
                          <a:effectLst/>
                        </a:rPr>
                        <a:t>向下兼容</a:t>
                      </a:r>
                      <a:endParaRPr lang="zh-CN" sz="900" kern="100">
                        <a:effectLst/>
                        <a:latin typeface="Times New Roman" panose="02020603050405020304" pitchFamily="18" charset="0"/>
                        <a:ea typeface="宋体" panose="02010600030101010101" pitchFamily="2" charset="-122"/>
                      </a:endParaRPr>
                    </a:p>
                  </a:txBody>
                  <a:tcPr marL="68580" marR="68580" marT="0" marB="0"/>
                </a:tc>
                <a:tc>
                  <a:txBody>
                    <a:bodyPr/>
                    <a:lstStyle/>
                    <a:p>
                      <a:pPr>
                        <a:lnSpc>
                          <a:spcPts val="1100"/>
                        </a:lnSpc>
                      </a:pPr>
                      <a:r>
                        <a:rPr lang="en-US" sz="900" kern="100">
                          <a:effectLst/>
                        </a:rPr>
                        <a:t>11.6+</a:t>
                      </a:r>
                      <a:endParaRPr lang="zh-CN" sz="900" kern="100">
                        <a:effectLst/>
                        <a:latin typeface="Times New Roman" panose="02020603050405020304" pitchFamily="18" charset="0"/>
                        <a:ea typeface="宋体" panose="02010600030101010101" pitchFamily="2" charset="-122"/>
                      </a:endParaRPr>
                    </a:p>
                  </a:txBody>
                  <a:tcPr marL="68580" marR="68580" marT="0" marB="0"/>
                </a:tc>
                <a:tc>
                  <a:txBody>
                    <a:bodyPr/>
                    <a:lstStyle/>
                    <a:p>
                      <a:pPr>
                        <a:lnSpc>
                          <a:spcPts val="1100"/>
                        </a:lnSpc>
                      </a:pPr>
                      <a:r>
                        <a:rPr lang="en-US" sz="900" kern="100" dirty="0">
                          <a:effectLst/>
                        </a:rPr>
                        <a:t>8.1+</a:t>
                      </a:r>
                      <a:endParaRPr lang="zh-CN" sz="90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1349937487"/>
                  </a:ext>
                </a:extLst>
              </a:tr>
            </a:tbl>
          </a:graphicData>
        </a:graphic>
      </p:graphicFrame>
    </p:spTree>
    <p:extLst>
      <p:ext uri="{BB962C8B-B14F-4D97-AF65-F5344CB8AC3E}">
        <p14:creationId xmlns:p14="http://schemas.microsoft.com/office/powerpoint/2010/main" val="1809390250"/>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2.2 </a:t>
            </a:r>
            <a:r>
              <a:rPr lang="zh-CN" altLang="en-US" sz="2800" b="1" dirty="0">
                <a:latin typeface="宋体"/>
                <a:ea typeface="宋体"/>
                <a:cs typeface="宋体"/>
                <a:sym typeface="宋体"/>
              </a:rPr>
              <a:t>环境搭建</a:t>
            </a:r>
            <a:r>
              <a:rPr lang="en-US" altLang="zh-CN" sz="2800" b="1" dirty="0">
                <a:latin typeface="宋体"/>
                <a:ea typeface="宋体"/>
                <a:cs typeface="宋体"/>
                <a:sym typeface="宋体"/>
              </a:rPr>
              <a:t>2</a:t>
            </a:r>
            <a:r>
              <a:rPr lang="zh-CN" altLang="en-US" sz="2800" b="1" dirty="0">
                <a:latin typeface="宋体"/>
                <a:ea typeface="宋体"/>
                <a:cs typeface="宋体"/>
                <a:sym typeface="宋体"/>
              </a:rPr>
              <a:t>：安装</a:t>
            </a:r>
            <a:r>
              <a:rPr lang="en-US" altLang="zh-CN" sz="2800" b="1" dirty="0">
                <a:latin typeface="宋体"/>
                <a:ea typeface="宋体"/>
                <a:cs typeface="宋体"/>
                <a:sym typeface="宋体"/>
              </a:rPr>
              <a:t>Pytorch2.0</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5134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73000"/>
              </a:lnSpc>
              <a:spcBef>
                <a:spcPts val="1300"/>
              </a:spcBef>
              <a:spcAft>
                <a:spcPts val="1300"/>
              </a:spcAft>
            </a:pPr>
            <a:r>
              <a:rPr lang="en-US" altLang="zh-CN" sz="1800" b="1" kern="100" dirty="0">
                <a:effectLst/>
                <a:latin typeface="等线" panose="02010600030101010101" pitchFamily="2" charset="-122"/>
                <a:ea typeface="等线" panose="02010600030101010101" pitchFamily="2" charset="-122"/>
              </a:rPr>
              <a:t>2.2.2  </a:t>
            </a:r>
            <a:r>
              <a:rPr lang="en-US" altLang="zh-CN" sz="1800" b="1" kern="100" dirty="0" err="1">
                <a:effectLst/>
                <a:latin typeface="等线" panose="02010600030101010101" pitchFamily="2" charset="-122"/>
                <a:ea typeface="等线" panose="02010600030101010101" pitchFamily="2" charset="-122"/>
              </a:rPr>
              <a:t>Pytorch</a:t>
            </a:r>
            <a:r>
              <a:rPr lang="en-US" altLang="zh-CN" sz="1800" b="1" kern="100" dirty="0">
                <a:effectLst/>
                <a:latin typeface="等线" panose="02010600030101010101" pitchFamily="2" charset="-122"/>
                <a:ea typeface="等线" panose="02010600030101010101" pitchFamily="2" charset="-122"/>
              </a:rPr>
              <a:t> 2.0 GPU Nvidia</a:t>
            </a:r>
            <a:r>
              <a:rPr lang="zh-CN" altLang="zh-CN" sz="1800" b="1" kern="100" dirty="0">
                <a:effectLst/>
                <a:latin typeface="等线" panose="02010600030101010101" pitchFamily="2" charset="-122"/>
                <a:ea typeface="等线" panose="02010600030101010101" pitchFamily="2" charset="-122"/>
              </a:rPr>
              <a:t>运行库的安装</a:t>
            </a:r>
            <a:r>
              <a:rPr lang="en-US" altLang="zh-CN" sz="1800" b="1" kern="100" dirty="0">
                <a:effectLst/>
                <a:latin typeface="等线" panose="02010600030101010101" pitchFamily="2" charset="-122"/>
                <a:ea typeface="等线" panose="02010600030101010101" pitchFamily="2" charset="-122"/>
              </a:rPr>
              <a:t>-</a:t>
            </a:r>
            <a:r>
              <a:rPr lang="zh-CN" altLang="zh-CN" sz="1800" b="1" kern="100" dirty="0">
                <a:effectLst/>
                <a:latin typeface="等线" panose="02010600030101010101" pitchFamily="2" charset="-122"/>
                <a:ea typeface="等线" panose="02010600030101010101" pitchFamily="2" charset="-122"/>
              </a:rPr>
              <a:t>以</a:t>
            </a:r>
            <a:r>
              <a:rPr lang="en-US" altLang="zh-CN" sz="1800" b="1" kern="100" dirty="0">
                <a:effectLst/>
                <a:latin typeface="等线" panose="02010600030101010101" pitchFamily="2" charset="-122"/>
                <a:ea typeface="等线" panose="02010600030101010101" pitchFamily="2" charset="-122"/>
              </a:rPr>
              <a:t>cuda11.7+cudnn8.2.0</a:t>
            </a:r>
            <a:r>
              <a:rPr lang="zh-CN" altLang="zh-CN" sz="1800" b="1" kern="100" dirty="0">
                <a:effectLst/>
                <a:latin typeface="等线" panose="02010600030101010101" pitchFamily="2" charset="-122"/>
                <a:ea typeface="等线" panose="02010600030101010101" pitchFamily="2" charset="-122"/>
              </a:rPr>
              <a:t>为例</a:t>
            </a:r>
          </a:p>
        </p:txBody>
      </p:sp>
      <p:pic>
        <p:nvPicPr>
          <p:cNvPr id="5" name="图片 4">
            <a:extLst>
              <a:ext uri="{FF2B5EF4-FFF2-40B4-BE49-F238E27FC236}">
                <a16:creationId xmlns:a16="http://schemas.microsoft.com/office/drawing/2014/main" id="{D842E80F-6209-44BA-B5CB-6CC50F96E3AB}"/>
              </a:ext>
            </a:extLst>
          </p:cNvPr>
          <p:cNvPicPr>
            <a:picLocks noChangeAspect="1"/>
          </p:cNvPicPr>
          <p:nvPr/>
        </p:nvPicPr>
        <p:blipFill>
          <a:blip r:embed="rId2"/>
          <a:stretch>
            <a:fillRect/>
          </a:stretch>
        </p:blipFill>
        <p:spPr>
          <a:xfrm>
            <a:off x="1009650" y="2038942"/>
            <a:ext cx="7400925" cy="3685584"/>
          </a:xfrm>
          <a:prstGeom prst="rect">
            <a:avLst/>
          </a:prstGeom>
        </p:spPr>
      </p:pic>
    </p:spTree>
    <p:extLst>
      <p:ext uri="{BB962C8B-B14F-4D97-AF65-F5344CB8AC3E}">
        <p14:creationId xmlns:p14="http://schemas.microsoft.com/office/powerpoint/2010/main" val="3551130021"/>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hape 43"/>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2.2 </a:t>
            </a:r>
            <a:r>
              <a:rPr lang="zh-CN" altLang="en-US" sz="2800" b="1" dirty="0">
                <a:latin typeface="宋体"/>
                <a:ea typeface="宋体"/>
                <a:cs typeface="宋体"/>
                <a:sym typeface="宋体"/>
              </a:rPr>
              <a:t>环境搭建</a:t>
            </a:r>
            <a:r>
              <a:rPr lang="en-US" altLang="zh-CN" sz="2800" b="1" dirty="0">
                <a:latin typeface="宋体"/>
                <a:ea typeface="宋体"/>
                <a:cs typeface="宋体"/>
                <a:sym typeface="宋体"/>
              </a:rPr>
              <a:t>2</a:t>
            </a:r>
            <a:r>
              <a:rPr lang="zh-CN" altLang="en-US" sz="2800" b="1" dirty="0">
                <a:latin typeface="宋体"/>
                <a:ea typeface="宋体"/>
                <a:cs typeface="宋体"/>
                <a:sym typeface="宋体"/>
              </a:rPr>
              <a:t>：安装</a:t>
            </a:r>
            <a:r>
              <a:rPr lang="en-US" altLang="zh-CN" sz="2800" b="1" dirty="0">
                <a:latin typeface="宋体"/>
                <a:ea typeface="宋体"/>
                <a:cs typeface="宋体"/>
                <a:sym typeface="宋体"/>
              </a:rPr>
              <a:t>Pytorch2.0</a:t>
            </a:r>
            <a:endParaRPr dirty="0">
              <a:latin typeface="宋体"/>
              <a:ea typeface="宋体"/>
              <a:cs typeface="宋体"/>
              <a:sym typeface="宋体"/>
            </a:endParaRPr>
          </a:p>
        </p:txBody>
      </p:sp>
      <p:sp>
        <p:nvSpPr>
          <p:cNvPr id="44" name="Shape 44"/>
          <p:cNvSpPr>
            <a:spLocks noGrp="1"/>
          </p:cNvSpPr>
          <p:nvPr>
            <p:ph type="body" sz="quarter" idx="4294967295"/>
          </p:nvPr>
        </p:nvSpPr>
        <p:spPr>
          <a:xfrm>
            <a:off x="457200" y="1417638"/>
            <a:ext cx="8229600" cy="592137"/>
          </a:xfrm>
          <a:prstGeom prst="rect">
            <a:avLst/>
          </a:prstGeom>
          <a:extLst>
            <a:ext uri="{C572A759-6A51-4108-AA02-DFA0A04FC94B}">
              <ma14:wrappingTextBoxFlag xmlns="" xmlns:ma14="http://schemas.microsoft.com/office/mac/drawingml/2011/main" val="1"/>
            </a:ext>
          </a:extLst>
        </p:spPr>
        <p:txBody>
          <a:bodyPr>
            <a:normAutofit/>
          </a:bodyPr>
          <a:lstStyle>
            <a:lvl1pPr marL="277748" indent="-277748" defTabSz="740663">
              <a:spcBef>
                <a:spcPts val="600"/>
              </a:spcBef>
              <a:buChar char="•"/>
              <a:defRPr sz="3240">
                <a:latin typeface="Songti SC Bold"/>
                <a:ea typeface="Songti SC Bold"/>
                <a:cs typeface="Songti SC Bold"/>
                <a:sym typeface="Songti SC Bold"/>
              </a:defRPr>
            </a:lvl1pPr>
          </a:lstStyle>
          <a:p>
            <a:pPr marL="0" indent="0">
              <a:buNone/>
            </a:pPr>
            <a:r>
              <a:rPr lang="en-US" altLang="zh-CN" sz="1800" b="1" kern="100" dirty="0">
                <a:effectLst/>
                <a:latin typeface="等线" panose="02010600030101010101" pitchFamily="2" charset="-122"/>
                <a:ea typeface="等线" panose="02010600030101010101" pitchFamily="2" charset="-122"/>
              </a:rPr>
              <a:t>2.2.3  </a:t>
            </a:r>
            <a:r>
              <a:rPr lang="en-US" altLang="zh-CN" sz="1800" b="1" kern="100" dirty="0" err="1">
                <a:effectLst/>
                <a:latin typeface="等线" panose="02010600030101010101" pitchFamily="2" charset="-122"/>
                <a:ea typeface="等线" panose="02010600030101010101" pitchFamily="2" charset="-122"/>
              </a:rPr>
              <a:t>Pytorch</a:t>
            </a:r>
            <a:r>
              <a:rPr lang="en-US" altLang="zh-CN" sz="1800" b="1" kern="100" dirty="0">
                <a:effectLst/>
                <a:latin typeface="等线" panose="02010600030101010101" pitchFamily="2" charset="-122"/>
                <a:ea typeface="等线" panose="02010600030101010101" pitchFamily="2" charset="-122"/>
              </a:rPr>
              <a:t> 2.0</a:t>
            </a:r>
            <a:r>
              <a:rPr lang="zh-CN" altLang="zh-CN" sz="1800" b="1" kern="100" dirty="0">
                <a:effectLst/>
                <a:latin typeface="等线" panose="02010600030101010101" pitchFamily="2" charset="-122"/>
                <a:ea typeface="等线" panose="02010600030101010101" pitchFamily="2" charset="-122"/>
              </a:rPr>
              <a:t>小练习：</a:t>
            </a:r>
            <a:r>
              <a:rPr lang="en-US" altLang="zh-CN" sz="1800" b="1" kern="100" dirty="0">
                <a:effectLst/>
                <a:latin typeface="等线" panose="02010600030101010101" pitchFamily="2" charset="-122"/>
                <a:ea typeface="等线" panose="02010600030101010101" pitchFamily="2" charset="-122"/>
              </a:rPr>
              <a:t>Hello </a:t>
            </a:r>
            <a:r>
              <a:rPr lang="en-US" altLang="zh-CN" sz="1800" b="1" kern="100" dirty="0" err="1">
                <a:effectLst/>
                <a:latin typeface="等线" panose="02010600030101010101" pitchFamily="2" charset="-122"/>
                <a:ea typeface="等线" panose="02010600030101010101" pitchFamily="2" charset="-122"/>
              </a:rPr>
              <a:t>Pytorch</a:t>
            </a:r>
            <a:endParaRPr lang="zh-CN" altLang="zh-CN" sz="1800" b="1" kern="100" dirty="0">
              <a:effectLst/>
              <a:latin typeface="等线" panose="02010600030101010101" pitchFamily="2" charset="-122"/>
              <a:ea typeface="等线" panose="02010600030101010101" pitchFamily="2" charset="-122"/>
            </a:endParaRPr>
          </a:p>
          <a:p>
            <a:pPr marL="0" indent="0">
              <a:buNone/>
            </a:pPr>
            <a:endParaRPr lang="zh-CN" altLang="en-US" dirty="0"/>
          </a:p>
        </p:txBody>
      </p:sp>
      <p:sp>
        <p:nvSpPr>
          <p:cNvPr id="6" name="文本框 5">
            <a:extLst>
              <a:ext uri="{FF2B5EF4-FFF2-40B4-BE49-F238E27FC236}">
                <a16:creationId xmlns:a16="http://schemas.microsoft.com/office/drawing/2014/main" id="{B1A68F9A-50BD-4BA4-8D9C-8F42F0C190E7}"/>
              </a:ext>
            </a:extLst>
          </p:cNvPr>
          <p:cNvSpPr txBox="1"/>
          <p:nvPr/>
        </p:nvSpPr>
        <p:spPr>
          <a:xfrm>
            <a:off x="457199" y="1914525"/>
            <a:ext cx="8229599" cy="14234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恭喜读者，到这里我们已经完成了</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Pytorch</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2.0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的安装。打开</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CMD</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依次输入如下命令可以验证安装是否成功，代码如下所示：</a:t>
            </a:r>
          </a:p>
          <a:p>
            <a:pPr marL="266700" algn="just">
              <a:lnSpc>
                <a:spcPts val="1300"/>
              </a:lnSpc>
            </a:pPr>
            <a:r>
              <a:rPr lang="en-US" altLang="zh-CN" sz="1400" dirty="0">
                <a:solidFill>
                  <a:srgbClr val="000000"/>
                </a:solidFill>
                <a:effectLst/>
                <a:latin typeface="Arial" panose="020B0604020202020204" pitchFamily="34" charset="0"/>
                <a:ea typeface="黑体" panose="02010609060101010101" pitchFamily="49" charset="-122"/>
              </a:rPr>
              <a:t>import torch</a:t>
            </a:r>
            <a:endParaRPr lang="zh-CN" altLang="zh-CN" sz="1400" dirty="0">
              <a:effectLst/>
              <a:latin typeface="Arial" panose="020B0604020202020204" pitchFamily="34" charset="0"/>
              <a:ea typeface="黑体" panose="02010609060101010101" pitchFamily="49" charset="-122"/>
            </a:endParaRPr>
          </a:p>
          <a:p>
            <a:pPr marL="266700" algn="just">
              <a:lnSpc>
                <a:spcPts val="1300"/>
              </a:lnSpc>
            </a:pPr>
            <a:r>
              <a:rPr lang="en-US" altLang="zh-CN" sz="1400" dirty="0">
                <a:solidFill>
                  <a:srgbClr val="000000"/>
                </a:solidFill>
                <a:effectLst/>
                <a:latin typeface="Arial" panose="020B0604020202020204" pitchFamily="34" charset="0"/>
                <a:ea typeface="黑体" panose="02010609060101010101" pitchFamily="49" charset="-122"/>
              </a:rPr>
              <a:t>result = </a:t>
            </a:r>
            <a:r>
              <a:rPr lang="en-US" altLang="zh-CN" sz="1400" dirty="0" err="1">
                <a:solidFill>
                  <a:srgbClr val="000000"/>
                </a:solidFill>
                <a:effectLst/>
                <a:latin typeface="Arial" panose="020B0604020202020204" pitchFamily="34" charset="0"/>
                <a:ea typeface="黑体" panose="02010609060101010101" pitchFamily="49" charset="-122"/>
              </a:rPr>
              <a:t>torch.tensor</a:t>
            </a:r>
            <a:r>
              <a:rPr lang="en-US" altLang="zh-CN" sz="1400" dirty="0">
                <a:solidFill>
                  <a:srgbClr val="000000"/>
                </a:solidFill>
                <a:effectLst/>
                <a:latin typeface="Arial" panose="020B0604020202020204" pitchFamily="34" charset="0"/>
                <a:ea typeface="黑体" panose="02010609060101010101" pitchFamily="49" charset="-122"/>
              </a:rPr>
              <a:t>(1) + </a:t>
            </a:r>
            <a:r>
              <a:rPr lang="en-US" altLang="zh-CN" sz="1400" dirty="0" err="1">
                <a:solidFill>
                  <a:srgbClr val="000000"/>
                </a:solidFill>
                <a:effectLst/>
                <a:latin typeface="Arial" panose="020B0604020202020204" pitchFamily="34" charset="0"/>
                <a:ea typeface="黑体" panose="02010609060101010101" pitchFamily="49" charset="-122"/>
              </a:rPr>
              <a:t>torch.tensor</a:t>
            </a:r>
            <a:r>
              <a:rPr lang="en-US" altLang="zh-CN" sz="1400" dirty="0">
                <a:solidFill>
                  <a:srgbClr val="000000"/>
                </a:solidFill>
                <a:effectLst/>
                <a:latin typeface="Arial" panose="020B0604020202020204" pitchFamily="34" charset="0"/>
                <a:ea typeface="黑体" panose="02010609060101010101" pitchFamily="49" charset="-122"/>
              </a:rPr>
              <a:t>(2.0)</a:t>
            </a:r>
            <a:endParaRPr lang="zh-CN" altLang="zh-CN" sz="1400" dirty="0">
              <a:effectLst/>
              <a:latin typeface="Arial" panose="020B0604020202020204" pitchFamily="34" charset="0"/>
              <a:ea typeface="黑体" panose="02010609060101010101" pitchFamily="49" charset="-122"/>
            </a:endParaRPr>
          </a:p>
          <a:p>
            <a:pPr marL="266700" algn="just">
              <a:lnSpc>
                <a:spcPts val="1300"/>
              </a:lnSpc>
            </a:pPr>
            <a:r>
              <a:rPr lang="en-US" altLang="zh-CN" sz="1400" dirty="0">
                <a:solidFill>
                  <a:srgbClr val="000000"/>
                </a:solidFill>
                <a:effectLst/>
                <a:latin typeface="Arial" panose="020B0604020202020204" pitchFamily="34" charset="0"/>
                <a:ea typeface="黑体" panose="02010609060101010101" pitchFamily="49" charset="-122"/>
              </a:rPr>
              <a:t>result</a:t>
            </a:r>
            <a:endParaRPr lang="zh-CN" altLang="zh-CN" sz="1400" dirty="0">
              <a:effectLst/>
              <a:latin typeface="Arial" panose="020B0604020202020204" pitchFamily="34" charset="0"/>
              <a:ea typeface="黑体" panose="02010609060101010101" pitchFamily="49" charset="-122"/>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结果如下图所示：</a:t>
            </a:r>
          </a:p>
        </p:txBody>
      </p:sp>
      <p:pic>
        <p:nvPicPr>
          <p:cNvPr id="7" name="图片 6">
            <a:extLst>
              <a:ext uri="{FF2B5EF4-FFF2-40B4-BE49-F238E27FC236}">
                <a16:creationId xmlns:a16="http://schemas.microsoft.com/office/drawing/2014/main" id="{FDE7252F-C16D-4A03-81FB-835AA4AB6DEB}"/>
              </a:ext>
            </a:extLst>
          </p:cNvPr>
          <p:cNvPicPr/>
          <p:nvPr/>
        </p:nvPicPr>
        <p:blipFill>
          <a:blip r:embed="rId2"/>
          <a:stretch>
            <a:fillRect/>
          </a:stretch>
        </p:blipFill>
        <p:spPr>
          <a:xfrm>
            <a:off x="1934843" y="3680777"/>
            <a:ext cx="5274310" cy="925195"/>
          </a:xfrm>
          <a:prstGeom prst="rect">
            <a:avLst/>
          </a:prstGeom>
        </p:spPr>
      </p:pic>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hape 43"/>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3200" b="1" dirty="0">
                <a:latin typeface="宋体"/>
                <a:ea typeface="宋体"/>
                <a:cs typeface="宋体"/>
                <a:sym typeface="宋体"/>
              </a:rPr>
              <a:t>2.3 </a:t>
            </a:r>
            <a:r>
              <a:rPr lang="zh-CN" altLang="en-US" sz="3200" b="1" dirty="0">
                <a:latin typeface="宋体"/>
                <a:ea typeface="宋体"/>
                <a:cs typeface="宋体"/>
                <a:sym typeface="宋体"/>
              </a:rPr>
              <a:t>实战演示</a:t>
            </a:r>
            <a:r>
              <a:rPr lang="en-US" altLang="zh-CN" sz="3200" b="1" dirty="0">
                <a:latin typeface="宋体"/>
                <a:ea typeface="宋体"/>
                <a:cs typeface="宋体"/>
                <a:sym typeface="宋体"/>
              </a:rPr>
              <a:t>-</a:t>
            </a:r>
            <a:r>
              <a:rPr lang="zh-CN" altLang="en-US" sz="3200" b="1" dirty="0">
                <a:latin typeface="宋体"/>
                <a:ea typeface="宋体"/>
                <a:cs typeface="宋体"/>
                <a:sym typeface="宋体"/>
              </a:rPr>
              <a:t>基于</a:t>
            </a:r>
            <a:r>
              <a:rPr lang="en-US" altLang="zh-CN" sz="3200" b="1" dirty="0">
                <a:latin typeface="宋体"/>
                <a:ea typeface="宋体"/>
                <a:cs typeface="宋体"/>
                <a:sym typeface="宋体"/>
              </a:rPr>
              <a:t>Pytorch2.0</a:t>
            </a:r>
            <a:r>
              <a:rPr lang="zh-CN" altLang="en-US" sz="3200" b="1" dirty="0">
                <a:latin typeface="宋体"/>
                <a:ea typeface="宋体"/>
                <a:cs typeface="宋体"/>
                <a:sym typeface="宋体"/>
              </a:rPr>
              <a:t>的图像去噪</a:t>
            </a:r>
          </a:p>
        </p:txBody>
      </p:sp>
      <p:sp>
        <p:nvSpPr>
          <p:cNvPr id="6" name="文本框 5">
            <a:extLst>
              <a:ext uri="{FF2B5EF4-FFF2-40B4-BE49-F238E27FC236}">
                <a16:creationId xmlns:a16="http://schemas.microsoft.com/office/drawing/2014/main" id="{815528BC-B22F-4165-B93B-85AA4839972D}"/>
              </a:ext>
            </a:extLst>
          </p:cNvPr>
          <p:cNvSpPr txBox="1"/>
          <p:nvPr/>
        </p:nvSpPr>
        <p:spPr>
          <a:xfrm>
            <a:off x="238125" y="1417638"/>
            <a:ext cx="4572000" cy="5134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73000"/>
              </a:lnSpc>
              <a:spcBef>
                <a:spcPts val="1300"/>
              </a:spcBef>
              <a:spcAft>
                <a:spcPts val="1300"/>
              </a:spcAft>
            </a:pPr>
            <a:r>
              <a:rPr lang="en-US" altLang="zh-CN" sz="1800" b="1" kern="100" dirty="0">
                <a:effectLst/>
                <a:latin typeface="等线" panose="02010600030101010101" pitchFamily="2" charset="-122"/>
                <a:ea typeface="等线" panose="02010600030101010101" pitchFamily="2" charset="-122"/>
              </a:rPr>
              <a:t>2.3.1  </a:t>
            </a:r>
            <a:r>
              <a:rPr lang="zh-CN" altLang="zh-CN" sz="1800" b="1" kern="100" dirty="0">
                <a:effectLst/>
                <a:latin typeface="等线" panose="02010600030101010101" pitchFamily="2" charset="-122"/>
                <a:ea typeface="等线" panose="02010600030101010101" pitchFamily="2" charset="-122"/>
              </a:rPr>
              <a:t>数据集的准备</a:t>
            </a:r>
            <a:r>
              <a:rPr lang="en-US" altLang="zh-CN" sz="1800" b="1" kern="100" dirty="0">
                <a:effectLst/>
                <a:latin typeface="等线" panose="02010600030101010101" pitchFamily="2" charset="-122"/>
                <a:ea typeface="等线" panose="02010600030101010101" pitchFamily="2" charset="-122"/>
              </a:rPr>
              <a:t>-MNIST</a:t>
            </a:r>
            <a:endParaRPr lang="zh-CN" altLang="zh-CN" sz="1800" b="1" kern="100" dirty="0">
              <a:effectLst/>
              <a:latin typeface="等线" panose="02010600030101010101" pitchFamily="2" charset="-122"/>
              <a:ea typeface="等线" panose="02010600030101010101" pitchFamily="2" charset="-122"/>
            </a:endParaRPr>
          </a:p>
        </p:txBody>
      </p:sp>
      <p:sp>
        <p:nvSpPr>
          <p:cNvPr id="10" name="文本框 9">
            <a:extLst>
              <a:ext uri="{FF2B5EF4-FFF2-40B4-BE49-F238E27FC236}">
                <a16:creationId xmlns:a16="http://schemas.microsoft.com/office/drawing/2014/main" id="{C649FDBF-8713-4F6D-8971-41E56291B2DD}"/>
              </a:ext>
            </a:extLst>
          </p:cNvPr>
          <p:cNvSpPr txBox="1"/>
          <p:nvPr/>
        </p:nvSpPr>
        <p:spPr>
          <a:xfrm>
            <a:off x="333375" y="2190750"/>
            <a:ext cx="8439150" cy="10618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HelloWorld</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”是任何一种编程语言入门的基础程序，任何一位同学在开始编程学习时，打印的第一句话往往就是这个“</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HelloWorld</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”。前面章节中我们也带领读者学习和掌握了</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TensorFlow</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打印出的第一个程序“</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HelloWorld</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a:t>
            </a:r>
          </a:p>
          <a:p>
            <a:pPr indent="266700" algn="just"/>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在深度学习编程中也有其特有的“</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HelloWorld</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MNIST</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是一个图片数据集，其分类更多，难度也更大。</a:t>
            </a:r>
          </a:p>
          <a:p>
            <a:pPr indent="266700" algn="just"/>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对于好奇的读者来说，一定有一个疑问，</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MNIST</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究竟是什么？</a:t>
            </a:r>
          </a:p>
          <a:p>
            <a:pPr indent="266700" algn="just"/>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实际上</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MNIST</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是一个手写数字的数据库，它有</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60000</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个训练样本集和</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10000</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个测试样本集。打开来看，</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MNIST</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数据集就是图</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4.12</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所示的这个样子：</a:t>
            </a:r>
          </a:p>
        </p:txBody>
      </p:sp>
      <p:pic>
        <p:nvPicPr>
          <p:cNvPr id="11" name="图片 10" descr="图片">
            <a:extLst>
              <a:ext uri="{FF2B5EF4-FFF2-40B4-BE49-F238E27FC236}">
                <a16:creationId xmlns:a16="http://schemas.microsoft.com/office/drawing/2014/main" id="{84737DBE-8929-4DC0-A80D-65596BCE940E}"/>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842067" y="3074113"/>
            <a:ext cx="3269615" cy="2613660"/>
          </a:xfrm>
          <a:prstGeom prst="rect">
            <a:avLst/>
          </a:prstGeom>
          <a:noFill/>
          <a:ln>
            <a:noFill/>
          </a:ln>
        </p:spPr>
      </p:pic>
    </p:spTree>
    <p:extLst>
      <p:ext uri="{BB962C8B-B14F-4D97-AF65-F5344CB8AC3E}">
        <p14:creationId xmlns:p14="http://schemas.microsoft.com/office/powerpoint/2010/main" val="436695540"/>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Shape 49"/>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2.3 </a:t>
            </a:r>
            <a:r>
              <a:rPr lang="zh-CN" altLang="en-US" sz="2800" b="1" dirty="0">
                <a:latin typeface="宋体"/>
                <a:ea typeface="宋体"/>
                <a:cs typeface="宋体"/>
                <a:sym typeface="宋体"/>
              </a:rPr>
              <a:t>实战演示</a:t>
            </a:r>
            <a:r>
              <a:rPr lang="en-US" altLang="zh-CN" sz="2800" b="1" dirty="0">
                <a:latin typeface="宋体"/>
                <a:ea typeface="宋体"/>
                <a:cs typeface="宋体"/>
                <a:sym typeface="宋体"/>
              </a:rPr>
              <a:t>-</a:t>
            </a:r>
            <a:r>
              <a:rPr lang="zh-CN" altLang="en-US" sz="2800" b="1" dirty="0">
                <a:latin typeface="宋体"/>
                <a:ea typeface="宋体"/>
                <a:cs typeface="宋体"/>
                <a:sym typeface="宋体"/>
              </a:rPr>
              <a:t>基于</a:t>
            </a:r>
            <a:r>
              <a:rPr lang="en-US" altLang="zh-CN" sz="2800" b="1" dirty="0">
                <a:latin typeface="宋体"/>
                <a:ea typeface="宋体"/>
                <a:cs typeface="宋体"/>
                <a:sym typeface="宋体"/>
              </a:rPr>
              <a:t>Pytorch2.0</a:t>
            </a:r>
            <a:r>
              <a:rPr lang="zh-CN" altLang="en-US" sz="2800" b="1" dirty="0">
                <a:latin typeface="宋体"/>
                <a:ea typeface="宋体"/>
                <a:cs typeface="宋体"/>
                <a:sym typeface="宋体"/>
              </a:rPr>
              <a:t>的图像去噪</a:t>
            </a:r>
            <a:endParaRPr dirty="0">
              <a:latin typeface="宋体"/>
              <a:ea typeface="宋体"/>
              <a:cs typeface="宋体"/>
              <a:sym typeface="宋体"/>
            </a:endParaRPr>
          </a:p>
        </p:txBody>
      </p:sp>
      <p:sp>
        <p:nvSpPr>
          <p:cNvPr id="6" name="文本框 5">
            <a:extLst>
              <a:ext uri="{FF2B5EF4-FFF2-40B4-BE49-F238E27FC236}">
                <a16:creationId xmlns:a16="http://schemas.microsoft.com/office/drawing/2014/main" id="{544AAC5B-A7A9-4DBB-A5BD-6212822A8E9E}"/>
              </a:ext>
            </a:extLst>
          </p:cNvPr>
          <p:cNvSpPr txBox="1"/>
          <p:nvPr/>
        </p:nvSpPr>
        <p:spPr>
          <a:xfrm>
            <a:off x="186332" y="1391205"/>
            <a:ext cx="4572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spcBef>
                <a:spcPts val="1200"/>
              </a:spcBef>
              <a:spcAft>
                <a:spcPts val="1200"/>
              </a:spcAft>
            </a:pPr>
            <a:r>
              <a:rPr lang="en-US" altLang="zh-CN" sz="1800" kern="100" dirty="0">
                <a:effectLst/>
                <a:latin typeface="方正姚体" panose="02010601030101010101" pitchFamily="2" charset="-122"/>
                <a:ea typeface="方正姚体" panose="02010601030101010101" pitchFamily="2" charset="-122"/>
                <a:cs typeface="Times New Roman" panose="02020603050405020304" pitchFamily="18" charset="0"/>
              </a:rPr>
              <a:t>2.3.2  MNIST</a:t>
            </a:r>
            <a:r>
              <a:rPr lang="zh-CN" altLang="zh-CN" sz="1800" kern="100" dirty="0">
                <a:effectLst/>
                <a:latin typeface="方正姚体" panose="02010601030101010101" pitchFamily="2" charset="-122"/>
                <a:ea typeface="方正姚体" panose="02010601030101010101" pitchFamily="2" charset="-122"/>
                <a:cs typeface="Times New Roman" panose="02020603050405020304" pitchFamily="18" charset="0"/>
              </a:rPr>
              <a:t>数据集特征和标签介绍</a:t>
            </a:r>
          </a:p>
        </p:txBody>
      </p:sp>
      <p:sp>
        <p:nvSpPr>
          <p:cNvPr id="8" name="文本框 7">
            <a:extLst>
              <a:ext uri="{FF2B5EF4-FFF2-40B4-BE49-F238E27FC236}">
                <a16:creationId xmlns:a16="http://schemas.microsoft.com/office/drawing/2014/main" id="{0384C795-6820-48A8-8798-8884592CF979}"/>
              </a:ext>
            </a:extLst>
          </p:cNvPr>
          <p:cNvSpPr txBox="1"/>
          <p:nvPr/>
        </p:nvSpPr>
        <p:spPr>
          <a:xfrm>
            <a:off x="371475" y="1952625"/>
            <a:ext cx="8229600" cy="19774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首先对于数据库的获取，前面我们向读者介绍了两种不同的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MNIST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数据集的获取方式，在这里作者推荐使用本书源码库的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MNIST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数据集进行数据的读取，代码如下所示： </a:t>
            </a:r>
          </a:p>
          <a:p>
            <a:pPr marL="266700" algn="just">
              <a:lnSpc>
                <a:spcPts val="1300"/>
              </a:lnSpc>
            </a:pPr>
            <a:r>
              <a:rPr lang="en-US" altLang="zh-CN" sz="1400" dirty="0">
                <a:solidFill>
                  <a:srgbClr val="000000"/>
                </a:solidFill>
                <a:effectLst/>
                <a:latin typeface="Arial" panose="020B0604020202020204" pitchFamily="34" charset="0"/>
                <a:ea typeface="黑体" panose="02010609060101010101" pitchFamily="49" charset="-122"/>
              </a:rPr>
              <a:t>import </a:t>
            </a:r>
            <a:r>
              <a:rPr lang="en-US" altLang="zh-CN" sz="1400" dirty="0" err="1">
                <a:solidFill>
                  <a:srgbClr val="000000"/>
                </a:solidFill>
                <a:effectLst/>
                <a:latin typeface="Arial" panose="020B0604020202020204" pitchFamily="34" charset="0"/>
                <a:ea typeface="黑体" panose="02010609060101010101" pitchFamily="49" charset="-122"/>
              </a:rPr>
              <a:t>numpy</a:t>
            </a:r>
            <a:r>
              <a:rPr lang="en-US" altLang="zh-CN" sz="1400" dirty="0">
                <a:solidFill>
                  <a:srgbClr val="000000"/>
                </a:solidFill>
                <a:effectLst/>
                <a:latin typeface="Arial" panose="020B0604020202020204" pitchFamily="34" charset="0"/>
                <a:ea typeface="黑体" panose="02010609060101010101" pitchFamily="49" charset="-122"/>
              </a:rPr>
              <a:t> as np</a:t>
            </a:r>
            <a:endParaRPr lang="zh-CN" altLang="zh-CN" sz="1400" dirty="0">
              <a:effectLst/>
              <a:latin typeface="Arial" panose="020B0604020202020204" pitchFamily="34" charset="0"/>
              <a:ea typeface="黑体" panose="02010609060101010101" pitchFamily="49" charset="-122"/>
            </a:endParaRPr>
          </a:p>
          <a:p>
            <a:pPr marL="266700" algn="just">
              <a:lnSpc>
                <a:spcPts val="1300"/>
              </a:lnSpc>
            </a:pPr>
            <a:r>
              <a:rPr lang="en-US" altLang="zh-CN" sz="1400" dirty="0" err="1">
                <a:solidFill>
                  <a:srgbClr val="000000"/>
                </a:solidFill>
                <a:effectLst/>
                <a:latin typeface="Arial" panose="020B0604020202020204" pitchFamily="34" charset="0"/>
                <a:ea typeface="黑体" panose="02010609060101010101" pitchFamily="49" charset="-122"/>
              </a:rPr>
              <a:t>x_train</a:t>
            </a:r>
            <a:r>
              <a:rPr lang="en-US" altLang="zh-CN" sz="1400" dirty="0">
                <a:solidFill>
                  <a:srgbClr val="000000"/>
                </a:solidFill>
                <a:effectLst/>
                <a:latin typeface="Arial" panose="020B0604020202020204" pitchFamily="34" charset="0"/>
                <a:ea typeface="黑体" panose="02010609060101010101" pitchFamily="49" charset="-122"/>
              </a:rPr>
              <a:t> = </a:t>
            </a:r>
            <a:r>
              <a:rPr lang="en-US" altLang="zh-CN" sz="1400" dirty="0" err="1">
                <a:solidFill>
                  <a:srgbClr val="000000"/>
                </a:solidFill>
                <a:effectLst/>
                <a:latin typeface="Arial" panose="020B0604020202020204" pitchFamily="34" charset="0"/>
                <a:ea typeface="黑体" panose="02010609060101010101" pitchFamily="49" charset="-122"/>
              </a:rPr>
              <a:t>np.load</a:t>
            </a:r>
            <a:r>
              <a:rPr lang="en-US" altLang="zh-CN" sz="1400" dirty="0">
                <a:solidFill>
                  <a:srgbClr val="000000"/>
                </a:solidFill>
                <a:effectLst/>
                <a:latin typeface="Arial" panose="020B0604020202020204" pitchFamily="34" charset="0"/>
                <a:ea typeface="黑体" panose="02010609060101010101" pitchFamily="49" charset="-122"/>
              </a:rPr>
              <a:t>("./dataset/</a:t>
            </a:r>
            <a:r>
              <a:rPr lang="en-US" altLang="zh-CN" sz="1400" dirty="0" err="1">
                <a:solidFill>
                  <a:srgbClr val="000000"/>
                </a:solidFill>
                <a:effectLst/>
                <a:latin typeface="Arial" panose="020B0604020202020204" pitchFamily="34" charset="0"/>
                <a:ea typeface="黑体" panose="02010609060101010101" pitchFamily="49" charset="-122"/>
              </a:rPr>
              <a:t>mnist</a:t>
            </a:r>
            <a:r>
              <a:rPr lang="en-US" altLang="zh-CN" sz="1400" dirty="0">
                <a:solidFill>
                  <a:srgbClr val="000000"/>
                </a:solidFill>
                <a:effectLst/>
                <a:latin typeface="Arial" panose="020B0604020202020204" pitchFamily="34" charset="0"/>
                <a:ea typeface="黑体" panose="02010609060101010101" pitchFamily="49" charset="-122"/>
              </a:rPr>
              <a:t>/</a:t>
            </a:r>
            <a:r>
              <a:rPr lang="en-US" altLang="zh-CN" sz="1400" dirty="0" err="1">
                <a:solidFill>
                  <a:srgbClr val="000000"/>
                </a:solidFill>
                <a:effectLst/>
                <a:latin typeface="Arial" panose="020B0604020202020204" pitchFamily="34" charset="0"/>
                <a:ea typeface="黑体" panose="02010609060101010101" pitchFamily="49" charset="-122"/>
              </a:rPr>
              <a:t>x_train.npy</a:t>
            </a:r>
            <a:r>
              <a:rPr lang="en-US" altLang="zh-CN" sz="1400" dirty="0">
                <a:solidFill>
                  <a:srgbClr val="000000"/>
                </a:solidFill>
                <a:effectLst/>
                <a:latin typeface="Arial" panose="020B0604020202020204" pitchFamily="34" charset="0"/>
                <a:ea typeface="黑体" panose="02010609060101010101" pitchFamily="49" charset="-122"/>
              </a:rPr>
              <a:t>")</a:t>
            </a:r>
            <a:endParaRPr lang="zh-CN" altLang="zh-CN" sz="1400" dirty="0">
              <a:effectLst/>
              <a:latin typeface="Arial" panose="020B0604020202020204" pitchFamily="34" charset="0"/>
              <a:ea typeface="黑体" panose="02010609060101010101" pitchFamily="49" charset="-122"/>
            </a:endParaRPr>
          </a:p>
          <a:p>
            <a:pPr marL="266700" algn="just">
              <a:lnSpc>
                <a:spcPts val="1300"/>
              </a:lnSpc>
            </a:pPr>
            <a:r>
              <a:rPr lang="en-US" altLang="zh-CN" sz="1400" dirty="0" err="1">
                <a:solidFill>
                  <a:srgbClr val="000000"/>
                </a:solidFill>
                <a:effectLst/>
                <a:latin typeface="Arial" panose="020B0604020202020204" pitchFamily="34" charset="0"/>
                <a:ea typeface="黑体" panose="02010609060101010101" pitchFamily="49" charset="-122"/>
              </a:rPr>
              <a:t>y_train_label</a:t>
            </a:r>
            <a:r>
              <a:rPr lang="en-US" altLang="zh-CN" sz="1400" dirty="0">
                <a:solidFill>
                  <a:srgbClr val="000000"/>
                </a:solidFill>
                <a:effectLst/>
                <a:latin typeface="Arial" panose="020B0604020202020204" pitchFamily="34" charset="0"/>
                <a:ea typeface="黑体" panose="02010609060101010101" pitchFamily="49" charset="-122"/>
              </a:rPr>
              <a:t> = </a:t>
            </a:r>
            <a:r>
              <a:rPr lang="en-US" altLang="zh-CN" sz="1400" dirty="0" err="1">
                <a:solidFill>
                  <a:srgbClr val="000000"/>
                </a:solidFill>
                <a:effectLst/>
                <a:latin typeface="Arial" panose="020B0604020202020204" pitchFamily="34" charset="0"/>
                <a:ea typeface="黑体" panose="02010609060101010101" pitchFamily="49" charset="-122"/>
              </a:rPr>
              <a:t>np.load</a:t>
            </a:r>
            <a:r>
              <a:rPr lang="en-US" altLang="zh-CN" sz="1400" dirty="0">
                <a:solidFill>
                  <a:srgbClr val="000000"/>
                </a:solidFill>
                <a:effectLst/>
                <a:latin typeface="Arial" panose="020B0604020202020204" pitchFamily="34" charset="0"/>
                <a:ea typeface="黑体" panose="02010609060101010101" pitchFamily="49" charset="-122"/>
              </a:rPr>
              <a:t>("./dataset/</a:t>
            </a:r>
            <a:r>
              <a:rPr lang="en-US" altLang="zh-CN" sz="1400" dirty="0" err="1">
                <a:solidFill>
                  <a:srgbClr val="000000"/>
                </a:solidFill>
                <a:effectLst/>
                <a:latin typeface="Arial" panose="020B0604020202020204" pitchFamily="34" charset="0"/>
                <a:ea typeface="黑体" panose="02010609060101010101" pitchFamily="49" charset="-122"/>
              </a:rPr>
              <a:t>mnist</a:t>
            </a:r>
            <a:r>
              <a:rPr lang="en-US" altLang="zh-CN" sz="1400" dirty="0">
                <a:solidFill>
                  <a:srgbClr val="000000"/>
                </a:solidFill>
                <a:effectLst/>
                <a:latin typeface="Arial" panose="020B0604020202020204" pitchFamily="34" charset="0"/>
                <a:ea typeface="黑体" panose="02010609060101010101" pitchFamily="49" charset="-122"/>
              </a:rPr>
              <a:t>/</a:t>
            </a:r>
            <a:r>
              <a:rPr lang="en-US" altLang="zh-CN" sz="1400" dirty="0" err="1">
                <a:solidFill>
                  <a:srgbClr val="000000"/>
                </a:solidFill>
                <a:effectLst/>
                <a:latin typeface="Arial" panose="020B0604020202020204" pitchFamily="34" charset="0"/>
                <a:ea typeface="黑体" panose="02010609060101010101" pitchFamily="49" charset="-122"/>
              </a:rPr>
              <a:t>y_train_label.npy</a:t>
            </a:r>
            <a:r>
              <a:rPr lang="en-US" altLang="zh-CN" sz="1400" dirty="0">
                <a:solidFill>
                  <a:srgbClr val="000000"/>
                </a:solidFill>
                <a:effectLst/>
                <a:latin typeface="Arial" panose="020B0604020202020204" pitchFamily="34" charset="0"/>
                <a:ea typeface="黑体" panose="02010609060101010101" pitchFamily="49" charset="-122"/>
              </a:rPr>
              <a:t>")</a:t>
            </a:r>
            <a:endParaRPr lang="zh-CN" altLang="zh-CN" sz="1400" dirty="0">
              <a:effectLst/>
              <a:latin typeface="Arial" panose="020B0604020202020204" pitchFamily="34" charset="0"/>
              <a:ea typeface="黑体" panose="02010609060101010101" pitchFamily="49" charset="-122"/>
            </a:endParaRP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这里</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numpy</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函数会根据输入的地址将数据进行处理，并自动将其分解成训练集和验证集。打印训练集的维度如下：</a:t>
            </a:r>
          </a:p>
        </p:txBody>
      </p:sp>
      <p:pic>
        <p:nvPicPr>
          <p:cNvPr id="9" name="图片 8">
            <a:extLst>
              <a:ext uri="{FF2B5EF4-FFF2-40B4-BE49-F238E27FC236}">
                <a16:creationId xmlns:a16="http://schemas.microsoft.com/office/drawing/2014/main" id="{E7BA4AC4-02F4-4ED1-880A-703D534FFE0D}"/>
              </a:ext>
            </a:extLst>
          </p:cNvPr>
          <p:cNvPicPr/>
          <p:nvPr/>
        </p:nvPicPr>
        <p:blipFill>
          <a:blip r:embed="rId2"/>
          <a:stretch>
            <a:fillRect/>
          </a:stretch>
        </p:blipFill>
        <p:spPr>
          <a:xfrm>
            <a:off x="4758332" y="4122177"/>
            <a:ext cx="1685925" cy="514350"/>
          </a:xfrm>
          <a:prstGeom prst="rect">
            <a:avLst/>
          </a:prstGeom>
        </p:spPr>
      </p:pic>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Shape 49"/>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2.3 </a:t>
            </a:r>
            <a:r>
              <a:rPr lang="zh-CN" altLang="en-US" sz="2800" b="1" dirty="0">
                <a:latin typeface="宋体"/>
                <a:ea typeface="宋体"/>
                <a:cs typeface="宋体"/>
                <a:sym typeface="宋体"/>
              </a:rPr>
              <a:t>实战演示</a:t>
            </a:r>
            <a:r>
              <a:rPr lang="en-US" altLang="zh-CN" sz="2800" b="1" dirty="0">
                <a:latin typeface="宋体"/>
                <a:ea typeface="宋体"/>
                <a:cs typeface="宋体"/>
                <a:sym typeface="宋体"/>
              </a:rPr>
              <a:t>-</a:t>
            </a:r>
            <a:r>
              <a:rPr lang="zh-CN" altLang="en-US" sz="2800" b="1" dirty="0">
                <a:latin typeface="宋体"/>
                <a:ea typeface="宋体"/>
                <a:cs typeface="宋体"/>
                <a:sym typeface="宋体"/>
              </a:rPr>
              <a:t>基于</a:t>
            </a:r>
            <a:r>
              <a:rPr lang="en-US" altLang="zh-CN" sz="2800" b="1" dirty="0">
                <a:latin typeface="宋体"/>
                <a:ea typeface="宋体"/>
                <a:cs typeface="宋体"/>
                <a:sym typeface="宋体"/>
              </a:rPr>
              <a:t>Pytorch2.0</a:t>
            </a:r>
            <a:r>
              <a:rPr lang="zh-CN" altLang="en-US" sz="2800" b="1" dirty="0">
                <a:latin typeface="宋体"/>
                <a:ea typeface="宋体"/>
                <a:cs typeface="宋体"/>
                <a:sym typeface="宋体"/>
              </a:rPr>
              <a:t>的图像去噪</a:t>
            </a:r>
            <a:endParaRPr dirty="0">
              <a:latin typeface="宋体"/>
              <a:ea typeface="宋体"/>
              <a:cs typeface="宋体"/>
              <a:sym typeface="宋体"/>
            </a:endParaRPr>
          </a:p>
        </p:txBody>
      </p:sp>
      <p:sp>
        <p:nvSpPr>
          <p:cNvPr id="6" name="文本框 5">
            <a:extLst>
              <a:ext uri="{FF2B5EF4-FFF2-40B4-BE49-F238E27FC236}">
                <a16:creationId xmlns:a16="http://schemas.microsoft.com/office/drawing/2014/main" id="{647938B6-26CD-4DA9-AB29-3C24C040E0AB}"/>
              </a:ext>
            </a:extLst>
          </p:cNvPr>
          <p:cNvSpPr txBox="1"/>
          <p:nvPr/>
        </p:nvSpPr>
        <p:spPr>
          <a:xfrm>
            <a:off x="186332" y="1391205"/>
            <a:ext cx="4572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spcBef>
                <a:spcPts val="1200"/>
              </a:spcBef>
              <a:spcAft>
                <a:spcPts val="1200"/>
              </a:spcAft>
            </a:pPr>
            <a:r>
              <a:rPr lang="en-US" altLang="zh-CN" sz="1800" kern="100" dirty="0">
                <a:effectLst/>
                <a:latin typeface="方正姚体" panose="02010601030101010101" pitchFamily="2" charset="-122"/>
                <a:ea typeface="方正姚体" panose="02010601030101010101" pitchFamily="2" charset="-122"/>
                <a:cs typeface="Times New Roman" panose="02020603050405020304" pitchFamily="18" charset="0"/>
              </a:rPr>
              <a:t>2.3.3  </a:t>
            </a:r>
            <a:r>
              <a:rPr lang="zh-CN" altLang="zh-CN" sz="1800" kern="100" dirty="0">
                <a:effectLst/>
                <a:latin typeface="方正姚体" panose="02010601030101010101" pitchFamily="2" charset="-122"/>
                <a:ea typeface="方正姚体" panose="02010601030101010101" pitchFamily="2" charset="-122"/>
                <a:cs typeface="Times New Roman" panose="02020603050405020304" pitchFamily="18" charset="0"/>
              </a:rPr>
              <a:t>模型的准备和介绍</a:t>
            </a:r>
          </a:p>
        </p:txBody>
      </p:sp>
      <p:sp>
        <p:nvSpPr>
          <p:cNvPr id="12" name="文本框 11">
            <a:extLst>
              <a:ext uri="{FF2B5EF4-FFF2-40B4-BE49-F238E27FC236}">
                <a16:creationId xmlns:a16="http://schemas.microsoft.com/office/drawing/2014/main" id="{CE079E13-A004-4081-87E8-B044D21C81AF}"/>
              </a:ext>
            </a:extLst>
          </p:cNvPr>
          <p:cNvSpPr txBox="1"/>
          <p:nvPr/>
        </p:nvSpPr>
        <p:spPr>
          <a:xfrm>
            <a:off x="186331" y="1895475"/>
            <a:ext cx="8776693" cy="20313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zh-CN" altLang="en-US" sz="1400" dirty="0"/>
              <a:t>对于使用</a:t>
            </a:r>
            <a:r>
              <a:rPr lang="en-US" altLang="zh-CN" sz="1400" dirty="0" err="1"/>
              <a:t>Pytorch</a:t>
            </a:r>
            <a:r>
              <a:rPr lang="zh-CN" altLang="en-US" sz="1400" dirty="0"/>
              <a:t>进行深度学习的项目来说，一个非常重要的内容是模型的设计，模型是决定深度学习在进行项目过程中采用何种方式达到目标的主体设计。在本例中，我们的目的是需要输入一个图像之后对其进行去噪处理。</a:t>
            </a:r>
          </a:p>
          <a:p>
            <a:r>
              <a:rPr lang="zh-CN" altLang="en-US" sz="1400" dirty="0"/>
              <a:t>	对于模型的选择我们一个非常简单的思路就是，图像输出的大小就应该是输入的大小，在这里我们选择使用</a:t>
            </a:r>
            <a:r>
              <a:rPr lang="en-US" altLang="zh-CN" sz="1400" dirty="0" err="1"/>
              <a:t>Unet</a:t>
            </a:r>
            <a:r>
              <a:rPr lang="zh-CN" altLang="en-US" sz="1400" dirty="0"/>
              <a:t>作为我们进行设计的主要模型。</a:t>
            </a:r>
          </a:p>
          <a:p>
            <a:r>
              <a:rPr lang="zh-CN" altLang="en-US" sz="1400" dirty="0"/>
              <a:t>	注意：这里作者提示，对于模型的选择现在并不是读者需要考虑的目标，顺着您对本书学习的深入见识到更多处理问题的手段后，对模型的选择自然心领神会。</a:t>
            </a:r>
          </a:p>
          <a:p>
            <a:r>
              <a:rPr lang="zh-CN" altLang="en-US" sz="1400" dirty="0"/>
              <a:t>	我们可以整体看一下</a:t>
            </a:r>
            <a:r>
              <a:rPr lang="en-US" altLang="zh-CN" sz="1400" dirty="0" err="1"/>
              <a:t>Unet</a:t>
            </a:r>
            <a:r>
              <a:rPr lang="zh-CN" altLang="en-US" sz="1400" dirty="0"/>
              <a:t>的结构（读者目前只需要知道</a:t>
            </a:r>
            <a:r>
              <a:rPr lang="en-US" altLang="zh-CN" sz="1400" dirty="0" err="1"/>
              <a:t>Unet</a:t>
            </a:r>
            <a:r>
              <a:rPr lang="zh-CN" altLang="en-US" sz="1400" dirty="0"/>
              <a:t>输入和输出大小是同样维度即可），如下图所示：</a:t>
            </a:r>
          </a:p>
        </p:txBody>
      </p:sp>
      <p:pic>
        <p:nvPicPr>
          <p:cNvPr id="13" name="图片 12">
            <a:extLst>
              <a:ext uri="{FF2B5EF4-FFF2-40B4-BE49-F238E27FC236}">
                <a16:creationId xmlns:a16="http://schemas.microsoft.com/office/drawing/2014/main" id="{5DF33137-8F75-4AC7-BF55-AA66A6C1120F}"/>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58332" y="3058754"/>
            <a:ext cx="4034155" cy="2691765"/>
          </a:xfrm>
          <a:prstGeom prst="rect">
            <a:avLst/>
          </a:prstGeom>
          <a:noFill/>
          <a:ln>
            <a:noFill/>
          </a:ln>
        </p:spPr>
      </p:pic>
    </p:spTree>
    <p:extLst>
      <p:ext uri="{BB962C8B-B14F-4D97-AF65-F5344CB8AC3E}">
        <p14:creationId xmlns:p14="http://schemas.microsoft.com/office/powerpoint/2010/main" val="4920433"/>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Shape 49"/>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2.3 </a:t>
            </a:r>
            <a:r>
              <a:rPr lang="zh-CN" altLang="en-US" sz="2800" b="1" dirty="0">
                <a:latin typeface="宋体"/>
                <a:ea typeface="宋体"/>
                <a:cs typeface="宋体"/>
                <a:sym typeface="宋体"/>
              </a:rPr>
              <a:t>实战演示</a:t>
            </a:r>
            <a:r>
              <a:rPr lang="en-US" altLang="zh-CN" sz="2800" b="1" dirty="0">
                <a:latin typeface="宋体"/>
                <a:ea typeface="宋体"/>
                <a:cs typeface="宋体"/>
                <a:sym typeface="宋体"/>
              </a:rPr>
              <a:t>-</a:t>
            </a:r>
            <a:r>
              <a:rPr lang="zh-CN" altLang="en-US" sz="2800" b="1" dirty="0">
                <a:latin typeface="宋体"/>
                <a:ea typeface="宋体"/>
                <a:cs typeface="宋体"/>
                <a:sym typeface="宋体"/>
              </a:rPr>
              <a:t>基于</a:t>
            </a:r>
            <a:r>
              <a:rPr lang="en-US" altLang="zh-CN" sz="2800" b="1" dirty="0">
                <a:latin typeface="宋体"/>
                <a:ea typeface="宋体"/>
                <a:cs typeface="宋体"/>
                <a:sym typeface="宋体"/>
              </a:rPr>
              <a:t>Pytorch2.0</a:t>
            </a:r>
            <a:r>
              <a:rPr lang="zh-CN" altLang="en-US" sz="2800" b="1" dirty="0">
                <a:latin typeface="宋体"/>
                <a:ea typeface="宋体"/>
                <a:cs typeface="宋体"/>
                <a:sym typeface="宋体"/>
              </a:rPr>
              <a:t>的图像去噪</a:t>
            </a:r>
            <a:endParaRPr dirty="0">
              <a:latin typeface="宋体"/>
              <a:ea typeface="宋体"/>
              <a:cs typeface="宋体"/>
              <a:sym typeface="宋体"/>
            </a:endParaRPr>
          </a:p>
        </p:txBody>
      </p:sp>
      <p:sp>
        <p:nvSpPr>
          <p:cNvPr id="51" name="Shape 51"/>
          <p:cNvSpPr/>
          <p:nvPr/>
        </p:nvSpPr>
        <p:spPr>
          <a:xfrm>
            <a:off x="326032" y="2151062"/>
            <a:ext cx="8491936" cy="3416320"/>
          </a:xfrm>
          <a:prstGeom prst="rect">
            <a:avLst/>
          </a:prstGeom>
          <a:ln w="12700">
            <a:miter lim="400000"/>
          </a:ln>
          <a:extLst>
            <a:ext uri="{C572A759-6A51-4108-AA02-DFA0A04FC94B}">
              <ma14:wrappingTextBoxFlag xmlns="" xmlns:ma14="http://schemas.microsoft.com/office/mac/drawingml/2011/main" val="1"/>
            </a:ext>
          </a:extLst>
        </p:spPr>
        <p:txBody>
          <a:bodyPr lIns="45719" rIns="45719">
            <a:spAutoFit/>
          </a:bodyPr>
          <a:lstStyle/>
          <a:p>
            <a:pPr indent="266700" algn="just"/>
            <a:r>
              <a:rPr lang="zh-CN" altLang="en-US" sz="1800" kern="100" dirty="0">
                <a:effectLst/>
                <a:latin typeface="等线" panose="02010600030101010101" pitchFamily="2" charset="-122"/>
                <a:ea typeface="宋体" panose="02010600030101010101" pitchFamily="2" charset="-122"/>
                <a:cs typeface="Times New Roman" panose="02020603050405020304" pitchFamily="18" charset="0"/>
              </a:rPr>
              <a:t>除了深度学习模型，对于完成一个深度学习项目另一个非常重要的内容就是设定模型的损失函数与优化函数。这两部分内容对于初学者来说可能并不是太熟悉，在这里读者只需要知道有这部分内容即可。</a:t>
            </a:r>
          </a:p>
          <a:p>
            <a:pPr indent="266700" algn="just"/>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1</a:t>
            </a:r>
            <a:r>
              <a:rPr lang="zh-CN" altLang="en-US" sz="1800" kern="100" dirty="0">
                <a:effectLst/>
                <a:latin typeface="等线" panose="02010600030101010101" pitchFamily="2" charset="-122"/>
                <a:ea typeface="宋体" panose="02010600030101010101" pitchFamily="2" charset="-122"/>
                <a:cs typeface="Times New Roman" panose="02020603050405020304" pitchFamily="18" charset="0"/>
              </a:rPr>
              <a:t>、首先是对于损失函数的选择，在这里作者选用</a:t>
            </a:r>
            <a:r>
              <a:rPr lang="en-US" altLang="zh-CN" sz="1800" kern="100" dirty="0" err="1">
                <a:effectLst/>
                <a:latin typeface="等线" panose="02010600030101010101" pitchFamily="2" charset="-122"/>
                <a:ea typeface="宋体" panose="02010600030101010101" pitchFamily="2" charset="-122"/>
                <a:cs typeface="Times New Roman" panose="02020603050405020304" pitchFamily="18" charset="0"/>
              </a:rPr>
              <a:t>MSEloss</a:t>
            </a:r>
            <a:r>
              <a:rPr lang="zh-CN" altLang="en-US" sz="1800" kern="100" dirty="0">
                <a:effectLst/>
                <a:latin typeface="等线" panose="02010600030101010101" pitchFamily="2" charset="-122"/>
                <a:ea typeface="宋体" panose="02010600030101010101" pitchFamily="2" charset="-122"/>
                <a:cs typeface="Times New Roman" panose="02020603050405020304" pitchFamily="18" charset="0"/>
              </a:rPr>
              <a:t>作为损失函数，具体来说</a:t>
            </a:r>
            <a:r>
              <a:rPr lang="en-US" altLang="zh-CN" sz="1800" kern="100" dirty="0" err="1">
                <a:effectLst/>
                <a:latin typeface="等线" panose="02010600030101010101" pitchFamily="2" charset="-122"/>
                <a:ea typeface="宋体" panose="02010600030101010101" pitchFamily="2" charset="-122"/>
                <a:cs typeface="Times New Roman" panose="02020603050405020304" pitchFamily="18" charset="0"/>
              </a:rPr>
              <a:t>MSELoss</a:t>
            </a:r>
            <a:r>
              <a:rPr lang="zh-CN" altLang="en-US" sz="1800" kern="100" dirty="0">
                <a:effectLst/>
                <a:latin typeface="等线" panose="02010600030101010101" pitchFamily="2" charset="-122"/>
                <a:ea typeface="宋体" panose="02010600030101010101" pitchFamily="2" charset="-122"/>
                <a:cs typeface="Times New Roman" panose="02020603050405020304" pitchFamily="18" charset="0"/>
              </a:rPr>
              <a:t>损失函数中文名字为均方损失函数。</a:t>
            </a:r>
          </a:p>
          <a:p>
            <a:pPr indent="266700" algn="just"/>
            <a:r>
              <a:rPr lang="zh-CN" altLang="en-US" sz="1800" kern="100" dirty="0">
                <a:effectLst/>
                <a:latin typeface="等线" panose="02010600030101010101" pitchFamily="2" charset="-122"/>
                <a:ea typeface="宋体"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宋体" panose="02010600030101010101" pitchFamily="2" charset="-122"/>
                <a:cs typeface="Times New Roman" panose="02020603050405020304" pitchFamily="18" charset="0"/>
              </a:rPr>
              <a:t>MSELoss</a:t>
            </a:r>
            <a:r>
              <a:rPr lang="zh-CN" altLang="en-US" sz="1800" kern="100" dirty="0">
                <a:effectLst/>
                <a:latin typeface="等线" panose="02010600030101010101" pitchFamily="2" charset="-122"/>
                <a:ea typeface="宋体" panose="02010600030101010101" pitchFamily="2" charset="-122"/>
                <a:cs typeface="Times New Roman" panose="02020603050405020304" pitchFamily="18" charset="0"/>
              </a:rPr>
              <a:t>的作用计算预测值和真实值之间的欧式距离。预测值和真实值越接近，两者的均方差就越小，均方差函数常用于线性回归模型的计算。在</a:t>
            </a:r>
            <a:r>
              <a:rPr lang="en-US" altLang="zh-CN" sz="1800" kern="100" dirty="0" err="1">
                <a:effectLst/>
                <a:latin typeface="等线" panose="02010600030101010101" pitchFamily="2" charset="-122"/>
                <a:ea typeface="宋体" panose="02010600030101010101" pitchFamily="2" charset="-122"/>
                <a:cs typeface="Times New Roman" panose="02020603050405020304" pitchFamily="18" charset="0"/>
              </a:rPr>
              <a:t>Pytorch</a:t>
            </a:r>
            <a:r>
              <a:rPr lang="zh-CN" altLang="en-US" sz="1800" kern="100" dirty="0">
                <a:effectLst/>
                <a:latin typeface="等线" panose="02010600030101010101" pitchFamily="2" charset="-122"/>
                <a:ea typeface="宋体" panose="02010600030101010101" pitchFamily="2" charset="-122"/>
                <a:cs typeface="Times New Roman" panose="02020603050405020304" pitchFamily="18" charset="0"/>
              </a:rPr>
              <a:t>中使用</a:t>
            </a:r>
            <a:r>
              <a:rPr lang="en-US" altLang="zh-CN" sz="1800" kern="100" dirty="0" err="1">
                <a:effectLst/>
                <a:latin typeface="等线" panose="02010600030101010101" pitchFamily="2" charset="-122"/>
                <a:ea typeface="宋体" panose="02010600030101010101" pitchFamily="2" charset="-122"/>
                <a:cs typeface="Times New Roman" panose="02020603050405020304" pitchFamily="18" charset="0"/>
              </a:rPr>
              <a:t>MSELoss</a:t>
            </a:r>
            <a:r>
              <a:rPr lang="zh-CN" altLang="en-US" sz="1800" kern="100" dirty="0">
                <a:effectLst/>
                <a:latin typeface="等线" panose="02010600030101010101" pitchFamily="2" charset="-122"/>
                <a:ea typeface="宋体" panose="02010600030101010101" pitchFamily="2" charset="-122"/>
                <a:cs typeface="Times New Roman" panose="02020603050405020304" pitchFamily="18" charset="0"/>
              </a:rPr>
              <a:t>的代码如下所示：</a:t>
            </a:r>
          </a:p>
          <a:p>
            <a:pPr indent="266700" algn="just"/>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loss = </a:t>
            </a:r>
            <a:r>
              <a:rPr lang="en-US" altLang="zh-CN" sz="1800" kern="100" dirty="0" err="1">
                <a:effectLst/>
                <a:latin typeface="等线" panose="02010600030101010101" pitchFamily="2" charset="-122"/>
                <a:ea typeface="宋体" panose="02010600030101010101" pitchFamily="2" charset="-122"/>
                <a:cs typeface="Times New Roman" panose="02020603050405020304" pitchFamily="18" charset="0"/>
              </a:rPr>
              <a:t>torch.nn.MSELoss</a:t>
            </a:r>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(reduction="sum")(</a:t>
            </a:r>
            <a:r>
              <a:rPr lang="en-US" altLang="zh-CN" sz="1800" kern="100" dirty="0" err="1">
                <a:effectLst/>
                <a:latin typeface="等线" panose="02010600030101010101" pitchFamily="2" charset="-122"/>
                <a:ea typeface="宋体" panose="02010600030101010101" pitchFamily="2" charset="-122"/>
                <a:cs typeface="Times New Roman" panose="02020603050405020304" pitchFamily="18" charset="0"/>
              </a:rPr>
              <a:t>pred</a:t>
            </a:r>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宋体" panose="02010600030101010101" pitchFamily="2" charset="-122"/>
                <a:cs typeface="Times New Roman" panose="02020603050405020304" pitchFamily="18" charset="0"/>
              </a:rPr>
              <a:t>y_batch</a:t>
            </a:r>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a:t>
            </a:r>
          </a:p>
          <a:p>
            <a:pPr indent="266700" algn="just"/>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	2</a:t>
            </a:r>
            <a:r>
              <a:rPr lang="zh-CN" altLang="en-US" sz="1800" kern="100" dirty="0">
                <a:effectLst/>
                <a:latin typeface="等线" panose="02010600030101010101" pitchFamily="2" charset="-122"/>
                <a:ea typeface="宋体" panose="02010600030101010101" pitchFamily="2" charset="-122"/>
                <a:cs typeface="Times New Roman" panose="02020603050405020304" pitchFamily="18" charset="0"/>
              </a:rPr>
              <a:t>、下面就是优化函数的设定，在这里我们采用了</a:t>
            </a:r>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Adam</a:t>
            </a:r>
            <a:r>
              <a:rPr lang="zh-CN" altLang="en-US" sz="1800" kern="100" dirty="0">
                <a:effectLst/>
                <a:latin typeface="等线" panose="02010600030101010101" pitchFamily="2" charset="-122"/>
                <a:ea typeface="宋体" panose="02010600030101010101" pitchFamily="2" charset="-122"/>
                <a:cs typeface="Times New Roman" panose="02020603050405020304" pitchFamily="18" charset="0"/>
              </a:rPr>
              <a:t>优化器，对于</a:t>
            </a:r>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Adam</a:t>
            </a:r>
            <a:r>
              <a:rPr lang="zh-CN" altLang="en-US" sz="1800" kern="100" dirty="0">
                <a:effectLst/>
                <a:latin typeface="等线" panose="02010600030101010101" pitchFamily="2" charset="-122"/>
                <a:ea typeface="宋体" panose="02010600030101010101" pitchFamily="2" charset="-122"/>
                <a:cs typeface="Times New Roman" panose="02020603050405020304" pitchFamily="18" charset="0"/>
              </a:rPr>
              <a:t>优化函数请读者自行学习，在这里作者只提供使用</a:t>
            </a:r>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Adam</a:t>
            </a:r>
            <a:r>
              <a:rPr lang="zh-CN" altLang="en-US" sz="1800" kern="100" dirty="0">
                <a:effectLst/>
                <a:latin typeface="等线" panose="02010600030101010101" pitchFamily="2" charset="-122"/>
                <a:ea typeface="宋体" panose="02010600030101010101" pitchFamily="2" charset="-122"/>
                <a:cs typeface="Times New Roman" panose="02020603050405020304" pitchFamily="18" charset="0"/>
              </a:rPr>
              <a:t>优化器的代码，如下所示：</a:t>
            </a:r>
          </a:p>
          <a:p>
            <a:pPr indent="266700" algn="just"/>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optimizer = </a:t>
            </a:r>
            <a:r>
              <a:rPr lang="en-US" altLang="zh-CN" sz="1800" kern="100" dirty="0" err="1">
                <a:effectLst/>
                <a:latin typeface="等线" panose="02010600030101010101" pitchFamily="2" charset="-122"/>
                <a:ea typeface="宋体" panose="02010600030101010101" pitchFamily="2" charset="-122"/>
                <a:cs typeface="Times New Roman" panose="02020603050405020304" pitchFamily="18" charset="0"/>
              </a:rPr>
              <a:t>torch.optim.Adam</a:t>
            </a:r>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a:t>
            </a:r>
            <a:r>
              <a:rPr lang="en-US" altLang="zh-CN" sz="1800" kern="100" dirty="0" err="1">
                <a:effectLst/>
                <a:latin typeface="等线" panose="02010600030101010101" pitchFamily="2" charset="-122"/>
                <a:ea typeface="宋体" panose="02010600030101010101" pitchFamily="2" charset="-122"/>
                <a:cs typeface="Times New Roman" panose="02020603050405020304" pitchFamily="18" charset="0"/>
              </a:rPr>
              <a:t>model.parameters</a:t>
            </a:r>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宋体" panose="02010600030101010101" pitchFamily="2" charset="-122"/>
                <a:cs typeface="Times New Roman" panose="02020603050405020304" pitchFamily="18" charset="0"/>
              </a:rPr>
              <a:t>lr</a:t>
            </a:r>
            <a:r>
              <a:rPr lang="en-US" altLang="zh-CN" sz="1800" kern="100" dirty="0">
                <a:effectLst/>
                <a:latin typeface="等线" panose="02010600030101010101" pitchFamily="2" charset="-122"/>
                <a:ea typeface="宋体" panose="02010600030101010101" pitchFamily="2" charset="-122"/>
                <a:cs typeface="Times New Roman" panose="02020603050405020304" pitchFamily="18" charset="0"/>
              </a:rPr>
              <a:t>=2e-5)</a:t>
            </a:r>
          </a:p>
        </p:txBody>
      </p:sp>
      <p:sp>
        <p:nvSpPr>
          <p:cNvPr id="6" name="文本框 5">
            <a:extLst>
              <a:ext uri="{FF2B5EF4-FFF2-40B4-BE49-F238E27FC236}">
                <a16:creationId xmlns:a16="http://schemas.microsoft.com/office/drawing/2014/main" id="{581A2E82-3423-4CDD-AB22-29105B2C2B55}"/>
              </a:ext>
            </a:extLst>
          </p:cNvPr>
          <p:cNvSpPr txBox="1"/>
          <p:nvPr/>
        </p:nvSpPr>
        <p:spPr>
          <a:xfrm>
            <a:off x="186332" y="1391205"/>
            <a:ext cx="4572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spcBef>
                <a:spcPts val="1200"/>
              </a:spcBef>
              <a:spcAft>
                <a:spcPts val="1200"/>
              </a:spcAft>
            </a:pPr>
            <a:r>
              <a:rPr lang="en-US" altLang="zh-CN" sz="1800" kern="100" dirty="0">
                <a:effectLst/>
                <a:latin typeface="方正姚体" panose="02010601030101010101" pitchFamily="2" charset="-122"/>
                <a:ea typeface="方正姚体" panose="02010601030101010101" pitchFamily="2" charset="-122"/>
                <a:cs typeface="Times New Roman" panose="02020603050405020304" pitchFamily="18" charset="0"/>
              </a:rPr>
              <a:t>2.3.4  </a:t>
            </a:r>
            <a:r>
              <a:rPr lang="zh-CN" altLang="zh-CN" sz="1800" kern="100" dirty="0">
                <a:effectLst/>
                <a:latin typeface="方正姚体" panose="02010601030101010101" pitchFamily="2" charset="-122"/>
                <a:ea typeface="方正姚体" panose="02010601030101010101" pitchFamily="2" charset="-122"/>
                <a:cs typeface="Times New Roman" panose="02020603050405020304" pitchFamily="18" charset="0"/>
              </a:rPr>
              <a:t>模型的损失函数与优化函数</a:t>
            </a:r>
          </a:p>
        </p:txBody>
      </p:sp>
    </p:spTree>
    <p:extLst>
      <p:ext uri="{BB962C8B-B14F-4D97-AF65-F5344CB8AC3E}">
        <p14:creationId xmlns:p14="http://schemas.microsoft.com/office/powerpoint/2010/main" val="3230628899"/>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Shape 49"/>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2.3 </a:t>
            </a:r>
            <a:r>
              <a:rPr lang="zh-CN" altLang="en-US" sz="2800" b="1" dirty="0">
                <a:latin typeface="宋体"/>
                <a:ea typeface="宋体"/>
                <a:cs typeface="宋体"/>
                <a:sym typeface="宋体"/>
              </a:rPr>
              <a:t>实战演示</a:t>
            </a:r>
            <a:r>
              <a:rPr lang="en-US" altLang="zh-CN" sz="2800" b="1" dirty="0">
                <a:latin typeface="宋体"/>
                <a:ea typeface="宋体"/>
                <a:cs typeface="宋体"/>
                <a:sym typeface="宋体"/>
              </a:rPr>
              <a:t>-</a:t>
            </a:r>
            <a:r>
              <a:rPr lang="zh-CN" altLang="en-US" sz="2800" b="1" dirty="0">
                <a:latin typeface="宋体"/>
                <a:ea typeface="宋体"/>
                <a:cs typeface="宋体"/>
                <a:sym typeface="宋体"/>
              </a:rPr>
              <a:t>基于</a:t>
            </a:r>
            <a:r>
              <a:rPr lang="en-US" altLang="zh-CN" sz="2800" b="1" dirty="0">
                <a:latin typeface="宋体"/>
                <a:ea typeface="宋体"/>
                <a:cs typeface="宋体"/>
                <a:sym typeface="宋体"/>
              </a:rPr>
              <a:t>Pytorch2.0</a:t>
            </a:r>
            <a:r>
              <a:rPr lang="zh-CN" altLang="en-US" sz="2800" b="1" dirty="0">
                <a:latin typeface="宋体"/>
                <a:ea typeface="宋体"/>
                <a:cs typeface="宋体"/>
                <a:sym typeface="宋体"/>
              </a:rPr>
              <a:t>的图像去噪</a:t>
            </a:r>
            <a:endParaRPr dirty="0">
              <a:latin typeface="宋体"/>
              <a:ea typeface="宋体"/>
              <a:cs typeface="宋体"/>
              <a:sym typeface="宋体"/>
            </a:endParaRPr>
          </a:p>
        </p:txBody>
      </p:sp>
      <p:sp>
        <p:nvSpPr>
          <p:cNvPr id="51" name="Shape 51"/>
          <p:cNvSpPr/>
          <p:nvPr/>
        </p:nvSpPr>
        <p:spPr>
          <a:xfrm>
            <a:off x="326032" y="2189162"/>
            <a:ext cx="8491936" cy="923330"/>
          </a:xfrm>
          <a:prstGeom prst="rect">
            <a:avLst/>
          </a:prstGeom>
          <a:ln w="12700">
            <a:miter lim="400000"/>
          </a:ln>
          <a:extLst>
            <a:ext uri="{C572A759-6A51-4108-AA02-DFA0A04FC94B}">
              <ma14:wrappingTextBoxFlag xmlns:ma14="http://schemas.microsoft.com/office/mac/drawingml/2011/main" xmlns="" val="1"/>
            </a:ext>
          </a:extLst>
        </p:spPr>
        <p:txBody>
          <a:bodyPr lIns="45719" rIns="45719">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在介绍了深度学习的数据准备、模型介绍以及损失函数和优化函数的介绍外，下面就是就是使用</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Pytorch</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训练出一个可以实现去噪性能的深度学习整理模型，完整代码如下所示（本代码位于随书提供的第二章，读者可以直接运行使用）：</a:t>
            </a:r>
          </a:p>
        </p:txBody>
      </p:sp>
      <p:sp>
        <p:nvSpPr>
          <p:cNvPr id="8" name="文本框 7">
            <a:extLst>
              <a:ext uri="{FF2B5EF4-FFF2-40B4-BE49-F238E27FC236}">
                <a16:creationId xmlns:a16="http://schemas.microsoft.com/office/drawing/2014/main" id="{12017B28-BF1A-4C20-A1C5-B5FD725A36D3}"/>
              </a:ext>
            </a:extLst>
          </p:cNvPr>
          <p:cNvSpPr txBox="1"/>
          <p:nvPr/>
        </p:nvSpPr>
        <p:spPr>
          <a:xfrm>
            <a:off x="186332" y="1417638"/>
            <a:ext cx="4572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spcBef>
                <a:spcPts val="1200"/>
              </a:spcBef>
              <a:spcAft>
                <a:spcPts val="1200"/>
              </a:spcAft>
            </a:pPr>
            <a:r>
              <a:rPr lang="en-US" altLang="zh-CN" sz="1800" kern="100" dirty="0">
                <a:effectLst/>
                <a:latin typeface="方正姚体" panose="02010601030101010101" pitchFamily="2" charset="-122"/>
                <a:ea typeface="方正姚体" panose="02010601030101010101" pitchFamily="2" charset="-122"/>
                <a:cs typeface="Times New Roman" panose="02020603050405020304" pitchFamily="18" charset="0"/>
              </a:rPr>
              <a:t>2.3.5  </a:t>
            </a:r>
            <a:r>
              <a:rPr lang="zh-CN" altLang="zh-CN" sz="1800" kern="100" dirty="0">
                <a:effectLst/>
                <a:latin typeface="方正姚体" panose="02010601030101010101" pitchFamily="2" charset="-122"/>
                <a:ea typeface="方正姚体" panose="02010601030101010101" pitchFamily="2" charset="-122"/>
                <a:cs typeface="Times New Roman" panose="02020603050405020304" pitchFamily="18" charset="0"/>
              </a:rPr>
              <a:t>基于深度学习的模型训练</a:t>
            </a:r>
          </a:p>
        </p:txBody>
      </p:sp>
      <p:pic>
        <p:nvPicPr>
          <p:cNvPr id="6" name="图片 5">
            <a:extLst>
              <a:ext uri="{FF2B5EF4-FFF2-40B4-BE49-F238E27FC236}">
                <a16:creationId xmlns:a16="http://schemas.microsoft.com/office/drawing/2014/main" id="{7111EF82-01C0-43CB-8F61-253FEF6EAD51}"/>
              </a:ext>
            </a:extLst>
          </p:cNvPr>
          <p:cNvPicPr>
            <a:picLocks noChangeAspect="1"/>
          </p:cNvPicPr>
          <p:nvPr/>
        </p:nvPicPr>
        <p:blipFill>
          <a:blip r:embed="rId2"/>
          <a:stretch>
            <a:fillRect/>
          </a:stretch>
        </p:blipFill>
        <p:spPr>
          <a:xfrm>
            <a:off x="2737866" y="3012567"/>
            <a:ext cx="5306568" cy="3137916"/>
          </a:xfrm>
          <a:prstGeom prst="rect">
            <a:avLst/>
          </a:prstGeom>
        </p:spPr>
      </p:pic>
    </p:spTree>
    <p:extLst>
      <p:ext uri="{BB962C8B-B14F-4D97-AF65-F5344CB8AC3E}">
        <p14:creationId xmlns:p14="http://schemas.microsoft.com/office/powerpoint/2010/main" val="3492329626"/>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Shape 93"/>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667512">
              <a:defRPr sz="3212">
                <a:latin typeface="宋体"/>
                <a:ea typeface="宋体"/>
                <a:cs typeface="宋体"/>
                <a:sym typeface="宋体"/>
              </a:defRPr>
            </a:lvl1pPr>
          </a:lstStyle>
          <a:p>
            <a:pPr>
              <a:defRPr>
                <a:latin typeface="+mj-lt"/>
                <a:ea typeface="+mj-ea"/>
                <a:cs typeface="+mj-cs"/>
                <a:sym typeface="Calibri"/>
              </a:defRPr>
            </a:pPr>
            <a:r>
              <a:rPr dirty="0" err="1">
                <a:latin typeface="宋体"/>
                <a:ea typeface="宋体"/>
                <a:cs typeface="宋体"/>
                <a:sym typeface="宋体"/>
              </a:rPr>
              <a:t>本章小结</a:t>
            </a:r>
            <a:endParaRPr dirty="0">
              <a:latin typeface="宋体"/>
              <a:ea typeface="宋体"/>
              <a:cs typeface="宋体"/>
              <a:sym typeface="宋体"/>
            </a:endParaRPr>
          </a:p>
        </p:txBody>
      </p:sp>
      <p:sp>
        <p:nvSpPr>
          <p:cNvPr id="95" name="Shape 95"/>
          <p:cNvSpPr/>
          <p:nvPr/>
        </p:nvSpPr>
        <p:spPr>
          <a:xfrm>
            <a:off x="457200" y="2264144"/>
            <a:ext cx="7970243" cy="1754326"/>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本章是</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Pytorch</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实战程序设计的开始，在本章中作者向读者介绍了</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Pytorch</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程序设计的的环境与基本软件的安装。并向读者演示了第一个基于</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Pytorch</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程序的整体设计过程和部分组件的介绍。</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实际上可以看到，对于深度学习程序设计来说，就是由一个个小的组件完成的，本书的后续章节也是，针对每个组件进行深入讲解。</a:t>
            </a:r>
          </a:p>
          <a:p>
            <a:endParaRPr dirty="0"/>
          </a:p>
        </p:txBody>
      </p:sp>
    </p:spTree>
  </p:cSld>
  <p:clrMapOvr>
    <a:masterClrMapping/>
  </p:clrMapOvr>
  <p:transition spd="slow"/>
</p:sld>
</file>

<file path=ppt/theme/theme1.xml><?xml version="1.0" encoding="utf-8"?>
<a:theme xmlns:a="http://schemas.openxmlformats.org/drawingml/2006/main" name="Tema de Office">
  <a:themeElements>
    <a:clrScheme name="Tema de Offic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Tema de Office">
      <a:majorFont>
        <a:latin typeface="Calibri"/>
        <a:ea typeface="Calibri"/>
        <a:cs typeface="Calibri"/>
      </a:majorFont>
      <a:minorFont>
        <a:latin typeface="Helvetica"/>
        <a:ea typeface="Helvetica"/>
        <a:cs typeface="Helvetica"/>
      </a:minorFont>
    </a:fontScheme>
    <a:fmtScheme name="Tema de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Tema de Office">
  <a:themeElements>
    <a:clrScheme name="Tema de Offic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Tema de Office">
      <a:majorFont>
        <a:latin typeface="Calibri"/>
        <a:ea typeface="Calibri"/>
        <a:cs typeface="Calibri"/>
      </a:majorFont>
      <a:minorFont>
        <a:latin typeface="Helvetica"/>
        <a:ea typeface="Helvetica"/>
        <a:cs typeface="Helvetica"/>
      </a:minorFont>
    </a:fontScheme>
    <a:fmtScheme name="Tema de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64</TotalTime>
  <Words>1285</Words>
  <Application>Microsoft Office PowerPoint</Application>
  <PresentationFormat>全屏显示(4:3)</PresentationFormat>
  <Paragraphs>72</Paragraphs>
  <Slides>13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13</vt:i4>
      </vt:variant>
    </vt:vector>
  </HeadingPairs>
  <TitlesOfParts>
    <vt:vector size="21" baseType="lpstr">
      <vt:lpstr>Songti SC Bold</vt:lpstr>
      <vt:lpstr>等线</vt:lpstr>
      <vt:lpstr>方正姚体</vt:lpstr>
      <vt:lpstr>宋体</vt:lpstr>
      <vt:lpstr>Arial</vt:lpstr>
      <vt:lpstr>Calibri</vt:lpstr>
      <vt:lpstr>Times New Roman</vt:lpstr>
      <vt:lpstr>Tema de Office</vt:lpstr>
      <vt:lpstr>第2章 Hello Pytorch2.0-深度学习环境搭建</vt:lpstr>
      <vt:lpstr>2.1 环境搭建1：安装Python</vt:lpstr>
      <vt:lpstr>2.1 环境搭建1：安装Python</vt:lpstr>
      <vt:lpstr>2.1 环境搭建1：安装Python</vt:lpstr>
      <vt:lpstr>2.2 环境搭建2：安装Pytorch2.0</vt:lpstr>
      <vt:lpstr>2.2 环境搭建2：安装Pytorch2.0</vt:lpstr>
      <vt:lpstr>2.2 环境搭建2：安装Pytorch2.0</vt:lpstr>
      <vt:lpstr>2.3 实战演示-基于Pytorch2.0的图像去噪</vt:lpstr>
      <vt:lpstr>2.3 实战演示-基于Pytorch2.0的图像去噪</vt:lpstr>
      <vt:lpstr>2.3 实战演示-基于Pytorch2.0的图像去噪</vt:lpstr>
      <vt:lpstr>2.3 实战演示-基于Pytorch2.0的图像去噪</vt:lpstr>
      <vt:lpstr>2.3 实战演示-基于Pytorch2.0的图像去噪</vt:lpstr>
      <vt:lpstr>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第10章  Hello TensorFlow &amp; Keras</dc:title>
  <dc:creator>lenovo</dc:creator>
  <cp:lastModifiedBy>lenovo</cp:lastModifiedBy>
  <cp:revision>5</cp:revision>
  <dcterms:modified xsi:type="dcterms:W3CDTF">2023-07-24T08:15:55Z</dcterms:modified>
</cp:coreProperties>
</file>